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</p:sldIdLst>
  <p:sldSz cx="10058400" cy="7772400"/>
  <p:notesSz cx="10058400" cy="7772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2738"/>
  </p:normalViewPr>
  <p:slideViewPr>
    <p:cSldViewPr>
      <p:cViewPr varScale="1">
        <p:scale>
          <a:sx n="61" d="100"/>
          <a:sy n="61" d="100"/>
        </p:scale>
        <p:origin x="141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BDC12-7EF5-B44C-904F-82FC777CF1CD}" type="datetimeFigureOut">
              <a:rPr lang="fr-FR" smtClean="0"/>
              <a:t>10/10/2024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E6234-F24C-F541-B7C7-5EA77A881AA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50079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xmlns="" id="{DBEFC25D-0C9E-354F-A16E-4FCFA21F5E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xmlns="" id="{0425194D-9958-6F4E-AF46-592DF01BC6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fr-FR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870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3E6234-F24C-F541-B7C7-5EA77A881AA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2184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12745" y="2620771"/>
            <a:ext cx="5235575" cy="12331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31F2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31F2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032" y="1341196"/>
            <a:ext cx="5263515" cy="50800"/>
          </a:xfrm>
          <a:custGeom>
            <a:avLst/>
            <a:gdLst/>
            <a:ahLst/>
            <a:cxnLst/>
            <a:rect l="l" t="t" r="r" b="b"/>
            <a:pathLst>
              <a:path w="5263515" h="50800">
                <a:moveTo>
                  <a:pt x="0" y="50495"/>
                </a:moveTo>
                <a:lnTo>
                  <a:pt x="5263197" y="50495"/>
                </a:lnTo>
                <a:lnTo>
                  <a:pt x="5263197" y="0"/>
                </a:lnTo>
                <a:lnTo>
                  <a:pt x="0" y="0"/>
                </a:lnTo>
                <a:lnTo>
                  <a:pt x="0" y="50495"/>
                </a:lnTo>
                <a:close/>
              </a:path>
            </a:pathLst>
          </a:custGeom>
          <a:solidFill>
            <a:srgbClr val="9999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644252" y="1341196"/>
            <a:ext cx="97790" cy="50800"/>
          </a:xfrm>
          <a:custGeom>
            <a:avLst/>
            <a:gdLst/>
            <a:ahLst/>
            <a:cxnLst/>
            <a:rect l="l" t="t" r="r" b="b"/>
            <a:pathLst>
              <a:path w="97790" h="50800">
                <a:moveTo>
                  <a:pt x="0" y="50495"/>
                </a:moveTo>
                <a:lnTo>
                  <a:pt x="97472" y="50495"/>
                </a:lnTo>
                <a:lnTo>
                  <a:pt x="97472" y="0"/>
                </a:lnTo>
                <a:lnTo>
                  <a:pt x="0" y="0"/>
                </a:lnTo>
                <a:lnTo>
                  <a:pt x="0" y="50495"/>
                </a:lnTo>
                <a:close/>
              </a:path>
            </a:pathLst>
          </a:custGeom>
          <a:solidFill>
            <a:srgbClr val="9999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709226" y="1341196"/>
            <a:ext cx="33020" cy="50800"/>
          </a:xfrm>
          <a:custGeom>
            <a:avLst/>
            <a:gdLst/>
            <a:ahLst/>
            <a:cxnLst/>
            <a:rect l="l" t="t" r="r" b="b"/>
            <a:pathLst>
              <a:path w="33020" h="50800">
                <a:moveTo>
                  <a:pt x="32486" y="50507"/>
                </a:moveTo>
                <a:lnTo>
                  <a:pt x="32486" y="0"/>
                </a:lnTo>
                <a:lnTo>
                  <a:pt x="0" y="0"/>
                </a:lnTo>
                <a:lnTo>
                  <a:pt x="0" y="50507"/>
                </a:lnTo>
                <a:lnTo>
                  <a:pt x="32486" y="50507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76739" y="1341196"/>
            <a:ext cx="33020" cy="50800"/>
          </a:xfrm>
          <a:custGeom>
            <a:avLst/>
            <a:gdLst/>
            <a:ahLst/>
            <a:cxnLst/>
            <a:rect l="l" t="t" r="r" b="b"/>
            <a:pathLst>
              <a:path w="33020" h="50800">
                <a:moveTo>
                  <a:pt x="32486" y="50507"/>
                </a:moveTo>
                <a:lnTo>
                  <a:pt x="32486" y="0"/>
                </a:lnTo>
                <a:lnTo>
                  <a:pt x="0" y="0"/>
                </a:lnTo>
                <a:lnTo>
                  <a:pt x="0" y="50507"/>
                </a:lnTo>
                <a:lnTo>
                  <a:pt x="32486" y="50507"/>
                </a:lnTo>
                <a:close/>
              </a:path>
            </a:pathLst>
          </a:custGeom>
          <a:solidFill>
            <a:srgbClr val="FDFD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44240" y="1341196"/>
            <a:ext cx="33020" cy="50800"/>
          </a:xfrm>
          <a:custGeom>
            <a:avLst/>
            <a:gdLst/>
            <a:ahLst/>
            <a:cxnLst/>
            <a:rect l="l" t="t" r="r" b="b"/>
            <a:pathLst>
              <a:path w="33020" h="50800">
                <a:moveTo>
                  <a:pt x="32486" y="50507"/>
                </a:moveTo>
                <a:lnTo>
                  <a:pt x="32486" y="0"/>
                </a:lnTo>
                <a:lnTo>
                  <a:pt x="0" y="0"/>
                </a:lnTo>
                <a:lnTo>
                  <a:pt x="0" y="50507"/>
                </a:lnTo>
                <a:lnTo>
                  <a:pt x="32486" y="50507"/>
                </a:lnTo>
                <a:close/>
              </a:path>
            </a:pathLst>
          </a:custGeom>
          <a:solidFill>
            <a:srgbClr val="FCFCF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45" y="1341196"/>
            <a:ext cx="9584207" cy="504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231F2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47657" y="450513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216" y="0"/>
                </a:lnTo>
              </a:path>
            </a:pathLst>
          </a:custGeom>
          <a:ln w="21013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1577" y="440007"/>
            <a:ext cx="504320" cy="378241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246793" y="82875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216" y="0"/>
                </a:lnTo>
              </a:path>
            </a:pathLst>
          </a:custGeom>
          <a:ln w="21013">
            <a:solidFill>
              <a:srgbClr val="F2F2F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75466" y="82875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216" y="0"/>
                </a:lnTo>
              </a:path>
            </a:pathLst>
          </a:custGeom>
          <a:ln w="21013">
            <a:solidFill>
              <a:srgbClr val="E5E5E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1515" y="797234"/>
            <a:ext cx="126080" cy="84053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826762" y="849768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432" y="0"/>
                </a:lnTo>
              </a:path>
            </a:pathLst>
          </a:custGeom>
          <a:ln w="21013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6762" y="776221"/>
            <a:ext cx="504320" cy="12608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2381515" y="849768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432" y="0"/>
                </a:lnTo>
              </a:path>
            </a:pathLst>
          </a:custGeom>
          <a:ln w="21013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4" name="bg 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71145" y="818248"/>
            <a:ext cx="605185" cy="168106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2280651" y="891794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216" y="0"/>
                </a:lnTo>
              </a:path>
            </a:pathLst>
          </a:custGeom>
          <a:ln w="210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2381515" y="891794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432" y="0"/>
                </a:lnTo>
              </a:path>
            </a:pathLst>
          </a:custGeom>
          <a:ln w="21013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347657" y="975848"/>
            <a:ext cx="76200" cy="0"/>
          </a:xfrm>
          <a:custGeom>
            <a:avLst/>
            <a:gdLst/>
            <a:ahLst/>
            <a:cxnLst/>
            <a:rect l="l" t="t" r="r" b="b"/>
            <a:pathLst>
              <a:path w="76200">
                <a:moveTo>
                  <a:pt x="0" y="0"/>
                </a:moveTo>
                <a:lnTo>
                  <a:pt x="75647" y="0"/>
                </a:lnTo>
              </a:path>
            </a:pathLst>
          </a:custGeom>
          <a:ln w="21013">
            <a:solidFill>
              <a:srgbClr val="FE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71145" y="902301"/>
            <a:ext cx="1756712" cy="168106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1599818" y="1059901"/>
            <a:ext cx="50800" cy="0"/>
          </a:xfrm>
          <a:custGeom>
            <a:avLst/>
            <a:gdLst/>
            <a:ahLst/>
            <a:cxnLst/>
            <a:rect l="l" t="t" r="r" b="b"/>
            <a:pathLst>
              <a:path w="50800">
                <a:moveTo>
                  <a:pt x="0" y="0"/>
                </a:moveTo>
                <a:lnTo>
                  <a:pt x="50432" y="0"/>
                </a:lnTo>
              </a:path>
            </a:pathLst>
          </a:custGeom>
          <a:ln w="21013">
            <a:solidFill>
              <a:srgbClr val="FE3F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1725898" y="1049395"/>
            <a:ext cx="50800" cy="21590"/>
          </a:xfrm>
          <a:custGeom>
            <a:avLst/>
            <a:gdLst/>
            <a:ahLst/>
            <a:cxnLst/>
            <a:rect l="l" t="t" r="r" b="b"/>
            <a:pathLst>
              <a:path w="50800" h="21590">
                <a:moveTo>
                  <a:pt x="0" y="21013"/>
                </a:moveTo>
                <a:lnTo>
                  <a:pt x="50432" y="21013"/>
                </a:lnTo>
                <a:lnTo>
                  <a:pt x="50432" y="0"/>
                </a:lnTo>
                <a:lnTo>
                  <a:pt x="0" y="0"/>
                </a:lnTo>
                <a:lnTo>
                  <a:pt x="0" y="21013"/>
                </a:lnTo>
                <a:close/>
              </a:path>
            </a:pathLst>
          </a:custGeom>
          <a:solidFill>
            <a:srgbClr val="FE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26762" y="1049395"/>
            <a:ext cx="302592" cy="42026"/>
          </a:xfrm>
          <a:prstGeom prst="rect">
            <a:avLst/>
          </a:prstGeom>
        </p:spPr>
      </p:pic>
      <p:sp>
        <p:nvSpPr>
          <p:cNvPr id="32" name="bg object 32"/>
          <p:cNvSpPr/>
          <p:nvPr/>
        </p:nvSpPr>
        <p:spPr>
          <a:xfrm>
            <a:off x="1725898" y="1070408"/>
            <a:ext cx="50800" cy="21590"/>
          </a:xfrm>
          <a:custGeom>
            <a:avLst/>
            <a:gdLst/>
            <a:ahLst/>
            <a:cxnLst/>
            <a:rect l="l" t="t" r="r" b="b"/>
            <a:pathLst>
              <a:path w="50800" h="21590">
                <a:moveTo>
                  <a:pt x="0" y="21013"/>
                </a:moveTo>
                <a:lnTo>
                  <a:pt x="50432" y="21013"/>
                </a:lnTo>
                <a:lnTo>
                  <a:pt x="50432" y="0"/>
                </a:lnTo>
                <a:lnTo>
                  <a:pt x="0" y="0"/>
                </a:lnTo>
                <a:lnTo>
                  <a:pt x="0" y="21013"/>
                </a:lnTo>
                <a:close/>
              </a:path>
            </a:pathLst>
          </a:custGeom>
          <a:solidFill>
            <a:srgbClr val="FE3F3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1725898" y="1091421"/>
            <a:ext cx="50800" cy="21590"/>
          </a:xfrm>
          <a:custGeom>
            <a:avLst/>
            <a:gdLst/>
            <a:ahLst/>
            <a:cxnLst/>
            <a:rect l="l" t="t" r="r" b="b"/>
            <a:pathLst>
              <a:path w="50800" h="21590">
                <a:moveTo>
                  <a:pt x="0" y="21013"/>
                </a:moveTo>
                <a:lnTo>
                  <a:pt x="50432" y="21013"/>
                </a:lnTo>
                <a:lnTo>
                  <a:pt x="50432" y="0"/>
                </a:lnTo>
                <a:lnTo>
                  <a:pt x="0" y="0"/>
                </a:lnTo>
                <a:lnTo>
                  <a:pt x="0" y="21013"/>
                </a:lnTo>
                <a:close/>
              </a:path>
            </a:pathLst>
          </a:custGeom>
          <a:solidFill>
            <a:srgbClr val="FECF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1826762" y="1101928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>
                <a:moveTo>
                  <a:pt x="0" y="0"/>
                </a:moveTo>
                <a:lnTo>
                  <a:pt x="100864" y="0"/>
                </a:lnTo>
              </a:path>
            </a:pathLst>
          </a:custGeom>
          <a:ln w="21013">
            <a:solidFill>
              <a:srgbClr val="FE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bg object 35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52842" y="1049395"/>
            <a:ext cx="975015" cy="126080"/>
          </a:xfrm>
          <a:prstGeom prst="rect">
            <a:avLst/>
          </a:prstGeom>
        </p:spPr>
      </p:pic>
      <p:pic>
        <p:nvPicPr>
          <p:cNvPr id="36" name="bg object 3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71145" y="1070408"/>
            <a:ext cx="479105" cy="147093"/>
          </a:xfrm>
          <a:prstGeom prst="rect">
            <a:avLst/>
          </a:prstGeom>
        </p:spPr>
      </p:pic>
      <p:sp>
        <p:nvSpPr>
          <p:cNvPr id="37" name="bg object 37"/>
          <p:cNvSpPr/>
          <p:nvPr/>
        </p:nvSpPr>
        <p:spPr>
          <a:xfrm>
            <a:off x="2835404" y="1164968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216" y="0"/>
                </a:lnTo>
              </a:path>
            </a:pathLst>
          </a:custGeom>
          <a:ln w="21013">
            <a:solidFill>
              <a:srgbClr val="0F0F0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8" name="bg object 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00682" y="1133448"/>
            <a:ext cx="151296" cy="147093"/>
          </a:xfrm>
          <a:prstGeom prst="rect">
            <a:avLst/>
          </a:prstGeom>
        </p:spPr>
      </p:pic>
      <p:pic>
        <p:nvPicPr>
          <p:cNvPr id="39" name="bg 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58027" y="1175475"/>
            <a:ext cx="176512" cy="84053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154571" y="1175475"/>
            <a:ext cx="126080" cy="105067"/>
          </a:xfrm>
          <a:prstGeom prst="rect">
            <a:avLst/>
          </a:prstGeom>
        </p:spPr>
      </p:pic>
      <p:pic>
        <p:nvPicPr>
          <p:cNvPr id="41" name="bg object 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71145" y="1217502"/>
            <a:ext cx="176512" cy="63040"/>
          </a:xfrm>
          <a:prstGeom prst="rect">
            <a:avLst/>
          </a:prstGeom>
        </p:spPr>
      </p:pic>
      <p:pic>
        <p:nvPicPr>
          <p:cNvPr id="42" name="bg object 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48522" y="1196488"/>
            <a:ext cx="151296" cy="84053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356299" y="1175475"/>
            <a:ext cx="126080" cy="105067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978058" y="1175475"/>
            <a:ext cx="50432" cy="105067"/>
          </a:xfrm>
          <a:prstGeom prst="rect">
            <a:avLst/>
          </a:prstGeom>
        </p:spPr>
      </p:pic>
      <p:sp>
        <p:nvSpPr>
          <p:cNvPr id="45" name="bg object 45"/>
          <p:cNvSpPr/>
          <p:nvPr/>
        </p:nvSpPr>
        <p:spPr>
          <a:xfrm>
            <a:off x="1297226" y="1270035"/>
            <a:ext cx="25400" cy="0"/>
          </a:xfrm>
          <a:custGeom>
            <a:avLst/>
            <a:gdLst/>
            <a:ahLst/>
            <a:cxnLst/>
            <a:rect l="l" t="t" r="r" b="b"/>
            <a:pathLst>
              <a:path w="25400">
                <a:moveTo>
                  <a:pt x="0" y="0"/>
                </a:moveTo>
                <a:lnTo>
                  <a:pt x="25216" y="0"/>
                </a:lnTo>
              </a:path>
            </a:pathLst>
          </a:custGeom>
          <a:ln w="21013">
            <a:solidFill>
              <a:srgbClr val="BFBFB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6" name="bg object 4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835404" y="1175475"/>
            <a:ext cx="92453" cy="105067"/>
          </a:xfrm>
          <a:prstGeom prst="rect">
            <a:avLst/>
          </a:prstGeom>
        </p:spPr>
      </p:pic>
      <p:pic>
        <p:nvPicPr>
          <p:cNvPr id="47" name="bg object 47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2558027" y="1259528"/>
            <a:ext cx="50432" cy="21013"/>
          </a:xfrm>
          <a:prstGeom prst="rect">
            <a:avLst/>
          </a:prstGeom>
        </p:spPr>
      </p:pic>
      <p:pic>
        <p:nvPicPr>
          <p:cNvPr id="48" name="bg object 48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658891" y="1238515"/>
            <a:ext cx="75647" cy="42026"/>
          </a:xfrm>
          <a:prstGeom prst="rect">
            <a:avLst/>
          </a:prstGeom>
        </p:spPr>
      </p:pic>
      <p:sp>
        <p:nvSpPr>
          <p:cNvPr id="49" name="bg object 49"/>
          <p:cNvSpPr/>
          <p:nvPr/>
        </p:nvSpPr>
        <p:spPr>
          <a:xfrm>
            <a:off x="658418" y="1448650"/>
            <a:ext cx="8742045" cy="1009015"/>
          </a:xfrm>
          <a:custGeom>
            <a:avLst/>
            <a:gdLst/>
            <a:ahLst/>
            <a:cxnLst/>
            <a:rect l="l" t="t" r="r" b="b"/>
            <a:pathLst>
              <a:path w="8742045" h="1009014">
                <a:moveTo>
                  <a:pt x="0" y="1008634"/>
                </a:moveTo>
                <a:lnTo>
                  <a:pt x="0" y="0"/>
                </a:lnTo>
                <a:lnTo>
                  <a:pt x="8741562" y="0"/>
                </a:lnTo>
              </a:path>
            </a:pathLst>
          </a:custGeom>
          <a:ln w="28016">
            <a:solidFill>
              <a:srgbClr val="67679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xmlns="" id="{5E362B89-52D0-B346-8BA9-56B1D7A01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" y="1381760"/>
            <a:ext cx="8717280" cy="103632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FR" sz="1980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xmlns="" id="{8F463518-A79C-674F-AF4F-D39FF3B80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9320" y="4490720"/>
            <a:ext cx="7163118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 sz="1980"/>
          </a:p>
        </p:txBody>
      </p:sp>
      <p:sp>
        <p:nvSpPr>
          <p:cNvPr id="634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5840" y="1727200"/>
            <a:ext cx="8385493" cy="1692771"/>
          </a:xfrm>
        </p:spPr>
        <p:txBody>
          <a:bodyPr/>
          <a:lstStyle>
            <a:lvl1pPr>
              <a:defRPr sz="5500"/>
            </a:lvl1pPr>
          </a:lstStyle>
          <a:p>
            <a:r>
              <a:rPr lang="fr-CA" altLang="en-US"/>
              <a:t>Cliquez pour modifier le style du titre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79320" y="4490720"/>
            <a:ext cx="7208520" cy="947952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080"/>
            </a:lvl1pPr>
          </a:lstStyle>
          <a:p>
            <a:r>
              <a:rPr lang="fr-CA" altLang="en-US"/>
              <a:t>Cliquez pour modifier le style des sous-titres du masque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xmlns="" id="{7B108168-7EFB-8F4B-84A3-17291F98A2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502920" y="7228332"/>
            <a:ext cx="2313432" cy="276999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/>
              <a:t>Ali CHAMAM ©2005</a:t>
            </a:r>
            <a:endParaRPr lang="fr-CA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xmlns="" id="{1BDA9D74-C5B5-2542-A234-75E2E000B71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36620" y="7076123"/>
            <a:ext cx="3185160" cy="55399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CA"/>
              <a:t>Algorithmique et programmation C++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xmlns="" id="{197F9E01-28E0-B446-BE51-EF0EC0914A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93631" y="7347413"/>
            <a:ext cx="24574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80B7BE-22D4-6641-9037-DBCD5F1A84CD}" type="slidenum">
              <a:rPr lang="fr-CA" altLang="fr-FR"/>
              <a:pPr>
                <a:defRPr/>
              </a:pPr>
              <a:t>‹N°›</a:t>
            </a:fld>
            <a:endParaRPr lang="fr-CA" altLang="fr-FR"/>
          </a:p>
        </p:txBody>
      </p:sp>
    </p:spTree>
    <p:extLst>
      <p:ext uri="{BB962C8B-B14F-4D97-AF65-F5344CB8AC3E}">
        <p14:creationId xmlns:p14="http://schemas.microsoft.com/office/powerpoint/2010/main" val="369453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020" y="1340840"/>
            <a:ext cx="5586730" cy="50800"/>
          </a:xfrm>
          <a:custGeom>
            <a:avLst/>
            <a:gdLst/>
            <a:ahLst/>
            <a:cxnLst/>
            <a:rect l="l" t="t" r="r" b="b"/>
            <a:pathLst>
              <a:path w="5586730" h="50800">
                <a:moveTo>
                  <a:pt x="0" y="50482"/>
                </a:moveTo>
                <a:lnTo>
                  <a:pt x="5586120" y="50482"/>
                </a:lnTo>
                <a:lnTo>
                  <a:pt x="5586120" y="0"/>
                </a:lnTo>
                <a:lnTo>
                  <a:pt x="0" y="0"/>
                </a:lnTo>
                <a:lnTo>
                  <a:pt x="0" y="50482"/>
                </a:lnTo>
                <a:close/>
              </a:path>
            </a:pathLst>
          </a:custGeom>
          <a:solidFill>
            <a:srgbClr val="9999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9640862" y="1340840"/>
            <a:ext cx="97790" cy="50800"/>
          </a:xfrm>
          <a:custGeom>
            <a:avLst/>
            <a:gdLst/>
            <a:ahLst/>
            <a:cxnLst/>
            <a:rect l="l" t="t" r="r" b="b"/>
            <a:pathLst>
              <a:path w="97790" h="50800">
                <a:moveTo>
                  <a:pt x="0" y="50482"/>
                </a:moveTo>
                <a:lnTo>
                  <a:pt x="97447" y="50482"/>
                </a:lnTo>
                <a:lnTo>
                  <a:pt x="97447" y="0"/>
                </a:lnTo>
                <a:lnTo>
                  <a:pt x="0" y="0"/>
                </a:lnTo>
                <a:lnTo>
                  <a:pt x="0" y="50482"/>
                </a:lnTo>
                <a:close/>
              </a:path>
            </a:pathLst>
          </a:custGeom>
          <a:solidFill>
            <a:srgbClr val="9999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705822" y="1340840"/>
            <a:ext cx="33020" cy="50800"/>
          </a:xfrm>
          <a:custGeom>
            <a:avLst/>
            <a:gdLst/>
            <a:ahLst/>
            <a:cxnLst/>
            <a:rect l="l" t="t" r="r" b="b"/>
            <a:pathLst>
              <a:path w="33020" h="50800">
                <a:moveTo>
                  <a:pt x="32473" y="50482"/>
                </a:moveTo>
                <a:lnTo>
                  <a:pt x="32473" y="0"/>
                </a:lnTo>
                <a:lnTo>
                  <a:pt x="0" y="0"/>
                </a:lnTo>
                <a:lnTo>
                  <a:pt x="0" y="50482"/>
                </a:lnTo>
                <a:lnTo>
                  <a:pt x="32473" y="50482"/>
                </a:lnTo>
                <a:close/>
              </a:path>
            </a:pathLst>
          </a:custGeom>
          <a:solidFill>
            <a:srgbClr val="FDFD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73348" y="1340840"/>
            <a:ext cx="33020" cy="50800"/>
          </a:xfrm>
          <a:custGeom>
            <a:avLst/>
            <a:gdLst/>
            <a:ahLst/>
            <a:cxnLst/>
            <a:rect l="l" t="t" r="r" b="b"/>
            <a:pathLst>
              <a:path w="33020" h="50800">
                <a:moveTo>
                  <a:pt x="32473" y="50482"/>
                </a:moveTo>
                <a:lnTo>
                  <a:pt x="32473" y="0"/>
                </a:lnTo>
                <a:lnTo>
                  <a:pt x="0" y="0"/>
                </a:lnTo>
                <a:lnTo>
                  <a:pt x="0" y="50482"/>
                </a:lnTo>
                <a:lnTo>
                  <a:pt x="32473" y="50482"/>
                </a:lnTo>
                <a:close/>
              </a:path>
            </a:pathLst>
          </a:custGeom>
          <a:solidFill>
            <a:srgbClr val="FDFDF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40862" y="1340840"/>
            <a:ext cx="33020" cy="50800"/>
          </a:xfrm>
          <a:custGeom>
            <a:avLst/>
            <a:gdLst/>
            <a:ahLst/>
            <a:cxnLst/>
            <a:rect l="l" t="t" r="r" b="b"/>
            <a:pathLst>
              <a:path w="33020" h="50800">
                <a:moveTo>
                  <a:pt x="32473" y="50482"/>
                </a:moveTo>
                <a:lnTo>
                  <a:pt x="32473" y="0"/>
                </a:lnTo>
                <a:lnTo>
                  <a:pt x="0" y="0"/>
                </a:lnTo>
                <a:lnTo>
                  <a:pt x="0" y="50482"/>
                </a:lnTo>
                <a:lnTo>
                  <a:pt x="32473" y="50482"/>
                </a:lnTo>
                <a:close/>
              </a:path>
            </a:pathLst>
          </a:custGeom>
          <a:solidFill>
            <a:srgbClr val="FCFCF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032" y="1340840"/>
            <a:ext cx="9580829" cy="504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4763" y="578918"/>
            <a:ext cx="10067927" cy="640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231F2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46392" y="3559269"/>
            <a:ext cx="6078855" cy="2280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93631" y="7347413"/>
            <a:ext cx="245745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5">
            <a:extLst>
              <a:ext uri="{FF2B5EF4-FFF2-40B4-BE49-F238E27FC236}">
                <a16:creationId xmlns:a16="http://schemas.microsoft.com/office/drawing/2014/main" xmlns="" id="{6A259465-5644-DD4E-A1CE-CC3789B7CE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780282" y="8012335"/>
            <a:ext cx="3503676" cy="20313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17245" indent="-314325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86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257300" indent="-25146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2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760220" indent="-25146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263140" indent="-25146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766060" indent="-25146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3268980" indent="-25146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771900" indent="-25146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4274820" indent="-25146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fr-CA" altLang="fr-FR" sz="1320">
                <a:latin typeface="Garamond" panose="02020404030301010803" pitchFamily="18" charset="0"/>
              </a:rPr>
              <a:t>Algorithmique et programmation C++</a:t>
            </a:r>
          </a:p>
        </p:txBody>
      </p:sp>
      <p:sp>
        <p:nvSpPr>
          <p:cNvPr id="17410" name="Rectangle 6">
            <a:extLst>
              <a:ext uri="{FF2B5EF4-FFF2-40B4-BE49-F238E27FC236}">
                <a16:creationId xmlns:a16="http://schemas.microsoft.com/office/drawing/2014/main" xmlns="" id="{D6809B7D-2695-C64D-AE95-1922BFCBA4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332994" y="8310754"/>
            <a:ext cx="270320" cy="20313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33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817245" indent="-314325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Char char="q"/>
              <a:defRPr sz="286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257300" indent="-25146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  <a:defRPr sz="242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760220" indent="-25146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q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263140" indent="-251460">
              <a:spcBef>
                <a:spcPct val="20000"/>
              </a:spcBef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766060" indent="-25146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3268980" indent="-25146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771900" indent="-25146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4274820" indent="-25146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BB1685-BBFA-B44A-854B-490A66947876}" type="slidenum">
              <a:rPr lang="fr-CA" altLang="fr-FR" sz="1320">
                <a:latin typeface="Garamond" panose="02020404030301010803" pitchFamily="18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fr-CA" altLang="fr-FR" sz="1320">
              <a:latin typeface="Garamond" panose="02020404030301010803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xmlns="" id="{8057E9F0-1A3F-2647-BDD0-9CDC40717A8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71834" y="479741"/>
            <a:ext cx="6952224" cy="1743554"/>
          </a:xfrm>
          <a:noFill/>
        </p:spPr>
        <p:txBody>
          <a:bodyPr wrap="none" lIns="0" tIns="0" rIns="0" bIns="0" anchor="ctr">
            <a:spAutoFit/>
          </a:bodyPr>
          <a:lstStyle/>
          <a:p>
            <a:pPr algn="ctr" eaLnBrk="1" hangingPunct="1"/>
            <a:r>
              <a:rPr lang="en-US" altLang="fr-FR" sz="2420" dirty="0">
                <a:latin typeface="Arial" panose="020B0604020202020204" pitchFamily="34" charset="0"/>
              </a:rPr>
              <a:t/>
            </a:r>
            <a:br>
              <a:rPr lang="en-US" altLang="fr-FR" sz="2420" dirty="0">
                <a:latin typeface="Arial" panose="020B0604020202020204" pitchFamily="34" charset="0"/>
              </a:rPr>
            </a:br>
            <a:r>
              <a:rPr lang="en-US" altLang="fr-FR" sz="2420" dirty="0">
                <a:latin typeface="Arial" panose="020B0604020202020204" pitchFamily="34" charset="0"/>
              </a:rPr>
              <a:t/>
            </a:r>
            <a:br>
              <a:rPr lang="en-US" altLang="fr-FR" sz="2420" dirty="0">
                <a:latin typeface="Arial" panose="020B0604020202020204" pitchFamily="34" charset="0"/>
              </a:rPr>
            </a:br>
            <a:r>
              <a:rPr lang="en-US" altLang="fr-FR" sz="3630" dirty="0">
                <a:latin typeface="Arial" panose="020B0604020202020204" pitchFamily="34" charset="0"/>
              </a:rPr>
              <a:t/>
            </a:r>
            <a:br>
              <a:rPr lang="en-US" altLang="fr-FR" sz="3630" dirty="0">
                <a:latin typeface="Arial" panose="020B0604020202020204" pitchFamily="34" charset="0"/>
              </a:rPr>
            </a:br>
            <a:r>
              <a:rPr lang="fr-CA" altLang="fr-FR" sz="2860" b="1" dirty="0">
                <a:latin typeface="Arial" panose="020B0604020202020204" pitchFamily="34" charset="0"/>
              </a:rPr>
              <a:t>Algorithmique et structures de données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xmlns="" id="{C9471965-6C0E-6940-BC02-AE516FFFDE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742544" y="4946175"/>
            <a:ext cx="4651915" cy="1083374"/>
          </a:xfrm>
          <a:noFill/>
        </p:spPr>
        <p:txBody>
          <a:bodyPr wrap="none" lIns="0" tIns="0" rIns="0" bIns="0">
            <a:spAutoFit/>
          </a:bodyPr>
          <a:lstStyle/>
          <a:p>
            <a:pPr algn="ctr" eaLnBrk="1" hangingPunct="1"/>
            <a:r>
              <a:rPr lang="fr-CA" altLang="fr-FR" b="1" dirty="0">
                <a:solidFill>
                  <a:schemeClr val="tx2"/>
                </a:solidFill>
              </a:rPr>
              <a:t>CHAPITRE 1</a:t>
            </a:r>
          </a:p>
          <a:p>
            <a:pPr algn="ctr" eaLnBrk="1" hangingPunct="1"/>
            <a:r>
              <a:rPr lang="fr-CA" altLang="fr-FR" sz="3960" b="1" dirty="0">
                <a:solidFill>
                  <a:schemeClr val="tx2"/>
                </a:solidFill>
              </a:rPr>
              <a:t>Introduction/Rappels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031857" y="121284"/>
            <a:ext cx="13970" cy="1690370"/>
          </a:xfrm>
          <a:custGeom>
            <a:avLst/>
            <a:gdLst/>
            <a:ahLst/>
            <a:cxnLst/>
            <a:rect l="l" t="t" r="r" b="b"/>
            <a:pathLst>
              <a:path w="13970" h="1690370">
                <a:moveTo>
                  <a:pt x="13970" y="0"/>
                </a:moveTo>
                <a:lnTo>
                  <a:pt x="12700" y="0"/>
                </a:lnTo>
                <a:lnTo>
                  <a:pt x="10160" y="0"/>
                </a:lnTo>
                <a:lnTo>
                  <a:pt x="6350" y="0"/>
                </a:lnTo>
                <a:lnTo>
                  <a:pt x="0" y="0"/>
                </a:lnTo>
                <a:lnTo>
                  <a:pt x="0" y="1683385"/>
                </a:lnTo>
                <a:lnTo>
                  <a:pt x="6350" y="1683385"/>
                </a:lnTo>
                <a:lnTo>
                  <a:pt x="6350" y="1690370"/>
                </a:lnTo>
                <a:lnTo>
                  <a:pt x="10160" y="1690370"/>
                </a:lnTo>
                <a:lnTo>
                  <a:pt x="10160" y="1688973"/>
                </a:lnTo>
                <a:lnTo>
                  <a:pt x="12700" y="1688973"/>
                </a:lnTo>
                <a:lnTo>
                  <a:pt x="12700" y="1686179"/>
                </a:lnTo>
                <a:lnTo>
                  <a:pt x="13970" y="1686179"/>
                </a:lnTo>
                <a:lnTo>
                  <a:pt x="139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3351" y="756791"/>
            <a:ext cx="4161154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dirty="0">
                <a:solidFill>
                  <a:srgbClr val="000000"/>
                </a:solidFill>
                <a:latin typeface="Times New Roman"/>
                <a:cs typeface="Times New Roman"/>
              </a:rPr>
              <a:t>La</a:t>
            </a:r>
            <a:r>
              <a:rPr sz="395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b="1" spc="10" dirty="0">
                <a:solidFill>
                  <a:srgbClr val="000000"/>
                </a:solidFill>
                <a:latin typeface="Times New Roman"/>
                <a:cs typeface="Times New Roman"/>
              </a:rPr>
              <a:t>programmation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5958" y="5327777"/>
            <a:ext cx="4281805" cy="60388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180"/>
              </a:lnSpc>
              <a:spcBef>
                <a:spcPts val="335"/>
              </a:spcBef>
              <a:buFont typeface="Lucida Sans Unicode"/>
              <a:buChar char="•"/>
              <a:tabLst>
                <a:tab pos="294640" algn="l"/>
                <a:tab pos="295275" algn="l"/>
              </a:tabLst>
            </a:pPr>
            <a:r>
              <a:rPr sz="1950" b="1" spc="15" dirty="0">
                <a:latin typeface="Times New Roman"/>
                <a:cs typeface="Times New Roman"/>
              </a:rPr>
              <a:t>Question à </a:t>
            </a:r>
            <a:r>
              <a:rPr sz="1950" b="1" spc="10" dirty="0">
                <a:latin typeface="Times New Roman"/>
                <a:cs typeface="Times New Roman"/>
              </a:rPr>
              <a:t>résoudre </a:t>
            </a:r>
            <a:r>
              <a:rPr sz="1950" b="1" spc="5" dirty="0">
                <a:latin typeface="Times New Roman"/>
                <a:cs typeface="Times New Roman"/>
              </a:rPr>
              <a:t>par </a:t>
            </a:r>
            <a:r>
              <a:rPr sz="1950" b="1" spc="-5" dirty="0">
                <a:latin typeface="Times New Roman"/>
                <a:cs typeface="Times New Roman"/>
              </a:rPr>
              <a:t>une </a:t>
            </a:r>
            <a:r>
              <a:rPr sz="1950" b="1" spc="10" dirty="0">
                <a:latin typeface="Times New Roman"/>
                <a:cs typeface="Times New Roman"/>
              </a:rPr>
              <a:t>solution </a:t>
            </a:r>
            <a:r>
              <a:rPr sz="1950" b="1" spc="-475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informatique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5874" y="5943853"/>
            <a:ext cx="4331970" cy="85026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 marR="5080">
              <a:lnSpc>
                <a:spcPct val="87900"/>
              </a:lnSpc>
              <a:spcBef>
                <a:spcPts val="409"/>
              </a:spcBef>
              <a:buFont typeface="Lucida Sans Unicode"/>
              <a:buChar char="•"/>
              <a:tabLst>
                <a:tab pos="294640" algn="l"/>
                <a:tab pos="295275" algn="l"/>
              </a:tabLst>
            </a:pPr>
            <a:r>
              <a:rPr sz="1950" b="1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Instance</a:t>
            </a:r>
            <a:r>
              <a:rPr sz="1950" b="1" u="heavy" spc="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5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d'un</a:t>
            </a:r>
            <a:r>
              <a:rPr sz="1950" b="1" u="heavy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5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problème</a:t>
            </a:r>
            <a:r>
              <a:rPr sz="1950" b="1" spc="35" dirty="0">
                <a:latin typeface="Times New Roman"/>
                <a:cs typeface="Times New Roman"/>
              </a:rPr>
              <a:t> </a:t>
            </a:r>
            <a:r>
              <a:rPr sz="1950" b="1" spc="15" dirty="0">
                <a:latin typeface="Times New Roman"/>
                <a:cs typeface="Times New Roman"/>
              </a:rPr>
              <a:t>=</a:t>
            </a:r>
            <a:r>
              <a:rPr sz="1950" b="1" spc="25" dirty="0">
                <a:latin typeface="Times New Roman"/>
                <a:cs typeface="Times New Roman"/>
              </a:rPr>
              <a:t> </a:t>
            </a:r>
            <a:r>
              <a:rPr sz="1950" b="1" spc="20" dirty="0">
                <a:latin typeface="Times New Roman"/>
                <a:cs typeface="Times New Roman"/>
              </a:rPr>
              <a:t>entrée </a:t>
            </a:r>
            <a:r>
              <a:rPr sz="1950" b="1" spc="25" dirty="0">
                <a:latin typeface="Times New Roman"/>
                <a:cs typeface="Times New Roman"/>
              </a:rPr>
              <a:t> </a:t>
            </a:r>
            <a:r>
              <a:rPr sz="1950" b="1" spc="15" dirty="0">
                <a:latin typeface="Times New Roman"/>
                <a:cs typeface="Times New Roman"/>
              </a:rPr>
              <a:t>nécessaire</a:t>
            </a:r>
            <a:r>
              <a:rPr sz="1950" b="1" spc="35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pour</a:t>
            </a:r>
            <a:r>
              <a:rPr sz="1950" b="1" spc="35" dirty="0">
                <a:latin typeface="Times New Roman"/>
                <a:cs typeface="Times New Roman"/>
              </a:rPr>
              <a:t> </a:t>
            </a:r>
            <a:r>
              <a:rPr sz="1950" b="1" spc="20" dirty="0">
                <a:latin typeface="Times New Roman"/>
                <a:cs typeface="Times New Roman"/>
              </a:rPr>
              <a:t>calculer</a:t>
            </a:r>
            <a:r>
              <a:rPr sz="1950" b="1" spc="35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une</a:t>
            </a:r>
            <a:r>
              <a:rPr sz="1950" b="1" spc="25" dirty="0">
                <a:latin typeface="Times New Roman"/>
                <a:cs typeface="Times New Roman"/>
              </a:rPr>
              <a:t> </a:t>
            </a:r>
            <a:r>
              <a:rPr sz="1950" b="1" spc="10" dirty="0">
                <a:latin typeface="Times New Roman"/>
                <a:cs typeface="Times New Roman"/>
              </a:rPr>
              <a:t>solution</a:t>
            </a:r>
            <a:r>
              <a:rPr sz="1950" b="1" spc="-35" dirty="0">
                <a:latin typeface="Times New Roman"/>
                <a:cs typeface="Times New Roman"/>
              </a:rPr>
              <a:t> </a:t>
            </a:r>
            <a:r>
              <a:rPr sz="1950" b="1" spc="-10" dirty="0">
                <a:latin typeface="Times New Roman"/>
                <a:cs typeface="Times New Roman"/>
              </a:rPr>
              <a:t>du </a:t>
            </a:r>
            <a:r>
              <a:rPr sz="1950" b="1" spc="-475" dirty="0">
                <a:latin typeface="Times New Roman"/>
                <a:cs typeface="Times New Roman"/>
              </a:rPr>
              <a:t> </a:t>
            </a:r>
            <a:r>
              <a:rPr sz="1950" b="1" spc="5" dirty="0">
                <a:latin typeface="Times New Roman"/>
                <a:cs typeface="Times New Roman"/>
              </a:rPr>
              <a:t>problème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7350" y="5257928"/>
            <a:ext cx="4241800" cy="18459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94640" indent="-282575">
              <a:lnSpc>
                <a:spcPct val="100000"/>
              </a:lnSpc>
              <a:spcBef>
                <a:spcPts val="680"/>
              </a:spcBef>
              <a:buFont typeface="Lucida Sans Unicode"/>
              <a:buChar char="•"/>
              <a:tabLst>
                <a:tab pos="294640" algn="l"/>
                <a:tab pos="295275" algn="l"/>
              </a:tabLst>
            </a:pPr>
            <a:r>
              <a:rPr sz="1950" b="1" spc="-5" dirty="0">
                <a:latin typeface="Times New Roman"/>
                <a:cs typeface="Times New Roman"/>
              </a:rPr>
              <a:t>Ensemble</a:t>
            </a:r>
            <a:r>
              <a:rPr sz="1950" b="1" spc="25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de</a:t>
            </a:r>
            <a:r>
              <a:rPr sz="1950" b="1" spc="25" dirty="0">
                <a:latin typeface="Times New Roman"/>
                <a:cs typeface="Times New Roman"/>
              </a:rPr>
              <a:t> </a:t>
            </a:r>
            <a:r>
              <a:rPr sz="195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données</a:t>
            </a:r>
            <a:endParaRPr sz="1950">
              <a:latin typeface="Times New Roman"/>
              <a:cs typeface="Times New Roman"/>
            </a:endParaRPr>
          </a:p>
          <a:p>
            <a:pPr marL="294640" indent="-282575">
              <a:lnSpc>
                <a:spcPct val="100000"/>
              </a:lnSpc>
              <a:spcBef>
                <a:spcPts val="585"/>
              </a:spcBef>
              <a:buFont typeface="Lucida Sans Unicode"/>
              <a:buChar char="•"/>
              <a:tabLst>
                <a:tab pos="294640" algn="l"/>
                <a:tab pos="295275" algn="l"/>
              </a:tabLst>
            </a:pPr>
            <a:r>
              <a:rPr sz="1950" b="1" spc="-5" dirty="0">
                <a:latin typeface="Times New Roman"/>
                <a:cs typeface="Times New Roman"/>
              </a:rPr>
              <a:t>Ensemble</a:t>
            </a:r>
            <a:r>
              <a:rPr sz="1950" b="1" spc="25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de</a:t>
            </a:r>
            <a:r>
              <a:rPr sz="1950" b="1" spc="30" dirty="0">
                <a:latin typeface="Times New Roman"/>
                <a:cs typeface="Times New Roman"/>
              </a:rPr>
              <a:t> </a:t>
            </a:r>
            <a:r>
              <a:rPr sz="1950" b="1" u="heavy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résultats</a:t>
            </a:r>
            <a:endParaRPr sz="1950">
              <a:latin typeface="Times New Roman"/>
              <a:cs typeface="Times New Roman"/>
            </a:endParaRPr>
          </a:p>
          <a:p>
            <a:pPr marL="264160">
              <a:lnSpc>
                <a:spcPct val="100000"/>
              </a:lnSpc>
              <a:spcBef>
                <a:spcPts val="530"/>
              </a:spcBef>
            </a:pPr>
            <a:r>
              <a:rPr sz="1950" b="1" spc="15" dirty="0">
                <a:latin typeface="Times New Roman"/>
                <a:cs typeface="Times New Roman"/>
              </a:rPr>
              <a:t>=</a:t>
            </a:r>
            <a:r>
              <a:rPr sz="1950" b="1" spc="25" dirty="0">
                <a:latin typeface="Times New Roman"/>
                <a:cs typeface="Times New Roman"/>
              </a:rPr>
              <a:t> </a:t>
            </a:r>
            <a:r>
              <a:rPr sz="1950" b="1" spc="10" dirty="0">
                <a:latin typeface="Times New Roman"/>
                <a:cs typeface="Times New Roman"/>
              </a:rPr>
              <a:t>solution</a:t>
            </a:r>
            <a:r>
              <a:rPr sz="1950" b="1" spc="-20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informatique</a:t>
            </a:r>
            <a:r>
              <a:rPr sz="1950" b="1" spc="30" dirty="0">
                <a:latin typeface="Times New Roman"/>
                <a:cs typeface="Times New Roman"/>
              </a:rPr>
              <a:t> </a:t>
            </a:r>
            <a:r>
              <a:rPr sz="1950" b="1" spc="15" dirty="0">
                <a:latin typeface="Times New Roman"/>
                <a:cs typeface="Times New Roman"/>
              </a:rPr>
              <a:t>au</a:t>
            </a:r>
            <a:r>
              <a:rPr sz="1950" b="1" spc="-2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problème</a:t>
            </a:r>
            <a:endParaRPr sz="1950">
              <a:latin typeface="Times New Roman"/>
              <a:cs typeface="Times New Roman"/>
            </a:endParaRPr>
          </a:p>
          <a:p>
            <a:pPr marL="294640" indent="-282575">
              <a:lnSpc>
                <a:spcPct val="100000"/>
              </a:lnSpc>
              <a:spcBef>
                <a:spcPts val="334"/>
              </a:spcBef>
              <a:buFont typeface="Lucida Sans Unicode"/>
              <a:buChar char="•"/>
              <a:tabLst>
                <a:tab pos="294640" algn="l"/>
                <a:tab pos="295275" algn="l"/>
              </a:tabLst>
            </a:pPr>
            <a:r>
              <a:rPr sz="1950" b="1" spc="15" dirty="0">
                <a:latin typeface="Times New Roman"/>
                <a:cs typeface="Times New Roman"/>
              </a:rPr>
              <a:t>Description</a:t>
            </a:r>
            <a:r>
              <a:rPr sz="1950" b="1" spc="-40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d'</a:t>
            </a:r>
            <a:r>
              <a:rPr sz="1950" b="1" spc="25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un</a:t>
            </a:r>
            <a:r>
              <a:rPr sz="1950" b="1" spc="-30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ensemble</a:t>
            </a:r>
            <a:r>
              <a:rPr sz="1950" b="1" spc="20" dirty="0">
                <a:latin typeface="Times New Roman"/>
                <a:cs typeface="Times New Roman"/>
              </a:rPr>
              <a:t> </a:t>
            </a:r>
            <a:r>
              <a:rPr sz="1950" b="1" spc="15" dirty="0">
                <a:latin typeface="Times New Roman"/>
                <a:cs typeface="Times New Roman"/>
              </a:rPr>
              <a:t>d'actions</a:t>
            </a:r>
            <a:endParaRPr sz="1950">
              <a:latin typeface="Times New Roman"/>
              <a:cs typeface="Times New Roman"/>
            </a:endParaRPr>
          </a:p>
          <a:p>
            <a:pPr marL="294640" indent="-282575">
              <a:lnSpc>
                <a:spcPct val="100000"/>
              </a:lnSpc>
              <a:spcBef>
                <a:spcPts val="595"/>
              </a:spcBef>
              <a:buFont typeface="Lucida Sans Unicode"/>
              <a:buChar char="•"/>
              <a:tabLst>
                <a:tab pos="294640" algn="l"/>
                <a:tab pos="295275" algn="l"/>
              </a:tabLst>
            </a:pPr>
            <a:r>
              <a:rPr sz="1950" b="1" spc="15" dirty="0">
                <a:latin typeface="Times New Roman"/>
                <a:cs typeface="Times New Roman"/>
              </a:rPr>
              <a:t>Exécution</a:t>
            </a:r>
            <a:r>
              <a:rPr sz="1950" b="1" spc="-25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dans</a:t>
            </a:r>
            <a:r>
              <a:rPr sz="1950" b="1" spc="-25" dirty="0">
                <a:latin typeface="Times New Roman"/>
                <a:cs typeface="Times New Roman"/>
              </a:rPr>
              <a:t> </a:t>
            </a:r>
            <a:r>
              <a:rPr sz="1950" b="1" dirty="0">
                <a:latin typeface="Times New Roman"/>
                <a:cs typeface="Times New Roman"/>
              </a:rPr>
              <a:t>un</a:t>
            </a:r>
            <a:r>
              <a:rPr sz="1950" b="1" spc="-20" dirty="0">
                <a:latin typeface="Times New Roman"/>
                <a:cs typeface="Times New Roman"/>
              </a:rPr>
              <a:t> </a:t>
            </a:r>
            <a:r>
              <a:rPr sz="1950" b="1" spc="20" dirty="0">
                <a:latin typeface="Times New Roman"/>
                <a:cs typeface="Times New Roman"/>
              </a:rPr>
              <a:t>certain</a:t>
            </a:r>
            <a:r>
              <a:rPr sz="1950" b="1" spc="-20" dirty="0">
                <a:latin typeface="Times New Roman"/>
                <a:cs typeface="Times New Roman"/>
              </a:rPr>
              <a:t> </a:t>
            </a:r>
            <a:r>
              <a:rPr sz="1950" b="1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ordre</a:t>
            </a:r>
            <a:endParaRPr sz="195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797548" y="2426335"/>
            <a:ext cx="740410" cy="1047750"/>
            <a:chOff x="5797548" y="2426335"/>
            <a:chExt cx="740410" cy="1047750"/>
          </a:xfrm>
        </p:grpSpPr>
        <p:sp>
          <p:nvSpPr>
            <p:cNvPr id="8" name="object 8"/>
            <p:cNvSpPr/>
            <p:nvPr/>
          </p:nvSpPr>
          <p:spPr>
            <a:xfrm>
              <a:off x="5797537" y="2426334"/>
              <a:ext cx="740410" cy="1047750"/>
            </a:xfrm>
            <a:custGeom>
              <a:avLst/>
              <a:gdLst/>
              <a:ahLst/>
              <a:cxnLst/>
              <a:rect l="l" t="t" r="r" b="b"/>
              <a:pathLst>
                <a:path w="740409" h="1047750">
                  <a:moveTo>
                    <a:pt x="740410" y="6985"/>
                  </a:moveTo>
                  <a:lnTo>
                    <a:pt x="739025" y="4191"/>
                  </a:lnTo>
                  <a:lnTo>
                    <a:pt x="739025" y="2794"/>
                  </a:lnTo>
                  <a:lnTo>
                    <a:pt x="736231" y="0"/>
                  </a:lnTo>
                  <a:lnTo>
                    <a:pt x="6997" y="0"/>
                  </a:lnTo>
                  <a:lnTo>
                    <a:pt x="4203" y="0"/>
                  </a:lnTo>
                  <a:lnTo>
                    <a:pt x="2806" y="1397"/>
                  </a:lnTo>
                  <a:lnTo>
                    <a:pt x="1409" y="1397"/>
                  </a:lnTo>
                  <a:lnTo>
                    <a:pt x="1409" y="2794"/>
                  </a:lnTo>
                  <a:lnTo>
                    <a:pt x="12" y="4191"/>
                  </a:lnTo>
                  <a:lnTo>
                    <a:pt x="12" y="1040765"/>
                  </a:lnTo>
                  <a:lnTo>
                    <a:pt x="0" y="1043559"/>
                  </a:lnTo>
                  <a:lnTo>
                    <a:pt x="2794" y="1046353"/>
                  </a:lnTo>
                  <a:lnTo>
                    <a:pt x="4191" y="1046353"/>
                  </a:lnTo>
                  <a:lnTo>
                    <a:pt x="4191" y="1047750"/>
                  </a:lnTo>
                  <a:lnTo>
                    <a:pt x="370205" y="1047750"/>
                  </a:lnTo>
                  <a:lnTo>
                    <a:pt x="370205" y="1033780"/>
                  </a:lnTo>
                  <a:lnTo>
                    <a:pt x="13982" y="1033780"/>
                  </a:lnTo>
                  <a:lnTo>
                    <a:pt x="13982" y="13970"/>
                  </a:lnTo>
                  <a:lnTo>
                    <a:pt x="726440" y="13970"/>
                  </a:lnTo>
                  <a:lnTo>
                    <a:pt x="726440" y="1033780"/>
                  </a:lnTo>
                  <a:lnTo>
                    <a:pt x="370217" y="1033780"/>
                  </a:lnTo>
                  <a:lnTo>
                    <a:pt x="370217" y="1047750"/>
                  </a:lnTo>
                  <a:lnTo>
                    <a:pt x="733425" y="1047750"/>
                  </a:lnTo>
                  <a:lnTo>
                    <a:pt x="734822" y="1047750"/>
                  </a:lnTo>
                  <a:lnTo>
                    <a:pt x="736219" y="1046353"/>
                  </a:lnTo>
                  <a:lnTo>
                    <a:pt x="737616" y="1046353"/>
                  </a:lnTo>
                  <a:lnTo>
                    <a:pt x="737616" y="1044956"/>
                  </a:lnTo>
                  <a:lnTo>
                    <a:pt x="739013" y="1044956"/>
                  </a:lnTo>
                  <a:lnTo>
                    <a:pt x="739013" y="1043559"/>
                  </a:lnTo>
                  <a:lnTo>
                    <a:pt x="740410" y="1042162"/>
                  </a:lnTo>
                  <a:lnTo>
                    <a:pt x="740410" y="6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25490" y="2426335"/>
              <a:ext cx="684530" cy="1047750"/>
            </a:xfrm>
            <a:custGeom>
              <a:avLst/>
              <a:gdLst/>
              <a:ahLst/>
              <a:cxnLst/>
              <a:rect l="l" t="t" r="r" b="b"/>
              <a:pathLst>
                <a:path w="684529" h="1047750">
                  <a:moveTo>
                    <a:pt x="0" y="1047750"/>
                  </a:moveTo>
                  <a:lnTo>
                    <a:pt x="0" y="0"/>
                  </a:lnTo>
                </a:path>
                <a:path w="684529" h="1047750">
                  <a:moveTo>
                    <a:pt x="684530" y="1047750"/>
                  </a:moveTo>
                  <a:lnTo>
                    <a:pt x="684529" y="0"/>
                  </a:lnTo>
                </a:path>
                <a:path w="684529" h="1047750">
                  <a:moveTo>
                    <a:pt x="27939" y="48894"/>
                  </a:moveTo>
                  <a:lnTo>
                    <a:pt x="642619" y="48894"/>
                  </a:lnTo>
                </a:path>
                <a:path w="684529" h="1047750">
                  <a:moveTo>
                    <a:pt x="27939" y="125730"/>
                  </a:moveTo>
                  <a:lnTo>
                    <a:pt x="447039" y="125730"/>
                  </a:lnTo>
                </a:path>
                <a:path w="684529" h="1047750">
                  <a:moveTo>
                    <a:pt x="27939" y="209550"/>
                  </a:moveTo>
                  <a:lnTo>
                    <a:pt x="530859" y="209550"/>
                  </a:lnTo>
                </a:path>
                <a:path w="684529" h="1047750">
                  <a:moveTo>
                    <a:pt x="27939" y="293370"/>
                  </a:moveTo>
                  <a:lnTo>
                    <a:pt x="279399" y="293370"/>
                  </a:lnTo>
                </a:path>
                <a:path w="684529" h="1047750">
                  <a:moveTo>
                    <a:pt x="27939" y="377190"/>
                  </a:moveTo>
                  <a:lnTo>
                    <a:pt x="363220" y="377190"/>
                  </a:lnTo>
                </a:path>
                <a:path w="684529" h="1047750">
                  <a:moveTo>
                    <a:pt x="27939" y="461009"/>
                  </a:moveTo>
                  <a:lnTo>
                    <a:pt x="111759" y="461009"/>
                  </a:lnTo>
                </a:path>
                <a:path w="684529" h="1047750">
                  <a:moveTo>
                    <a:pt x="27939" y="544830"/>
                  </a:moveTo>
                  <a:lnTo>
                    <a:pt x="447040" y="544830"/>
                  </a:lnTo>
                </a:path>
                <a:path w="684529" h="1047750">
                  <a:moveTo>
                    <a:pt x="27939" y="628650"/>
                  </a:moveTo>
                  <a:lnTo>
                    <a:pt x="195579" y="628650"/>
                  </a:lnTo>
                </a:path>
                <a:path w="684529" h="1047750">
                  <a:moveTo>
                    <a:pt x="27939" y="712470"/>
                  </a:moveTo>
                  <a:lnTo>
                    <a:pt x="530860" y="712469"/>
                  </a:lnTo>
                </a:path>
                <a:path w="684529" h="1047750">
                  <a:moveTo>
                    <a:pt x="27939" y="796290"/>
                  </a:moveTo>
                  <a:lnTo>
                    <a:pt x="279400" y="796290"/>
                  </a:lnTo>
                </a:path>
                <a:path w="684529" h="1047750">
                  <a:moveTo>
                    <a:pt x="27939" y="880110"/>
                  </a:moveTo>
                  <a:lnTo>
                    <a:pt x="363220" y="880110"/>
                  </a:lnTo>
                </a:path>
                <a:path w="684529" h="1047750">
                  <a:moveTo>
                    <a:pt x="27939" y="963930"/>
                  </a:moveTo>
                  <a:lnTo>
                    <a:pt x="447040" y="963930"/>
                  </a:lnTo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4596130" y="2761614"/>
            <a:ext cx="824230" cy="419100"/>
          </a:xfrm>
          <a:custGeom>
            <a:avLst/>
            <a:gdLst/>
            <a:ahLst/>
            <a:cxnLst/>
            <a:rect l="l" t="t" r="r" b="b"/>
            <a:pathLst>
              <a:path w="824229" h="419100">
                <a:moveTo>
                  <a:pt x="824230" y="208153"/>
                </a:moveTo>
                <a:lnTo>
                  <a:pt x="822833" y="206756"/>
                </a:lnTo>
                <a:lnTo>
                  <a:pt x="822833" y="205359"/>
                </a:lnTo>
                <a:lnTo>
                  <a:pt x="820039" y="202565"/>
                </a:lnTo>
                <a:lnTo>
                  <a:pt x="801916" y="193573"/>
                </a:lnTo>
                <a:lnTo>
                  <a:pt x="801916" y="208876"/>
                </a:lnTo>
                <a:lnTo>
                  <a:pt x="419100" y="401612"/>
                </a:lnTo>
                <a:lnTo>
                  <a:pt x="419100" y="308737"/>
                </a:lnTo>
                <a:lnTo>
                  <a:pt x="417703" y="307340"/>
                </a:lnTo>
                <a:lnTo>
                  <a:pt x="417703" y="305943"/>
                </a:lnTo>
                <a:lnTo>
                  <a:pt x="416306" y="305943"/>
                </a:lnTo>
                <a:lnTo>
                  <a:pt x="416306" y="304546"/>
                </a:lnTo>
                <a:lnTo>
                  <a:pt x="413512" y="304546"/>
                </a:lnTo>
                <a:lnTo>
                  <a:pt x="413512" y="303149"/>
                </a:lnTo>
                <a:lnTo>
                  <a:pt x="412115" y="303149"/>
                </a:lnTo>
                <a:lnTo>
                  <a:pt x="13970" y="303149"/>
                </a:lnTo>
                <a:lnTo>
                  <a:pt x="13970" y="114554"/>
                </a:lnTo>
                <a:lnTo>
                  <a:pt x="412115" y="114554"/>
                </a:lnTo>
                <a:lnTo>
                  <a:pt x="415925" y="114554"/>
                </a:lnTo>
                <a:lnTo>
                  <a:pt x="415925" y="112268"/>
                </a:lnTo>
                <a:lnTo>
                  <a:pt x="418465" y="112268"/>
                </a:lnTo>
                <a:lnTo>
                  <a:pt x="418465" y="108966"/>
                </a:lnTo>
                <a:lnTo>
                  <a:pt x="419100" y="108966"/>
                </a:lnTo>
                <a:lnTo>
                  <a:pt x="419100" y="17462"/>
                </a:lnTo>
                <a:lnTo>
                  <a:pt x="801916" y="208876"/>
                </a:lnTo>
                <a:lnTo>
                  <a:pt x="801916" y="193573"/>
                </a:lnTo>
                <a:lnTo>
                  <a:pt x="414909" y="1397"/>
                </a:lnTo>
                <a:lnTo>
                  <a:pt x="413512" y="0"/>
                </a:lnTo>
                <a:lnTo>
                  <a:pt x="409321" y="0"/>
                </a:lnTo>
                <a:lnTo>
                  <a:pt x="405130" y="4191"/>
                </a:lnTo>
                <a:lnTo>
                  <a:pt x="405130" y="101981"/>
                </a:lnTo>
                <a:lnTo>
                  <a:pt x="6985" y="101981"/>
                </a:lnTo>
                <a:lnTo>
                  <a:pt x="2794" y="101981"/>
                </a:lnTo>
                <a:lnTo>
                  <a:pt x="1397" y="103378"/>
                </a:lnTo>
                <a:lnTo>
                  <a:pt x="1397" y="104775"/>
                </a:lnTo>
                <a:lnTo>
                  <a:pt x="0" y="104775"/>
                </a:lnTo>
                <a:lnTo>
                  <a:pt x="0" y="310134"/>
                </a:lnTo>
                <a:lnTo>
                  <a:pt x="0" y="312928"/>
                </a:lnTo>
                <a:lnTo>
                  <a:pt x="1397" y="314325"/>
                </a:lnTo>
                <a:lnTo>
                  <a:pt x="1397" y="315722"/>
                </a:lnTo>
                <a:lnTo>
                  <a:pt x="2794" y="315722"/>
                </a:lnTo>
                <a:lnTo>
                  <a:pt x="4191" y="317119"/>
                </a:lnTo>
                <a:lnTo>
                  <a:pt x="405130" y="317119"/>
                </a:lnTo>
                <a:lnTo>
                  <a:pt x="405130" y="412115"/>
                </a:lnTo>
                <a:lnTo>
                  <a:pt x="405130" y="414909"/>
                </a:lnTo>
                <a:lnTo>
                  <a:pt x="409321" y="419100"/>
                </a:lnTo>
                <a:lnTo>
                  <a:pt x="413512" y="419100"/>
                </a:lnTo>
                <a:lnTo>
                  <a:pt x="414909" y="417703"/>
                </a:lnTo>
                <a:lnTo>
                  <a:pt x="820039" y="215138"/>
                </a:lnTo>
                <a:lnTo>
                  <a:pt x="822833" y="212344"/>
                </a:lnTo>
                <a:lnTo>
                  <a:pt x="822833" y="210947"/>
                </a:lnTo>
                <a:lnTo>
                  <a:pt x="824230" y="209550"/>
                </a:lnTo>
                <a:lnTo>
                  <a:pt x="824230" y="2081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003421" y="3605274"/>
            <a:ext cx="141097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55" dirty="0">
                <a:latin typeface="Times New Roman"/>
                <a:cs typeface="Times New Roman"/>
              </a:rPr>
              <a:t>P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20" dirty="0">
                <a:latin typeface="Times New Roman"/>
                <a:cs typeface="Times New Roman"/>
              </a:rPr>
              <a:t>o</a:t>
            </a:r>
            <a:r>
              <a:rPr sz="2600" b="1" spc="35" dirty="0">
                <a:latin typeface="Times New Roman"/>
                <a:cs typeface="Times New Roman"/>
              </a:rPr>
              <a:t>b</a:t>
            </a:r>
            <a:r>
              <a:rPr sz="2600" b="1" spc="10" dirty="0">
                <a:latin typeface="Times New Roman"/>
                <a:cs typeface="Times New Roman"/>
              </a:rPr>
              <a:t>l</a:t>
            </a:r>
            <a:r>
              <a:rPr sz="2600" b="1" spc="5" dirty="0">
                <a:latin typeface="Times New Roman"/>
                <a:cs typeface="Times New Roman"/>
              </a:rPr>
              <a:t>è</a:t>
            </a:r>
            <a:r>
              <a:rPr sz="2600" b="1" spc="50" dirty="0">
                <a:latin typeface="Times New Roman"/>
                <a:cs typeface="Times New Roman"/>
              </a:rPr>
              <a:t>m</a:t>
            </a:r>
            <a:r>
              <a:rPr sz="2600" b="1" spc="15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0877" y="3633103"/>
            <a:ext cx="174625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5" dirty="0">
                <a:latin typeface="Times New Roman"/>
                <a:cs typeface="Times New Roman"/>
              </a:rPr>
              <a:t>Programme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143250" y="2433320"/>
            <a:ext cx="1012825" cy="1019810"/>
            <a:chOff x="3143250" y="2433320"/>
            <a:chExt cx="1012825" cy="1019810"/>
          </a:xfrm>
        </p:grpSpPr>
        <p:sp>
          <p:nvSpPr>
            <p:cNvPr id="14" name="object 14"/>
            <p:cNvSpPr/>
            <p:nvPr/>
          </p:nvSpPr>
          <p:spPr>
            <a:xfrm>
              <a:off x="3150235" y="2440305"/>
              <a:ext cx="998855" cy="1005840"/>
            </a:xfrm>
            <a:custGeom>
              <a:avLst/>
              <a:gdLst/>
              <a:ahLst/>
              <a:cxnLst/>
              <a:rect l="l" t="t" r="r" b="b"/>
              <a:pathLst>
                <a:path w="998854" h="1005839">
                  <a:moveTo>
                    <a:pt x="998855" y="502920"/>
                  </a:moveTo>
                  <a:lnTo>
                    <a:pt x="880110" y="426085"/>
                  </a:lnTo>
                  <a:lnTo>
                    <a:pt x="959739" y="310134"/>
                  </a:lnTo>
                  <a:lnTo>
                    <a:pt x="821436" y="284988"/>
                  </a:lnTo>
                  <a:lnTo>
                    <a:pt x="850773" y="146685"/>
                  </a:lnTo>
                  <a:lnTo>
                    <a:pt x="713867" y="176022"/>
                  </a:lnTo>
                  <a:lnTo>
                    <a:pt x="688721" y="37719"/>
                  </a:lnTo>
                  <a:lnTo>
                    <a:pt x="574167" y="117348"/>
                  </a:lnTo>
                  <a:lnTo>
                    <a:pt x="497332" y="0"/>
                  </a:lnTo>
                  <a:lnTo>
                    <a:pt x="421894" y="117348"/>
                  </a:lnTo>
                  <a:lnTo>
                    <a:pt x="308737" y="37719"/>
                  </a:lnTo>
                  <a:lnTo>
                    <a:pt x="283591" y="176022"/>
                  </a:lnTo>
                  <a:lnTo>
                    <a:pt x="145288" y="146685"/>
                  </a:lnTo>
                  <a:lnTo>
                    <a:pt x="174625" y="284988"/>
                  </a:lnTo>
                  <a:lnTo>
                    <a:pt x="37718" y="310134"/>
                  </a:lnTo>
                  <a:lnTo>
                    <a:pt x="117348" y="426085"/>
                  </a:lnTo>
                  <a:lnTo>
                    <a:pt x="0" y="502920"/>
                  </a:lnTo>
                  <a:lnTo>
                    <a:pt x="117348" y="578358"/>
                  </a:lnTo>
                  <a:lnTo>
                    <a:pt x="37718" y="692912"/>
                  </a:lnTo>
                  <a:lnTo>
                    <a:pt x="174625" y="719455"/>
                  </a:lnTo>
                  <a:lnTo>
                    <a:pt x="145288" y="856361"/>
                  </a:lnTo>
                  <a:lnTo>
                    <a:pt x="283591" y="828421"/>
                  </a:lnTo>
                  <a:lnTo>
                    <a:pt x="308737" y="965327"/>
                  </a:lnTo>
                  <a:lnTo>
                    <a:pt x="421894" y="885698"/>
                  </a:lnTo>
                  <a:lnTo>
                    <a:pt x="500126" y="1005840"/>
                  </a:lnTo>
                  <a:lnTo>
                    <a:pt x="574167" y="885698"/>
                  </a:lnTo>
                  <a:lnTo>
                    <a:pt x="688721" y="965327"/>
                  </a:lnTo>
                  <a:lnTo>
                    <a:pt x="713867" y="828421"/>
                  </a:lnTo>
                  <a:lnTo>
                    <a:pt x="850773" y="856361"/>
                  </a:lnTo>
                  <a:lnTo>
                    <a:pt x="821436" y="719455"/>
                  </a:lnTo>
                  <a:lnTo>
                    <a:pt x="959739" y="692912"/>
                  </a:lnTo>
                  <a:lnTo>
                    <a:pt x="880110" y="578358"/>
                  </a:lnTo>
                  <a:lnTo>
                    <a:pt x="998855" y="502920"/>
                  </a:lnTo>
                  <a:close/>
                </a:path>
              </a:pathLst>
            </a:custGeom>
            <a:solidFill>
              <a:srgbClr val="4747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143250" y="2433319"/>
              <a:ext cx="1012825" cy="1019810"/>
            </a:xfrm>
            <a:custGeom>
              <a:avLst/>
              <a:gdLst/>
              <a:ahLst/>
              <a:cxnLst/>
              <a:rect l="l" t="t" r="r" b="b"/>
              <a:pathLst>
                <a:path w="1012825" h="1019810">
                  <a:moveTo>
                    <a:pt x="1012825" y="507111"/>
                  </a:moveTo>
                  <a:lnTo>
                    <a:pt x="1010031" y="504317"/>
                  </a:lnTo>
                  <a:lnTo>
                    <a:pt x="993013" y="493115"/>
                  </a:lnTo>
                  <a:lnTo>
                    <a:pt x="993013" y="509803"/>
                  </a:lnTo>
                  <a:lnTo>
                    <a:pt x="882904" y="579755"/>
                  </a:lnTo>
                  <a:lnTo>
                    <a:pt x="881507" y="581152"/>
                  </a:lnTo>
                  <a:lnTo>
                    <a:pt x="881507" y="582549"/>
                  </a:lnTo>
                  <a:lnTo>
                    <a:pt x="880110" y="582549"/>
                  </a:lnTo>
                  <a:lnTo>
                    <a:pt x="880110" y="586740"/>
                  </a:lnTo>
                  <a:lnTo>
                    <a:pt x="881507" y="588137"/>
                  </a:lnTo>
                  <a:lnTo>
                    <a:pt x="881507" y="589534"/>
                  </a:lnTo>
                  <a:lnTo>
                    <a:pt x="953477" y="694944"/>
                  </a:lnTo>
                  <a:lnTo>
                    <a:pt x="827024" y="719455"/>
                  </a:lnTo>
                  <a:lnTo>
                    <a:pt x="825627" y="719455"/>
                  </a:lnTo>
                  <a:lnTo>
                    <a:pt x="822833" y="722249"/>
                  </a:lnTo>
                  <a:lnTo>
                    <a:pt x="822833" y="723646"/>
                  </a:lnTo>
                  <a:lnTo>
                    <a:pt x="821436" y="725043"/>
                  </a:lnTo>
                  <a:lnTo>
                    <a:pt x="821436" y="727837"/>
                  </a:lnTo>
                  <a:lnTo>
                    <a:pt x="848487" y="854075"/>
                  </a:lnTo>
                  <a:lnTo>
                    <a:pt x="722249" y="827024"/>
                  </a:lnTo>
                  <a:lnTo>
                    <a:pt x="719455" y="827024"/>
                  </a:lnTo>
                  <a:lnTo>
                    <a:pt x="718058" y="828421"/>
                  </a:lnTo>
                  <a:lnTo>
                    <a:pt x="716661" y="828421"/>
                  </a:lnTo>
                  <a:lnTo>
                    <a:pt x="713867" y="831215"/>
                  </a:lnTo>
                  <a:lnTo>
                    <a:pt x="713867" y="832612"/>
                  </a:lnTo>
                  <a:lnTo>
                    <a:pt x="690651" y="960297"/>
                  </a:lnTo>
                  <a:lnTo>
                    <a:pt x="585343" y="887095"/>
                  </a:lnTo>
                  <a:lnTo>
                    <a:pt x="582549" y="887095"/>
                  </a:lnTo>
                  <a:lnTo>
                    <a:pt x="582549" y="885698"/>
                  </a:lnTo>
                  <a:lnTo>
                    <a:pt x="579755" y="885698"/>
                  </a:lnTo>
                  <a:lnTo>
                    <a:pt x="578358" y="887095"/>
                  </a:lnTo>
                  <a:lnTo>
                    <a:pt x="576961" y="887095"/>
                  </a:lnTo>
                  <a:lnTo>
                    <a:pt x="575564" y="888492"/>
                  </a:lnTo>
                  <a:lnTo>
                    <a:pt x="575564" y="889889"/>
                  </a:lnTo>
                  <a:lnTo>
                    <a:pt x="506298" y="998918"/>
                  </a:lnTo>
                  <a:lnTo>
                    <a:pt x="434467" y="889889"/>
                  </a:lnTo>
                  <a:lnTo>
                    <a:pt x="433070" y="887095"/>
                  </a:lnTo>
                  <a:lnTo>
                    <a:pt x="431673" y="887095"/>
                  </a:lnTo>
                  <a:lnTo>
                    <a:pt x="430276" y="885698"/>
                  </a:lnTo>
                  <a:lnTo>
                    <a:pt x="428879" y="885698"/>
                  </a:lnTo>
                  <a:lnTo>
                    <a:pt x="427482" y="887095"/>
                  </a:lnTo>
                  <a:lnTo>
                    <a:pt x="424688" y="887095"/>
                  </a:lnTo>
                  <a:lnTo>
                    <a:pt x="320751" y="960234"/>
                  </a:lnTo>
                  <a:lnTo>
                    <a:pt x="297561" y="832612"/>
                  </a:lnTo>
                  <a:lnTo>
                    <a:pt x="296164" y="831215"/>
                  </a:lnTo>
                  <a:lnTo>
                    <a:pt x="296164" y="829818"/>
                  </a:lnTo>
                  <a:lnTo>
                    <a:pt x="294767" y="829818"/>
                  </a:lnTo>
                  <a:lnTo>
                    <a:pt x="293370" y="828421"/>
                  </a:lnTo>
                  <a:lnTo>
                    <a:pt x="291973" y="828421"/>
                  </a:lnTo>
                  <a:lnTo>
                    <a:pt x="290576" y="827024"/>
                  </a:lnTo>
                  <a:lnTo>
                    <a:pt x="289179" y="827024"/>
                  </a:lnTo>
                  <a:lnTo>
                    <a:pt x="161531" y="854100"/>
                  </a:lnTo>
                  <a:lnTo>
                    <a:pt x="188595" y="727837"/>
                  </a:lnTo>
                  <a:lnTo>
                    <a:pt x="188595" y="723646"/>
                  </a:lnTo>
                  <a:lnTo>
                    <a:pt x="187198" y="722249"/>
                  </a:lnTo>
                  <a:lnTo>
                    <a:pt x="187198" y="720852"/>
                  </a:lnTo>
                  <a:lnTo>
                    <a:pt x="185801" y="720852"/>
                  </a:lnTo>
                  <a:lnTo>
                    <a:pt x="185801" y="719455"/>
                  </a:lnTo>
                  <a:lnTo>
                    <a:pt x="183007" y="719455"/>
                  </a:lnTo>
                  <a:lnTo>
                    <a:pt x="56629" y="694956"/>
                  </a:lnTo>
                  <a:lnTo>
                    <a:pt x="129921" y="589534"/>
                  </a:lnTo>
                  <a:lnTo>
                    <a:pt x="129921" y="586740"/>
                  </a:lnTo>
                  <a:lnTo>
                    <a:pt x="131318" y="586740"/>
                  </a:lnTo>
                  <a:lnTo>
                    <a:pt x="131318" y="583946"/>
                  </a:lnTo>
                  <a:lnTo>
                    <a:pt x="129921" y="582549"/>
                  </a:lnTo>
                  <a:lnTo>
                    <a:pt x="129921" y="581152"/>
                  </a:lnTo>
                  <a:lnTo>
                    <a:pt x="128524" y="581152"/>
                  </a:lnTo>
                  <a:lnTo>
                    <a:pt x="127127" y="579755"/>
                  </a:lnTo>
                  <a:lnTo>
                    <a:pt x="19608" y="509803"/>
                  </a:lnTo>
                  <a:lnTo>
                    <a:pt x="127127" y="437261"/>
                  </a:lnTo>
                  <a:lnTo>
                    <a:pt x="129921" y="435864"/>
                  </a:lnTo>
                  <a:lnTo>
                    <a:pt x="129921" y="434467"/>
                  </a:lnTo>
                  <a:lnTo>
                    <a:pt x="131318" y="433070"/>
                  </a:lnTo>
                  <a:lnTo>
                    <a:pt x="131318" y="431673"/>
                  </a:lnTo>
                  <a:lnTo>
                    <a:pt x="129921" y="430276"/>
                  </a:lnTo>
                  <a:lnTo>
                    <a:pt x="129921" y="428879"/>
                  </a:lnTo>
                  <a:lnTo>
                    <a:pt x="56629" y="322173"/>
                  </a:lnTo>
                  <a:lnTo>
                    <a:pt x="183007" y="298958"/>
                  </a:lnTo>
                  <a:lnTo>
                    <a:pt x="185801" y="297561"/>
                  </a:lnTo>
                  <a:lnTo>
                    <a:pt x="187198" y="296164"/>
                  </a:lnTo>
                  <a:lnTo>
                    <a:pt x="187198" y="294767"/>
                  </a:lnTo>
                  <a:lnTo>
                    <a:pt x="188595" y="294767"/>
                  </a:lnTo>
                  <a:lnTo>
                    <a:pt x="188595" y="290576"/>
                  </a:lnTo>
                  <a:lnTo>
                    <a:pt x="161505" y="162915"/>
                  </a:lnTo>
                  <a:lnTo>
                    <a:pt x="289179" y="189992"/>
                  </a:lnTo>
                  <a:lnTo>
                    <a:pt x="291973" y="189992"/>
                  </a:lnTo>
                  <a:lnTo>
                    <a:pt x="293370" y="188595"/>
                  </a:lnTo>
                  <a:lnTo>
                    <a:pt x="294767" y="188595"/>
                  </a:lnTo>
                  <a:lnTo>
                    <a:pt x="296164" y="187198"/>
                  </a:lnTo>
                  <a:lnTo>
                    <a:pt x="296164" y="185801"/>
                  </a:lnTo>
                  <a:lnTo>
                    <a:pt x="297561" y="184404"/>
                  </a:lnTo>
                  <a:lnTo>
                    <a:pt x="320763" y="56730"/>
                  </a:lnTo>
                  <a:lnTo>
                    <a:pt x="426085" y="129921"/>
                  </a:lnTo>
                  <a:lnTo>
                    <a:pt x="427482" y="129921"/>
                  </a:lnTo>
                  <a:lnTo>
                    <a:pt x="428879" y="131318"/>
                  </a:lnTo>
                  <a:lnTo>
                    <a:pt x="430276" y="131318"/>
                  </a:lnTo>
                  <a:lnTo>
                    <a:pt x="431673" y="129921"/>
                  </a:lnTo>
                  <a:lnTo>
                    <a:pt x="433070" y="129921"/>
                  </a:lnTo>
                  <a:lnTo>
                    <a:pt x="433070" y="128524"/>
                  </a:lnTo>
                  <a:lnTo>
                    <a:pt x="434467" y="128524"/>
                  </a:lnTo>
                  <a:lnTo>
                    <a:pt x="434467" y="127127"/>
                  </a:lnTo>
                  <a:lnTo>
                    <a:pt x="504367" y="19697"/>
                  </a:lnTo>
                  <a:lnTo>
                    <a:pt x="575564" y="127127"/>
                  </a:lnTo>
                  <a:lnTo>
                    <a:pt x="576961" y="128524"/>
                  </a:lnTo>
                  <a:lnTo>
                    <a:pt x="576961" y="129921"/>
                  </a:lnTo>
                  <a:lnTo>
                    <a:pt x="578358" y="129921"/>
                  </a:lnTo>
                  <a:lnTo>
                    <a:pt x="579755" y="131318"/>
                  </a:lnTo>
                  <a:lnTo>
                    <a:pt x="582549" y="131318"/>
                  </a:lnTo>
                  <a:lnTo>
                    <a:pt x="582549" y="129921"/>
                  </a:lnTo>
                  <a:lnTo>
                    <a:pt x="585343" y="129921"/>
                  </a:lnTo>
                  <a:lnTo>
                    <a:pt x="690651" y="56730"/>
                  </a:lnTo>
                  <a:lnTo>
                    <a:pt x="713867" y="184404"/>
                  </a:lnTo>
                  <a:lnTo>
                    <a:pt x="713867" y="185801"/>
                  </a:lnTo>
                  <a:lnTo>
                    <a:pt x="715264" y="187198"/>
                  </a:lnTo>
                  <a:lnTo>
                    <a:pt x="715264" y="188595"/>
                  </a:lnTo>
                  <a:lnTo>
                    <a:pt x="716661" y="188595"/>
                  </a:lnTo>
                  <a:lnTo>
                    <a:pt x="718058" y="189992"/>
                  </a:lnTo>
                  <a:lnTo>
                    <a:pt x="722249" y="189992"/>
                  </a:lnTo>
                  <a:lnTo>
                    <a:pt x="848499" y="162941"/>
                  </a:lnTo>
                  <a:lnTo>
                    <a:pt x="821436" y="290576"/>
                  </a:lnTo>
                  <a:lnTo>
                    <a:pt x="821436" y="291973"/>
                  </a:lnTo>
                  <a:lnTo>
                    <a:pt x="822833" y="293370"/>
                  </a:lnTo>
                  <a:lnTo>
                    <a:pt x="822833" y="294767"/>
                  </a:lnTo>
                  <a:lnTo>
                    <a:pt x="824230" y="296164"/>
                  </a:lnTo>
                  <a:lnTo>
                    <a:pt x="824230" y="297561"/>
                  </a:lnTo>
                  <a:lnTo>
                    <a:pt x="827024" y="297561"/>
                  </a:lnTo>
                  <a:lnTo>
                    <a:pt x="827024" y="298958"/>
                  </a:lnTo>
                  <a:lnTo>
                    <a:pt x="953490" y="322199"/>
                  </a:lnTo>
                  <a:lnTo>
                    <a:pt x="881507" y="428879"/>
                  </a:lnTo>
                  <a:lnTo>
                    <a:pt x="880110" y="430276"/>
                  </a:lnTo>
                  <a:lnTo>
                    <a:pt x="880110" y="434467"/>
                  </a:lnTo>
                  <a:lnTo>
                    <a:pt x="882904" y="437261"/>
                  </a:lnTo>
                  <a:lnTo>
                    <a:pt x="993013" y="509803"/>
                  </a:lnTo>
                  <a:lnTo>
                    <a:pt x="993013" y="493115"/>
                  </a:lnTo>
                  <a:lnTo>
                    <a:pt x="896848" y="429755"/>
                  </a:lnTo>
                  <a:lnTo>
                    <a:pt x="970915" y="321310"/>
                  </a:lnTo>
                  <a:lnTo>
                    <a:pt x="972312" y="318516"/>
                  </a:lnTo>
                  <a:lnTo>
                    <a:pt x="972312" y="314325"/>
                  </a:lnTo>
                  <a:lnTo>
                    <a:pt x="970915" y="312928"/>
                  </a:lnTo>
                  <a:lnTo>
                    <a:pt x="970915" y="311531"/>
                  </a:lnTo>
                  <a:lnTo>
                    <a:pt x="969518" y="310134"/>
                  </a:lnTo>
                  <a:lnTo>
                    <a:pt x="966724" y="310134"/>
                  </a:lnTo>
                  <a:lnTo>
                    <a:pt x="836904" y="286296"/>
                  </a:lnTo>
                  <a:lnTo>
                    <a:pt x="864743" y="155067"/>
                  </a:lnTo>
                  <a:lnTo>
                    <a:pt x="864743" y="150876"/>
                  </a:lnTo>
                  <a:lnTo>
                    <a:pt x="863346" y="150876"/>
                  </a:lnTo>
                  <a:lnTo>
                    <a:pt x="863346" y="148082"/>
                  </a:lnTo>
                  <a:lnTo>
                    <a:pt x="861949" y="148082"/>
                  </a:lnTo>
                  <a:lnTo>
                    <a:pt x="860552" y="146685"/>
                  </a:lnTo>
                  <a:lnTo>
                    <a:pt x="856361" y="146685"/>
                  </a:lnTo>
                  <a:lnTo>
                    <a:pt x="726541" y="174510"/>
                  </a:lnTo>
                  <a:lnTo>
                    <a:pt x="702691" y="43307"/>
                  </a:lnTo>
                  <a:lnTo>
                    <a:pt x="701294" y="40513"/>
                  </a:lnTo>
                  <a:lnTo>
                    <a:pt x="698500" y="37719"/>
                  </a:lnTo>
                  <a:lnTo>
                    <a:pt x="692912" y="37719"/>
                  </a:lnTo>
                  <a:lnTo>
                    <a:pt x="691515" y="39116"/>
                  </a:lnTo>
                  <a:lnTo>
                    <a:pt x="582447" y="113601"/>
                  </a:lnTo>
                  <a:lnTo>
                    <a:pt x="509905" y="2794"/>
                  </a:lnTo>
                  <a:lnTo>
                    <a:pt x="508508" y="1397"/>
                  </a:lnTo>
                  <a:lnTo>
                    <a:pt x="507111" y="1397"/>
                  </a:lnTo>
                  <a:lnTo>
                    <a:pt x="505714" y="0"/>
                  </a:lnTo>
                  <a:lnTo>
                    <a:pt x="501523" y="0"/>
                  </a:lnTo>
                  <a:lnTo>
                    <a:pt x="498729" y="2794"/>
                  </a:lnTo>
                  <a:lnTo>
                    <a:pt x="427520" y="113563"/>
                  </a:lnTo>
                  <a:lnTo>
                    <a:pt x="318516" y="39116"/>
                  </a:lnTo>
                  <a:lnTo>
                    <a:pt x="317119" y="37719"/>
                  </a:lnTo>
                  <a:lnTo>
                    <a:pt x="312928" y="37719"/>
                  </a:lnTo>
                  <a:lnTo>
                    <a:pt x="311531" y="39116"/>
                  </a:lnTo>
                  <a:lnTo>
                    <a:pt x="310134" y="39116"/>
                  </a:lnTo>
                  <a:lnTo>
                    <a:pt x="310134" y="40513"/>
                  </a:lnTo>
                  <a:lnTo>
                    <a:pt x="308737" y="40513"/>
                  </a:lnTo>
                  <a:lnTo>
                    <a:pt x="308737" y="43307"/>
                  </a:lnTo>
                  <a:lnTo>
                    <a:pt x="284873" y="174523"/>
                  </a:lnTo>
                  <a:lnTo>
                    <a:pt x="153670" y="146685"/>
                  </a:lnTo>
                  <a:lnTo>
                    <a:pt x="149479" y="146685"/>
                  </a:lnTo>
                  <a:lnTo>
                    <a:pt x="146685" y="149479"/>
                  </a:lnTo>
                  <a:lnTo>
                    <a:pt x="146685" y="150876"/>
                  </a:lnTo>
                  <a:lnTo>
                    <a:pt x="145288" y="152273"/>
                  </a:lnTo>
                  <a:lnTo>
                    <a:pt x="145288" y="155067"/>
                  </a:lnTo>
                  <a:lnTo>
                    <a:pt x="173113" y="286296"/>
                  </a:lnTo>
                  <a:lnTo>
                    <a:pt x="43307" y="310134"/>
                  </a:lnTo>
                  <a:lnTo>
                    <a:pt x="41910" y="310134"/>
                  </a:lnTo>
                  <a:lnTo>
                    <a:pt x="37719" y="314325"/>
                  </a:lnTo>
                  <a:lnTo>
                    <a:pt x="37719" y="318516"/>
                  </a:lnTo>
                  <a:lnTo>
                    <a:pt x="39116" y="319913"/>
                  </a:lnTo>
                  <a:lnTo>
                    <a:pt x="39116" y="321310"/>
                  </a:lnTo>
                  <a:lnTo>
                    <a:pt x="114541" y="429818"/>
                  </a:lnTo>
                  <a:lnTo>
                    <a:pt x="2794" y="504317"/>
                  </a:lnTo>
                  <a:lnTo>
                    <a:pt x="1397" y="505714"/>
                  </a:lnTo>
                  <a:lnTo>
                    <a:pt x="0" y="505714"/>
                  </a:lnTo>
                  <a:lnTo>
                    <a:pt x="0" y="512699"/>
                  </a:lnTo>
                  <a:lnTo>
                    <a:pt x="1397" y="514096"/>
                  </a:lnTo>
                  <a:lnTo>
                    <a:pt x="2794" y="514096"/>
                  </a:lnTo>
                  <a:lnTo>
                    <a:pt x="2794" y="515493"/>
                  </a:lnTo>
                  <a:lnTo>
                    <a:pt x="114503" y="587324"/>
                  </a:lnTo>
                  <a:lnTo>
                    <a:pt x="39116" y="697103"/>
                  </a:lnTo>
                  <a:lnTo>
                    <a:pt x="37719" y="698500"/>
                  </a:lnTo>
                  <a:lnTo>
                    <a:pt x="37719" y="702691"/>
                  </a:lnTo>
                  <a:lnTo>
                    <a:pt x="39116" y="704088"/>
                  </a:lnTo>
                  <a:lnTo>
                    <a:pt x="39116" y="705485"/>
                  </a:lnTo>
                  <a:lnTo>
                    <a:pt x="40513" y="705485"/>
                  </a:lnTo>
                  <a:lnTo>
                    <a:pt x="41910" y="706882"/>
                  </a:lnTo>
                  <a:lnTo>
                    <a:pt x="43307" y="706882"/>
                  </a:lnTo>
                  <a:lnTo>
                    <a:pt x="173113" y="732053"/>
                  </a:lnTo>
                  <a:lnTo>
                    <a:pt x="145288" y="861949"/>
                  </a:lnTo>
                  <a:lnTo>
                    <a:pt x="145288" y="864743"/>
                  </a:lnTo>
                  <a:lnTo>
                    <a:pt x="146685" y="866140"/>
                  </a:lnTo>
                  <a:lnTo>
                    <a:pt x="146685" y="867537"/>
                  </a:lnTo>
                  <a:lnTo>
                    <a:pt x="148082" y="868934"/>
                  </a:lnTo>
                  <a:lnTo>
                    <a:pt x="149479" y="868934"/>
                  </a:lnTo>
                  <a:lnTo>
                    <a:pt x="150876" y="870331"/>
                  </a:lnTo>
                  <a:lnTo>
                    <a:pt x="153670" y="870331"/>
                  </a:lnTo>
                  <a:lnTo>
                    <a:pt x="284873" y="842505"/>
                  </a:lnTo>
                  <a:lnTo>
                    <a:pt x="308737" y="973709"/>
                  </a:lnTo>
                  <a:lnTo>
                    <a:pt x="308737" y="976503"/>
                  </a:lnTo>
                  <a:lnTo>
                    <a:pt x="310134" y="976503"/>
                  </a:lnTo>
                  <a:lnTo>
                    <a:pt x="310134" y="977900"/>
                  </a:lnTo>
                  <a:lnTo>
                    <a:pt x="311531" y="977900"/>
                  </a:lnTo>
                  <a:lnTo>
                    <a:pt x="312928" y="979297"/>
                  </a:lnTo>
                  <a:lnTo>
                    <a:pt x="318516" y="979297"/>
                  </a:lnTo>
                  <a:lnTo>
                    <a:pt x="319913" y="977900"/>
                  </a:lnTo>
                  <a:lnTo>
                    <a:pt x="426935" y="902589"/>
                  </a:lnTo>
                  <a:lnTo>
                    <a:pt x="500126" y="1017016"/>
                  </a:lnTo>
                  <a:lnTo>
                    <a:pt x="502920" y="1018413"/>
                  </a:lnTo>
                  <a:lnTo>
                    <a:pt x="504317" y="1019810"/>
                  </a:lnTo>
                  <a:lnTo>
                    <a:pt x="508508" y="1019810"/>
                  </a:lnTo>
                  <a:lnTo>
                    <a:pt x="509905" y="1018413"/>
                  </a:lnTo>
                  <a:lnTo>
                    <a:pt x="511302" y="1018413"/>
                  </a:lnTo>
                  <a:lnTo>
                    <a:pt x="511302" y="1017016"/>
                  </a:lnTo>
                  <a:lnTo>
                    <a:pt x="512699" y="1017016"/>
                  </a:lnTo>
                  <a:lnTo>
                    <a:pt x="583196" y="902614"/>
                  </a:lnTo>
                  <a:lnTo>
                    <a:pt x="691515" y="977900"/>
                  </a:lnTo>
                  <a:lnTo>
                    <a:pt x="694309" y="979297"/>
                  </a:lnTo>
                  <a:lnTo>
                    <a:pt x="698500" y="979297"/>
                  </a:lnTo>
                  <a:lnTo>
                    <a:pt x="702691" y="975106"/>
                  </a:lnTo>
                  <a:lnTo>
                    <a:pt x="702691" y="973709"/>
                  </a:lnTo>
                  <a:lnTo>
                    <a:pt x="726541" y="842518"/>
                  </a:lnTo>
                  <a:lnTo>
                    <a:pt x="856361" y="870331"/>
                  </a:lnTo>
                  <a:lnTo>
                    <a:pt x="859155" y="870331"/>
                  </a:lnTo>
                  <a:lnTo>
                    <a:pt x="860552" y="868934"/>
                  </a:lnTo>
                  <a:lnTo>
                    <a:pt x="863346" y="868934"/>
                  </a:lnTo>
                  <a:lnTo>
                    <a:pt x="863346" y="866140"/>
                  </a:lnTo>
                  <a:lnTo>
                    <a:pt x="864743" y="864743"/>
                  </a:lnTo>
                  <a:lnTo>
                    <a:pt x="864743" y="861949"/>
                  </a:lnTo>
                  <a:lnTo>
                    <a:pt x="836904" y="732053"/>
                  </a:lnTo>
                  <a:lnTo>
                    <a:pt x="966724" y="706882"/>
                  </a:lnTo>
                  <a:lnTo>
                    <a:pt x="969518" y="706882"/>
                  </a:lnTo>
                  <a:lnTo>
                    <a:pt x="970915" y="705485"/>
                  </a:lnTo>
                  <a:lnTo>
                    <a:pt x="970915" y="704088"/>
                  </a:lnTo>
                  <a:lnTo>
                    <a:pt x="972312" y="702691"/>
                  </a:lnTo>
                  <a:lnTo>
                    <a:pt x="972312" y="697103"/>
                  </a:lnTo>
                  <a:lnTo>
                    <a:pt x="970915" y="697103"/>
                  </a:lnTo>
                  <a:lnTo>
                    <a:pt x="896874" y="587387"/>
                  </a:lnTo>
                  <a:lnTo>
                    <a:pt x="1010031" y="515493"/>
                  </a:lnTo>
                  <a:lnTo>
                    <a:pt x="1011428" y="514096"/>
                  </a:lnTo>
                  <a:lnTo>
                    <a:pt x="1011428" y="512699"/>
                  </a:lnTo>
                  <a:lnTo>
                    <a:pt x="1012825" y="511302"/>
                  </a:lnTo>
                  <a:lnTo>
                    <a:pt x="1012825" y="5071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074407" y="4419853"/>
            <a:ext cx="645795" cy="648335"/>
            <a:chOff x="7074407" y="4419853"/>
            <a:chExt cx="645795" cy="648335"/>
          </a:xfrm>
        </p:grpSpPr>
        <p:sp>
          <p:nvSpPr>
            <p:cNvPr id="17" name="object 17"/>
            <p:cNvSpPr/>
            <p:nvPr/>
          </p:nvSpPr>
          <p:spPr>
            <a:xfrm>
              <a:off x="7081392" y="4426838"/>
              <a:ext cx="631825" cy="634365"/>
            </a:xfrm>
            <a:custGeom>
              <a:avLst/>
              <a:gdLst/>
              <a:ahLst/>
              <a:cxnLst/>
              <a:rect l="l" t="t" r="r" b="b"/>
              <a:pathLst>
                <a:path w="631825" h="634364">
                  <a:moveTo>
                    <a:pt x="631444" y="69850"/>
                  </a:moveTo>
                  <a:lnTo>
                    <a:pt x="501523" y="209550"/>
                  </a:lnTo>
                  <a:lnTo>
                    <a:pt x="381381" y="0"/>
                  </a:lnTo>
                  <a:lnTo>
                    <a:pt x="64262" y="185801"/>
                  </a:lnTo>
                  <a:lnTo>
                    <a:pt x="187198" y="395351"/>
                  </a:lnTo>
                  <a:lnTo>
                    <a:pt x="0" y="437261"/>
                  </a:lnTo>
                  <a:lnTo>
                    <a:pt x="535051" y="634238"/>
                  </a:lnTo>
                  <a:lnTo>
                    <a:pt x="631444" y="69850"/>
                  </a:lnTo>
                  <a:close/>
                </a:path>
              </a:pathLst>
            </a:custGeom>
            <a:solidFill>
              <a:srgbClr val="4747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55788" y="4419853"/>
              <a:ext cx="261239" cy="22212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138669" y="4421250"/>
              <a:ext cx="327025" cy="197485"/>
            </a:xfrm>
            <a:custGeom>
              <a:avLst/>
              <a:gdLst/>
              <a:ahLst/>
              <a:cxnLst/>
              <a:rect l="l" t="t" r="r" b="b"/>
              <a:pathLst>
                <a:path w="327025" h="197485">
                  <a:moveTo>
                    <a:pt x="326898" y="12573"/>
                  </a:moveTo>
                  <a:lnTo>
                    <a:pt x="324104" y="5588"/>
                  </a:lnTo>
                  <a:lnTo>
                    <a:pt x="319913" y="0"/>
                  </a:lnTo>
                  <a:lnTo>
                    <a:pt x="2794" y="185801"/>
                  </a:lnTo>
                  <a:lnTo>
                    <a:pt x="0" y="188595"/>
                  </a:lnTo>
                  <a:lnTo>
                    <a:pt x="0" y="194183"/>
                  </a:lnTo>
                  <a:lnTo>
                    <a:pt x="6985" y="191389"/>
                  </a:lnTo>
                  <a:lnTo>
                    <a:pt x="9779" y="196977"/>
                  </a:lnTo>
                  <a:lnTo>
                    <a:pt x="326898" y="125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74407" y="4609845"/>
              <a:ext cx="201167" cy="25984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7078599" y="4489703"/>
              <a:ext cx="641350" cy="578485"/>
            </a:xfrm>
            <a:custGeom>
              <a:avLst/>
              <a:gdLst/>
              <a:ahLst/>
              <a:cxnLst/>
              <a:rect l="l" t="t" r="r" b="b"/>
              <a:pathLst>
                <a:path w="641350" h="578485">
                  <a:moveTo>
                    <a:pt x="641223" y="5588"/>
                  </a:moveTo>
                  <a:lnTo>
                    <a:pt x="639826" y="4191"/>
                  </a:lnTo>
                  <a:lnTo>
                    <a:pt x="639826" y="2794"/>
                  </a:lnTo>
                  <a:lnTo>
                    <a:pt x="638429" y="1397"/>
                  </a:lnTo>
                  <a:lnTo>
                    <a:pt x="637032" y="1397"/>
                  </a:lnTo>
                  <a:lnTo>
                    <a:pt x="635635" y="0"/>
                  </a:lnTo>
                  <a:lnTo>
                    <a:pt x="632841" y="0"/>
                  </a:lnTo>
                  <a:lnTo>
                    <a:pt x="631444" y="1397"/>
                  </a:lnTo>
                  <a:lnTo>
                    <a:pt x="630047" y="1397"/>
                  </a:lnTo>
                  <a:lnTo>
                    <a:pt x="628650" y="2794"/>
                  </a:lnTo>
                  <a:lnTo>
                    <a:pt x="634238" y="6985"/>
                  </a:lnTo>
                  <a:lnTo>
                    <a:pt x="627253" y="6985"/>
                  </a:lnTo>
                  <a:lnTo>
                    <a:pt x="532333" y="561352"/>
                  </a:lnTo>
                  <a:lnTo>
                    <a:pt x="4191" y="367411"/>
                  </a:lnTo>
                  <a:lnTo>
                    <a:pt x="2794" y="374396"/>
                  </a:lnTo>
                  <a:lnTo>
                    <a:pt x="0" y="379984"/>
                  </a:lnTo>
                  <a:lnTo>
                    <a:pt x="535051" y="578358"/>
                  </a:lnTo>
                  <a:lnTo>
                    <a:pt x="539242" y="578358"/>
                  </a:lnTo>
                  <a:lnTo>
                    <a:pt x="540639" y="576961"/>
                  </a:lnTo>
                  <a:lnTo>
                    <a:pt x="542036" y="576961"/>
                  </a:lnTo>
                  <a:lnTo>
                    <a:pt x="543433" y="575564"/>
                  </a:lnTo>
                  <a:lnTo>
                    <a:pt x="543433" y="574167"/>
                  </a:lnTo>
                  <a:lnTo>
                    <a:pt x="544830" y="572770"/>
                  </a:lnTo>
                  <a:lnTo>
                    <a:pt x="641223" y="8382"/>
                  </a:lnTo>
                  <a:lnTo>
                    <a:pt x="641223" y="5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2423795" y="4419853"/>
            <a:ext cx="645795" cy="648335"/>
            <a:chOff x="2423795" y="4419853"/>
            <a:chExt cx="645795" cy="648335"/>
          </a:xfrm>
        </p:grpSpPr>
        <p:sp>
          <p:nvSpPr>
            <p:cNvPr id="23" name="object 23"/>
            <p:cNvSpPr/>
            <p:nvPr/>
          </p:nvSpPr>
          <p:spPr>
            <a:xfrm>
              <a:off x="2430780" y="4426838"/>
              <a:ext cx="631825" cy="634365"/>
            </a:xfrm>
            <a:custGeom>
              <a:avLst/>
              <a:gdLst/>
              <a:ahLst/>
              <a:cxnLst/>
              <a:rect l="l" t="t" r="r" b="b"/>
              <a:pathLst>
                <a:path w="631825" h="634364">
                  <a:moveTo>
                    <a:pt x="631444" y="437260"/>
                  </a:moveTo>
                  <a:lnTo>
                    <a:pt x="444245" y="395350"/>
                  </a:lnTo>
                  <a:lnTo>
                    <a:pt x="567182" y="185800"/>
                  </a:lnTo>
                  <a:lnTo>
                    <a:pt x="250063" y="0"/>
                  </a:lnTo>
                  <a:lnTo>
                    <a:pt x="129921" y="209550"/>
                  </a:lnTo>
                  <a:lnTo>
                    <a:pt x="0" y="69850"/>
                  </a:lnTo>
                  <a:lnTo>
                    <a:pt x="96393" y="634238"/>
                  </a:lnTo>
                  <a:lnTo>
                    <a:pt x="631444" y="437260"/>
                  </a:lnTo>
                  <a:close/>
                </a:path>
              </a:pathLst>
            </a:custGeom>
            <a:solidFill>
              <a:srgbClr val="4747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25192" y="4419853"/>
              <a:ext cx="261239" cy="22212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678049" y="4421250"/>
              <a:ext cx="327025" cy="197485"/>
            </a:xfrm>
            <a:custGeom>
              <a:avLst/>
              <a:gdLst/>
              <a:ahLst/>
              <a:cxnLst/>
              <a:rect l="l" t="t" r="r" b="b"/>
              <a:pathLst>
                <a:path w="327025" h="197485">
                  <a:moveTo>
                    <a:pt x="326898" y="192785"/>
                  </a:moveTo>
                  <a:lnTo>
                    <a:pt x="326898" y="188594"/>
                  </a:lnTo>
                  <a:lnTo>
                    <a:pt x="324103" y="185801"/>
                  </a:lnTo>
                  <a:lnTo>
                    <a:pt x="322706" y="185801"/>
                  </a:lnTo>
                  <a:lnTo>
                    <a:pt x="5587" y="0"/>
                  </a:lnTo>
                  <a:lnTo>
                    <a:pt x="2793" y="5588"/>
                  </a:lnTo>
                  <a:lnTo>
                    <a:pt x="0" y="12573"/>
                  </a:lnTo>
                  <a:lnTo>
                    <a:pt x="317119" y="196976"/>
                  </a:lnTo>
                  <a:lnTo>
                    <a:pt x="319913" y="191388"/>
                  </a:lnTo>
                  <a:lnTo>
                    <a:pt x="325501" y="194182"/>
                  </a:lnTo>
                  <a:lnTo>
                    <a:pt x="326898" y="1927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8041" y="4609845"/>
              <a:ext cx="201168" cy="25984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423795" y="4489703"/>
              <a:ext cx="641350" cy="578485"/>
            </a:xfrm>
            <a:custGeom>
              <a:avLst/>
              <a:gdLst/>
              <a:ahLst/>
              <a:cxnLst/>
              <a:rect l="l" t="t" r="r" b="b"/>
              <a:pathLst>
                <a:path w="641350" h="578485">
                  <a:moveTo>
                    <a:pt x="641223" y="379984"/>
                  </a:moveTo>
                  <a:lnTo>
                    <a:pt x="638429" y="374396"/>
                  </a:lnTo>
                  <a:lnTo>
                    <a:pt x="635635" y="367411"/>
                  </a:lnTo>
                  <a:lnTo>
                    <a:pt x="108877" y="561340"/>
                  </a:lnTo>
                  <a:lnTo>
                    <a:pt x="13970" y="6985"/>
                  </a:lnTo>
                  <a:lnTo>
                    <a:pt x="6985" y="6985"/>
                  </a:lnTo>
                  <a:lnTo>
                    <a:pt x="11176" y="2794"/>
                  </a:lnTo>
                  <a:lnTo>
                    <a:pt x="9779" y="1397"/>
                  </a:lnTo>
                  <a:lnTo>
                    <a:pt x="8382" y="1397"/>
                  </a:lnTo>
                  <a:lnTo>
                    <a:pt x="6985" y="0"/>
                  </a:lnTo>
                  <a:lnTo>
                    <a:pt x="5588" y="0"/>
                  </a:lnTo>
                  <a:lnTo>
                    <a:pt x="4191" y="1397"/>
                  </a:lnTo>
                  <a:lnTo>
                    <a:pt x="2794" y="1397"/>
                  </a:lnTo>
                  <a:lnTo>
                    <a:pt x="0" y="4191"/>
                  </a:lnTo>
                  <a:lnTo>
                    <a:pt x="0" y="8382"/>
                  </a:lnTo>
                  <a:lnTo>
                    <a:pt x="96393" y="572770"/>
                  </a:lnTo>
                  <a:lnTo>
                    <a:pt x="96393" y="574167"/>
                  </a:lnTo>
                  <a:lnTo>
                    <a:pt x="99187" y="576961"/>
                  </a:lnTo>
                  <a:lnTo>
                    <a:pt x="100584" y="576961"/>
                  </a:lnTo>
                  <a:lnTo>
                    <a:pt x="100584" y="578358"/>
                  </a:lnTo>
                  <a:lnTo>
                    <a:pt x="104775" y="578358"/>
                  </a:lnTo>
                  <a:lnTo>
                    <a:pt x="641223" y="3799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68726" y="756791"/>
            <a:ext cx="4357370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dirty="0">
                <a:solidFill>
                  <a:srgbClr val="000000"/>
                </a:solidFill>
                <a:latin typeface="Times New Roman"/>
                <a:cs typeface="Times New Roman"/>
              </a:rPr>
              <a:t>Notion</a:t>
            </a:r>
            <a:r>
              <a:rPr sz="395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d'algorithme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3676" y="4309364"/>
            <a:ext cx="21653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0" dirty="0">
                <a:latin typeface="Times New Roman"/>
                <a:cs typeface="Times New Roman"/>
              </a:rPr>
              <a:t>=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7834" y="4309364"/>
            <a:ext cx="8695690" cy="190563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 marR="6985" indent="690880" algn="just">
              <a:lnSpc>
                <a:spcPts val="2670"/>
              </a:lnSpc>
              <a:spcBef>
                <a:spcPts val="600"/>
              </a:spcBef>
            </a:pPr>
            <a:r>
              <a:rPr sz="2600" b="1" spc="10" dirty="0">
                <a:latin typeface="Times New Roman"/>
                <a:cs typeface="Times New Roman"/>
              </a:rPr>
              <a:t>Description </a:t>
            </a:r>
            <a:r>
              <a:rPr sz="2600" b="1" spc="30" dirty="0">
                <a:latin typeface="Times New Roman"/>
                <a:cs typeface="Times New Roman"/>
              </a:rPr>
              <a:t>d'un </a:t>
            </a:r>
            <a:r>
              <a:rPr sz="2600" b="1" spc="5" dirty="0">
                <a:latin typeface="Times New Roman"/>
                <a:cs typeface="Times New Roman"/>
              </a:rPr>
              <a:t>processus </a:t>
            </a:r>
            <a:r>
              <a:rPr sz="2600" b="1" spc="25" dirty="0">
                <a:latin typeface="Times New Roman"/>
                <a:cs typeface="Times New Roman"/>
              </a:rPr>
              <a:t>de </a:t>
            </a:r>
            <a:r>
              <a:rPr sz="2600" b="1" spc="10" dirty="0">
                <a:latin typeface="Times New Roman"/>
                <a:cs typeface="Times New Roman"/>
              </a:rPr>
              <a:t>résolution </a:t>
            </a:r>
            <a:r>
              <a:rPr sz="2600" b="1" spc="30" dirty="0">
                <a:latin typeface="Times New Roman"/>
                <a:cs typeface="Times New Roman"/>
              </a:rPr>
              <a:t>d'un </a:t>
            </a:r>
            <a:r>
              <a:rPr sz="2600" b="1" spc="20" dirty="0">
                <a:latin typeface="Times New Roman"/>
                <a:cs typeface="Times New Roman"/>
              </a:rPr>
              <a:t>problème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bien</a:t>
            </a:r>
            <a:r>
              <a:rPr sz="2600" b="1" u="heavy" spc="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600" b="1" u="heavy" spc="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défini</a:t>
            </a:r>
            <a:endParaRPr sz="2600" dirty="0">
              <a:latin typeface="Times New Roman"/>
              <a:cs typeface="Times New Roman"/>
            </a:endParaRPr>
          </a:p>
          <a:p>
            <a:pPr marL="12700" marR="5080" indent="738505" algn="just">
              <a:lnSpc>
                <a:spcPct val="85500"/>
              </a:lnSpc>
              <a:spcBef>
                <a:spcPts val="955"/>
              </a:spcBef>
            </a:pPr>
            <a:r>
              <a:rPr sz="2600" b="1" spc="5" dirty="0">
                <a:latin typeface="Times New Roman"/>
                <a:cs typeface="Times New Roman"/>
              </a:rPr>
              <a:t>Succession </a:t>
            </a:r>
            <a:r>
              <a:rPr sz="2600" b="1" spc="20" dirty="0">
                <a:latin typeface="Times New Roman"/>
                <a:cs typeface="Times New Roman"/>
              </a:rPr>
              <a:t>d'actions </a:t>
            </a:r>
            <a:r>
              <a:rPr sz="2600" b="1" spc="25" dirty="0">
                <a:latin typeface="Times New Roman"/>
                <a:cs typeface="Times New Roman"/>
              </a:rPr>
              <a:t>qui, </a:t>
            </a:r>
            <a:r>
              <a:rPr sz="2600" b="1" spc="5" dirty="0">
                <a:latin typeface="Times New Roman"/>
                <a:cs typeface="Times New Roman"/>
              </a:rPr>
              <a:t>agissant </a:t>
            </a:r>
            <a:r>
              <a:rPr sz="2600" b="1" spc="10" dirty="0">
                <a:latin typeface="Times New Roman"/>
                <a:cs typeface="Times New Roman"/>
              </a:rPr>
              <a:t>sur </a:t>
            </a:r>
            <a:r>
              <a:rPr sz="2600" b="1" spc="25" dirty="0">
                <a:latin typeface="Times New Roman"/>
                <a:cs typeface="Times New Roman"/>
              </a:rPr>
              <a:t>un </a:t>
            </a:r>
            <a:r>
              <a:rPr sz="2600" b="1" spc="15" dirty="0">
                <a:latin typeface="Times New Roman"/>
                <a:cs typeface="Times New Roman"/>
              </a:rPr>
              <a:t>ensemble </a:t>
            </a:r>
            <a:r>
              <a:rPr sz="2600" b="1" spc="35" dirty="0">
                <a:latin typeface="Times New Roman"/>
                <a:cs typeface="Times New Roman"/>
              </a:rPr>
              <a:t>de </a:t>
            </a:r>
            <a:r>
              <a:rPr sz="2600" b="1" spc="4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ressources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(entrée),</a:t>
            </a:r>
            <a:r>
              <a:rPr sz="2600" b="1" spc="20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fourniront</a:t>
            </a:r>
            <a:r>
              <a:rPr sz="2600" b="1" spc="3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la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solution</a:t>
            </a:r>
            <a:r>
              <a:rPr sz="2600" b="1" spc="2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(sortie)</a:t>
            </a:r>
            <a:r>
              <a:rPr sz="2600" b="1" spc="67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au </a:t>
            </a:r>
            <a:r>
              <a:rPr sz="2600" b="1" spc="20" dirty="0">
                <a:latin typeface="Times New Roman"/>
                <a:cs typeface="Times New Roman"/>
              </a:rPr>
              <a:t> problème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3676" y="5109845"/>
            <a:ext cx="21653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0" dirty="0">
                <a:latin typeface="Times New Roman"/>
                <a:cs typeface="Times New Roman"/>
              </a:rPr>
              <a:t>=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676" y="6246779"/>
            <a:ext cx="487680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26390" indent="-314325">
              <a:lnSpc>
                <a:spcPct val="100000"/>
              </a:lnSpc>
              <a:spcBef>
                <a:spcPts val="140"/>
              </a:spcBef>
              <a:buFont typeface="Lucida Sans Unicode"/>
              <a:buChar char="•"/>
              <a:tabLst>
                <a:tab pos="326390" algn="l"/>
                <a:tab pos="327025" algn="l"/>
              </a:tabLst>
            </a:pPr>
            <a:r>
              <a:rPr sz="2600" b="1" spc="25" dirty="0">
                <a:latin typeface="Times New Roman"/>
                <a:cs typeface="Times New Roman"/>
              </a:rPr>
              <a:t>Comment</a:t>
            </a:r>
            <a:r>
              <a:rPr sz="2600" b="1" spc="15" dirty="0">
                <a:latin typeface="Times New Roman"/>
                <a:cs typeface="Times New Roman"/>
              </a:rPr>
              <a:t> </a:t>
            </a:r>
            <a:r>
              <a:rPr sz="2600" b="1" spc="35" dirty="0">
                <a:latin typeface="Times New Roman"/>
                <a:cs typeface="Times New Roman"/>
              </a:rPr>
              <a:t>faire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pour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l'obtenir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?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688973" y="2335529"/>
            <a:ext cx="1046480" cy="1047750"/>
            <a:chOff x="1688973" y="2335529"/>
            <a:chExt cx="1046480" cy="1047750"/>
          </a:xfrm>
        </p:grpSpPr>
        <p:sp>
          <p:nvSpPr>
            <p:cNvPr id="8" name="object 8"/>
            <p:cNvSpPr/>
            <p:nvPr/>
          </p:nvSpPr>
          <p:spPr>
            <a:xfrm>
              <a:off x="1695958" y="2342514"/>
              <a:ext cx="1033780" cy="1033780"/>
            </a:xfrm>
            <a:custGeom>
              <a:avLst/>
              <a:gdLst/>
              <a:ahLst/>
              <a:cxnLst/>
              <a:rect l="l" t="t" r="r" b="b"/>
              <a:pathLst>
                <a:path w="1033780" h="1033779">
                  <a:moveTo>
                    <a:pt x="1033780" y="1033780"/>
                  </a:moveTo>
                  <a:lnTo>
                    <a:pt x="1033780" y="0"/>
                  </a:lnTo>
                  <a:lnTo>
                    <a:pt x="0" y="0"/>
                  </a:lnTo>
                  <a:lnTo>
                    <a:pt x="0" y="1033780"/>
                  </a:lnTo>
                  <a:lnTo>
                    <a:pt x="1033780" y="1033780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688973" y="2335529"/>
              <a:ext cx="1046480" cy="1047750"/>
            </a:xfrm>
            <a:custGeom>
              <a:avLst/>
              <a:gdLst/>
              <a:ahLst/>
              <a:cxnLst/>
              <a:rect l="l" t="t" r="r" b="b"/>
              <a:pathLst>
                <a:path w="1046480" h="1047750">
                  <a:moveTo>
                    <a:pt x="1046353" y="2794"/>
                  </a:moveTo>
                  <a:lnTo>
                    <a:pt x="1044956" y="1397"/>
                  </a:lnTo>
                  <a:lnTo>
                    <a:pt x="1043559" y="1397"/>
                  </a:lnTo>
                  <a:lnTo>
                    <a:pt x="1042162" y="0"/>
                  </a:lnTo>
                  <a:lnTo>
                    <a:pt x="1033780" y="0"/>
                  </a:lnTo>
                  <a:lnTo>
                    <a:pt x="1033780" y="13970"/>
                  </a:lnTo>
                  <a:lnTo>
                    <a:pt x="1033780" y="1033780"/>
                  </a:lnTo>
                  <a:lnTo>
                    <a:pt x="523875" y="1033780"/>
                  </a:lnTo>
                  <a:lnTo>
                    <a:pt x="13970" y="1033780"/>
                  </a:lnTo>
                  <a:lnTo>
                    <a:pt x="13970" y="13970"/>
                  </a:lnTo>
                  <a:lnTo>
                    <a:pt x="1033780" y="13970"/>
                  </a:lnTo>
                  <a:lnTo>
                    <a:pt x="1033780" y="0"/>
                  </a:lnTo>
                  <a:lnTo>
                    <a:pt x="6985" y="0"/>
                  </a:lnTo>
                  <a:lnTo>
                    <a:pt x="6985" y="6985"/>
                  </a:lnTo>
                  <a:lnTo>
                    <a:pt x="6350" y="6985"/>
                  </a:lnTo>
                  <a:lnTo>
                    <a:pt x="6350" y="0"/>
                  </a:lnTo>
                  <a:lnTo>
                    <a:pt x="3810" y="0"/>
                  </a:lnTo>
                  <a:lnTo>
                    <a:pt x="3810" y="1397"/>
                  </a:lnTo>
                  <a:lnTo>
                    <a:pt x="1270" y="1397"/>
                  </a:lnTo>
                  <a:lnTo>
                    <a:pt x="1270" y="3556"/>
                  </a:lnTo>
                  <a:lnTo>
                    <a:pt x="0" y="3556"/>
                  </a:lnTo>
                  <a:lnTo>
                    <a:pt x="0" y="1040765"/>
                  </a:lnTo>
                  <a:lnTo>
                    <a:pt x="0" y="1043559"/>
                  </a:lnTo>
                  <a:lnTo>
                    <a:pt x="2794" y="1046353"/>
                  </a:lnTo>
                  <a:lnTo>
                    <a:pt x="4191" y="1046353"/>
                  </a:lnTo>
                  <a:lnTo>
                    <a:pt x="5588" y="1047750"/>
                  </a:lnTo>
                  <a:lnTo>
                    <a:pt x="523875" y="1047750"/>
                  </a:lnTo>
                  <a:lnTo>
                    <a:pt x="1040765" y="1047750"/>
                  </a:lnTo>
                  <a:lnTo>
                    <a:pt x="1042162" y="1046353"/>
                  </a:lnTo>
                  <a:lnTo>
                    <a:pt x="1043559" y="1046353"/>
                  </a:lnTo>
                  <a:lnTo>
                    <a:pt x="1044956" y="1044956"/>
                  </a:lnTo>
                  <a:lnTo>
                    <a:pt x="1046353" y="1044956"/>
                  </a:lnTo>
                  <a:lnTo>
                    <a:pt x="1046353" y="6985"/>
                  </a:lnTo>
                  <a:lnTo>
                    <a:pt x="1046353" y="27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4406138" y="2342514"/>
            <a:ext cx="1039494" cy="1040765"/>
            <a:chOff x="4406138" y="2342514"/>
            <a:chExt cx="1039494" cy="1040765"/>
          </a:xfrm>
        </p:grpSpPr>
        <p:sp>
          <p:nvSpPr>
            <p:cNvPr id="11" name="object 11"/>
            <p:cNvSpPr/>
            <p:nvPr/>
          </p:nvSpPr>
          <p:spPr>
            <a:xfrm>
              <a:off x="4413123" y="2349499"/>
              <a:ext cx="1026794" cy="1026794"/>
            </a:xfrm>
            <a:custGeom>
              <a:avLst/>
              <a:gdLst/>
              <a:ahLst/>
              <a:cxnLst/>
              <a:rect l="l" t="t" r="r" b="b"/>
              <a:pathLst>
                <a:path w="1026795" h="1026795">
                  <a:moveTo>
                    <a:pt x="1026795" y="1026794"/>
                  </a:moveTo>
                  <a:lnTo>
                    <a:pt x="512699" y="0"/>
                  </a:lnTo>
                  <a:lnTo>
                    <a:pt x="0" y="1026794"/>
                  </a:lnTo>
                  <a:lnTo>
                    <a:pt x="1026795" y="1026794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06138" y="2342514"/>
              <a:ext cx="1039494" cy="1040765"/>
            </a:xfrm>
            <a:custGeom>
              <a:avLst/>
              <a:gdLst/>
              <a:ahLst/>
              <a:cxnLst/>
              <a:rect l="l" t="t" r="r" b="b"/>
              <a:pathLst>
                <a:path w="1039495" h="1040764">
                  <a:moveTo>
                    <a:pt x="1039368" y="1030986"/>
                  </a:moveTo>
                  <a:lnTo>
                    <a:pt x="1021892" y="996086"/>
                  </a:lnTo>
                  <a:lnTo>
                    <a:pt x="1021892" y="1026795"/>
                  </a:lnTo>
                  <a:lnTo>
                    <a:pt x="17449" y="1026795"/>
                  </a:lnTo>
                  <a:lnTo>
                    <a:pt x="518985" y="22364"/>
                  </a:lnTo>
                  <a:lnTo>
                    <a:pt x="1021892" y="1026795"/>
                  </a:lnTo>
                  <a:lnTo>
                    <a:pt x="1021892" y="996086"/>
                  </a:lnTo>
                  <a:lnTo>
                    <a:pt x="525272" y="4191"/>
                  </a:lnTo>
                  <a:lnTo>
                    <a:pt x="523875" y="1397"/>
                  </a:lnTo>
                  <a:lnTo>
                    <a:pt x="522478" y="0"/>
                  </a:lnTo>
                  <a:lnTo>
                    <a:pt x="516890" y="0"/>
                  </a:lnTo>
                  <a:lnTo>
                    <a:pt x="515493" y="1397"/>
                  </a:lnTo>
                  <a:lnTo>
                    <a:pt x="514096" y="1397"/>
                  </a:lnTo>
                  <a:lnTo>
                    <a:pt x="514096" y="2794"/>
                  </a:lnTo>
                  <a:lnTo>
                    <a:pt x="512699" y="4191"/>
                  </a:lnTo>
                  <a:lnTo>
                    <a:pt x="0" y="1030986"/>
                  </a:lnTo>
                  <a:lnTo>
                    <a:pt x="0" y="1036574"/>
                  </a:lnTo>
                  <a:lnTo>
                    <a:pt x="2794" y="1039368"/>
                  </a:lnTo>
                  <a:lnTo>
                    <a:pt x="4191" y="1039368"/>
                  </a:lnTo>
                  <a:lnTo>
                    <a:pt x="5588" y="1040765"/>
                  </a:lnTo>
                  <a:lnTo>
                    <a:pt x="1033780" y="1040765"/>
                  </a:lnTo>
                  <a:lnTo>
                    <a:pt x="1035177" y="1039368"/>
                  </a:lnTo>
                  <a:lnTo>
                    <a:pt x="1037971" y="1039368"/>
                  </a:lnTo>
                  <a:lnTo>
                    <a:pt x="1037971" y="1037971"/>
                  </a:lnTo>
                  <a:lnTo>
                    <a:pt x="1039368" y="1036574"/>
                  </a:lnTo>
                  <a:lnTo>
                    <a:pt x="1039368" y="103098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130288" y="2335529"/>
            <a:ext cx="740410" cy="1047750"/>
            <a:chOff x="7130288" y="2335529"/>
            <a:chExt cx="740410" cy="1047750"/>
          </a:xfrm>
        </p:grpSpPr>
        <p:sp>
          <p:nvSpPr>
            <p:cNvPr id="14" name="object 14"/>
            <p:cNvSpPr/>
            <p:nvPr/>
          </p:nvSpPr>
          <p:spPr>
            <a:xfrm>
              <a:off x="7130288" y="2335529"/>
              <a:ext cx="740410" cy="1047750"/>
            </a:xfrm>
            <a:custGeom>
              <a:avLst/>
              <a:gdLst/>
              <a:ahLst/>
              <a:cxnLst/>
              <a:rect l="l" t="t" r="r" b="b"/>
              <a:pathLst>
                <a:path w="740409" h="1047750">
                  <a:moveTo>
                    <a:pt x="740410" y="6985"/>
                  </a:moveTo>
                  <a:lnTo>
                    <a:pt x="739013" y="4191"/>
                  </a:lnTo>
                  <a:lnTo>
                    <a:pt x="739013" y="2794"/>
                  </a:lnTo>
                  <a:lnTo>
                    <a:pt x="737616" y="1397"/>
                  </a:lnTo>
                  <a:lnTo>
                    <a:pt x="736219" y="1397"/>
                  </a:lnTo>
                  <a:lnTo>
                    <a:pt x="734822" y="0"/>
                  </a:lnTo>
                  <a:lnTo>
                    <a:pt x="726440" y="0"/>
                  </a:lnTo>
                  <a:lnTo>
                    <a:pt x="726440" y="13970"/>
                  </a:lnTo>
                  <a:lnTo>
                    <a:pt x="726440" y="1033780"/>
                  </a:lnTo>
                  <a:lnTo>
                    <a:pt x="370205" y="1033780"/>
                  </a:lnTo>
                  <a:lnTo>
                    <a:pt x="13970" y="1033780"/>
                  </a:lnTo>
                  <a:lnTo>
                    <a:pt x="13970" y="13970"/>
                  </a:lnTo>
                  <a:lnTo>
                    <a:pt x="726440" y="13970"/>
                  </a:lnTo>
                  <a:lnTo>
                    <a:pt x="726440" y="0"/>
                  </a:lnTo>
                  <a:lnTo>
                    <a:pt x="6985" y="0"/>
                  </a:lnTo>
                  <a:lnTo>
                    <a:pt x="6985" y="6985"/>
                  </a:lnTo>
                  <a:lnTo>
                    <a:pt x="6350" y="6985"/>
                  </a:lnTo>
                  <a:lnTo>
                    <a:pt x="6350" y="0"/>
                  </a:lnTo>
                  <a:lnTo>
                    <a:pt x="3810" y="0"/>
                  </a:lnTo>
                  <a:lnTo>
                    <a:pt x="3810" y="1397"/>
                  </a:lnTo>
                  <a:lnTo>
                    <a:pt x="1270" y="1397"/>
                  </a:lnTo>
                  <a:lnTo>
                    <a:pt x="1270" y="3556"/>
                  </a:lnTo>
                  <a:lnTo>
                    <a:pt x="0" y="3556"/>
                  </a:lnTo>
                  <a:lnTo>
                    <a:pt x="0" y="1040765"/>
                  </a:lnTo>
                  <a:lnTo>
                    <a:pt x="0" y="1043559"/>
                  </a:lnTo>
                  <a:lnTo>
                    <a:pt x="2794" y="1046353"/>
                  </a:lnTo>
                  <a:lnTo>
                    <a:pt x="4191" y="1046353"/>
                  </a:lnTo>
                  <a:lnTo>
                    <a:pt x="5588" y="1047750"/>
                  </a:lnTo>
                  <a:lnTo>
                    <a:pt x="370205" y="1047750"/>
                  </a:lnTo>
                  <a:lnTo>
                    <a:pt x="733425" y="1047750"/>
                  </a:lnTo>
                  <a:lnTo>
                    <a:pt x="734822" y="1046353"/>
                  </a:lnTo>
                  <a:lnTo>
                    <a:pt x="737616" y="1046353"/>
                  </a:lnTo>
                  <a:lnTo>
                    <a:pt x="737616" y="1044956"/>
                  </a:lnTo>
                  <a:lnTo>
                    <a:pt x="739013" y="1044956"/>
                  </a:lnTo>
                  <a:lnTo>
                    <a:pt x="739013" y="1042162"/>
                  </a:lnTo>
                  <a:lnTo>
                    <a:pt x="740410" y="1040765"/>
                  </a:lnTo>
                  <a:lnTo>
                    <a:pt x="740410" y="6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157529" y="2335529"/>
              <a:ext cx="0" cy="1047750"/>
            </a:xfrm>
            <a:custGeom>
              <a:avLst/>
              <a:gdLst/>
              <a:ahLst/>
              <a:cxnLst/>
              <a:rect l="l" t="t" r="r" b="b"/>
              <a:pathLst>
                <a:path h="1047750">
                  <a:moveTo>
                    <a:pt x="0" y="1047750"/>
                  </a:moveTo>
                  <a:lnTo>
                    <a:pt x="0" y="0"/>
                  </a:lnTo>
                </a:path>
              </a:pathLst>
            </a:custGeom>
            <a:ln w="1257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86168" y="2335529"/>
              <a:ext cx="656590" cy="1047750"/>
            </a:xfrm>
            <a:custGeom>
              <a:avLst/>
              <a:gdLst/>
              <a:ahLst/>
              <a:cxnLst/>
              <a:rect l="l" t="t" r="r" b="b"/>
              <a:pathLst>
                <a:path w="656590" h="1047750">
                  <a:moveTo>
                    <a:pt x="656590" y="1047750"/>
                  </a:moveTo>
                  <a:lnTo>
                    <a:pt x="656590" y="0"/>
                  </a:lnTo>
                </a:path>
                <a:path w="656590" h="1047750">
                  <a:moveTo>
                    <a:pt x="0" y="48894"/>
                  </a:moveTo>
                  <a:lnTo>
                    <a:pt x="614680" y="48894"/>
                  </a:lnTo>
                </a:path>
                <a:path w="656590" h="1047750">
                  <a:moveTo>
                    <a:pt x="0" y="125730"/>
                  </a:moveTo>
                  <a:lnTo>
                    <a:pt x="419100" y="125730"/>
                  </a:lnTo>
                </a:path>
                <a:path w="656590" h="1047750">
                  <a:moveTo>
                    <a:pt x="0" y="209550"/>
                  </a:moveTo>
                  <a:lnTo>
                    <a:pt x="502920" y="209550"/>
                  </a:lnTo>
                </a:path>
                <a:path w="656590" h="1047750">
                  <a:moveTo>
                    <a:pt x="0" y="293370"/>
                  </a:moveTo>
                  <a:lnTo>
                    <a:pt x="251460" y="293370"/>
                  </a:lnTo>
                </a:path>
                <a:path w="656590" h="1047750">
                  <a:moveTo>
                    <a:pt x="0" y="377190"/>
                  </a:moveTo>
                  <a:lnTo>
                    <a:pt x="335280" y="377190"/>
                  </a:lnTo>
                </a:path>
                <a:path w="656590" h="1047750">
                  <a:moveTo>
                    <a:pt x="0" y="461009"/>
                  </a:moveTo>
                  <a:lnTo>
                    <a:pt x="83820" y="461009"/>
                  </a:lnTo>
                </a:path>
                <a:path w="656590" h="1047750">
                  <a:moveTo>
                    <a:pt x="0" y="544830"/>
                  </a:moveTo>
                  <a:lnTo>
                    <a:pt x="419100" y="544830"/>
                  </a:lnTo>
                </a:path>
                <a:path w="656590" h="1047750">
                  <a:moveTo>
                    <a:pt x="0" y="628650"/>
                  </a:moveTo>
                  <a:lnTo>
                    <a:pt x="167640" y="628650"/>
                  </a:lnTo>
                </a:path>
                <a:path w="656590" h="1047750">
                  <a:moveTo>
                    <a:pt x="0" y="712470"/>
                  </a:moveTo>
                  <a:lnTo>
                    <a:pt x="502920" y="712470"/>
                  </a:lnTo>
                </a:path>
                <a:path w="656590" h="1047750">
                  <a:moveTo>
                    <a:pt x="0" y="796290"/>
                  </a:moveTo>
                  <a:lnTo>
                    <a:pt x="251460" y="796290"/>
                  </a:lnTo>
                </a:path>
                <a:path w="656590" h="1047750">
                  <a:moveTo>
                    <a:pt x="0" y="880110"/>
                  </a:moveTo>
                  <a:lnTo>
                    <a:pt x="335280" y="880110"/>
                  </a:lnTo>
                </a:path>
                <a:path w="656590" h="1047750">
                  <a:moveTo>
                    <a:pt x="0" y="963930"/>
                  </a:moveTo>
                  <a:lnTo>
                    <a:pt x="419100" y="963930"/>
                  </a:lnTo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/>
          <p:nvPr/>
        </p:nvSpPr>
        <p:spPr>
          <a:xfrm>
            <a:off x="3148838" y="2698749"/>
            <a:ext cx="822960" cy="419100"/>
          </a:xfrm>
          <a:custGeom>
            <a:avLst/>
            <a:gdLst/>
            <a:ahLst/>
            <a:cxnLst/>
            <a:rect l="l" t="t" r="r" b="b"/>
            <a:pathLst>
              <a:path w="822960" h="419100">
                <a:moveTo>
                  <a:pt x="822833" y="205359"/>
                </a:moveTo>
                <a:lnTo>
                  <a:pt x="821436" y="203962"/>
                </a:lnTo>
                <a:lnTo>
                  <a:pt x="820039" y="203962"/>
                </a:lnTo>
                <a:lnTo>
                  <a:pt x="820039" y="202565"/>
                </a:lnTo>
                <a:lnTo>
                  <a:pt x="800481" y="192786"/>
                </a:lnTo>
                <a:lnTo>
                  <a:pt x="800481" y="208851"/>
                </a:lnTo>
                <a:lnTo>
                  <a:pt x="417703" y="400240"/>
                </a:lnTo>
                <a:lnTo>
                  <a:pt x="417703" y="305943"/>
                </a:lnTo>
                <a:lnTo>
                  <a:pt x="416306" y="305943"/>
                </a:lnTo>
                <a:lnTo>
                  <a:pt x="414909" y="304546"/>
                </a:lnTo>
                <a:lnTo>
                  <a:pt x="413512" y="304546"/>
                </a:lnTo>
                <a:lnTo>
                  <a:pt x="412115" y="303149"/>
                </a:lnTo>
                <a:lnTo>
                  <a:pt x="12573" y="303149"/>
                </a:lnTo>
                <a:lnTo>
                  <a:pt x="12573" y="114554"/>
                </a:lnTo>
                <a:lnTo>
                  <a:pt x="412115" y="114554"/>
                </a:lnTo>
                <a:lnTo>
                  <a:pt x="414655" y="114554"/>
                </a:lnTo>
                <a:lnTo>
                  <a:pt x="414655" y="113538"/>
                </a:lnTo>
                <a:lnTo>
                  <a:pt x="417195" y="113538"/>
                </a:lnTo>
                <a:lnTo>
                  <a:pt x="417195" y="108966"/>
                </a:lnTo>
                <a:lnTo>
                  <a:pt x="417703" y="108966"/>
                </a:lnTo>
                <a:lnTo>
                  <a:pt x="417703" y="17462"/>
                </a:lnTo>
                <a:lnTo>
                  <a:pt x="800481" y="208851"/>
                </a:lnTo>
                <a:lnTo>
                  <a:pt x="800481" y="192786"/>
                </a:lnTo>
                <a:lnTo>
                  <a:pt x="414909" y="0"/>
                </a:lnTo>
                <a:lnTo>
                  <a:pt x="409321" y="0"/>
                </a:lnTo>
                <a:lnTo>
                  <a:pt x="407924" y="1397"/>
                </a:lnTo>
                <a:lnTo>
                  <a:pt x="406527" y="1397"/>
                </a:lnTo>
                <a:lnTo>
                  <a:pt x="406527" y="2794"/>
                </a:lnTo>
                <a:lnTo>
                  <a:pt x="405130" y="2794"/>
                </a:lnTo>
                <a:lnTo>
                  <a:pt x="405130" y="100584"/>
                </a:lnTo>
                <a:lnTo>
                  <a:pt x="6985" y="100584"/>
                </a:lnTo>
                <a:lnTo>
                  <a:pt x="4191" y="101981"/>
                </a:lnTo>
                <a:lnTo>
                  <a:pt x="2794" y="101981"/>
                </a:lnTo>
                <a:lnTo>
                  <a:pt x="1397" y="103378"/>
                </a:lnTo>
                <a:lnTo>
                  <a:pt x="0" y="103378"/>
                </a:lnTo>
                <a:lnTo>
                  <a:pt x="0" y="310134"/>
                </a:lnTo>
                <a:lnTo>
                  <a:pt x="0" y="314325"/>
                </a:lnTo>
                <a:lnTo>
                  <a:pt x="1397" y="315722"/>
                </a:lnTo>
                <a:lnTo>
                  <a:pt x="2794" y="315722"/>
                </a:lnTo>
                <a:lnTo>
                  <a:pt x="2794" y="317119"/>
                </a:lnTo>
                <a:lnTo>
                  <a:pt x="405130" y="317119"/>
                </a:lnTo>
                <a:lnTo>
                  <a:pt x="405130" y="412115"/>
                </a:lnTo>
                <a:lnTo>
                  <a:pt x="405130" y="414909"/>
                </a:lnTo>
                <a:lnTo>
                  <a:pt x="406527" y="416306"/>
                </a:lnTo>
                <a:lnTo>
                  <a:pt x="406527" y="417703"/>
                </a:lnTo>
                <a:lnTo>
                  <a:pt x="407924" y="417703"/>
                </a:lnTo>
                <a:lnTo>
                  <a:pt x="409321" y="419100"/>
                </a:lnTo>
                <a:lnTo>
                  <a:pt x="413512" y="419100"/>
                </a:lnTo>
                <a:lnTo>
                  <a:pt x="414909" y="417703"/>
                </a:lnTo>
                <a:lnTo>
                  <a:pt x="820039" y="215138"/>
                </a:lnTo>
                <a:lnTo>
                  <a:pt x="822833" y="212344"/>
                </a:lnTo>
                <a:lnTo>
                  <a:pt x="822833" y="2053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872975" y="2698749"/>
            <a:ext cx="824865" cy="419100"/>
          </a:xfrm>
          <a:custGeom>
            <a:avLst/>
            <a:gdLst/>
            <a:ahLst/>
            <a:cxnLst/>
            <a:rect l="l" t="t" r="r" b="b"/>
            <a:pathLst>
              <a:path w="824865" h="419100">
                <a:moveTo>
                  <a:pt x="824242" y="208153"/>
                </a:moveTo>
                <a:lnTo>
                  <a:pt x="822845" y="206756"/>
                </a:lnTo>
                <a:lnTo>
                  <a:pt x="822845" y="205359"/>
                </a:lnTo>
                <a:lnTo>
                  <a:pt x="820051" y="202565"/>
                </a:lnTo>
                <a:lnTo>
                  <a:pt x="801890" y="193484"/>
                </a:lnTo>
                <a:lnTo>
                  <a:pt x="801890" y="208851"/>
                </a:lnTo>
                <a:lnTo>
                  <a:pt x="419112" y="400240"/>
                </a:lnTo>
                <a:lnTo>
                  <a:pt x="419112" y="310134"/>
                </a:lnTo>
                <a:lnTo>
                  <a:pt x="417715" y="308737"/>
                </a:lnTo>
                <a:lnTo>
                  <a:pt x="417715" y="305943"/>
                </a:lnTo>
                <a:lnTo>
                  <a:pt x="416318" y="305943"/>
                </a:lnTo>
                <a:lnTo>
                  <a:pt x="416318" y="304546"/>
                </a:lnTo>
                <a:lnTo>
                  <a:pt x="413524" y="304546"/>
                </a:lnTo>
                <a:lnTo>
                  <a:pt x="412127" y="303149"/>
                </a:lnTo>
                <a:lnTo>
                  <a:pt x="412127" y="310134"/>
                </a:lnTo>
                <a:lnTo>
                  <a:pt x="412115" y="303149"/>
                </a:lnTo>
                <a:lnTo>
                  <a:pt x="13982" y="303149"/>
                </a:lnTo>
                <a:lnTo>
                  <a:pt x="13982" y="114554"/>
                </a:lnTo>
                <a:lnTo>
                  <a:pt x="412127" y="114554"/>
                </a:lnTo>
                <a:lnTo>
                  <a:pt x="415937" y="114554"/>
                </a:lnTo>
                <a:lnTo>
                  <a:pt x="415937" y="112903"/>
                </a:lnTo>
                <a:lnTo>
                  <a:pt x="417207" y="112903"/>
                </a:lnTo>
                <a:lnTo>
                  <a:pt x="417207" y="110236"/>
                </a:lnTo>
                <a:lnTo>
                  <a:pt x="418477" y="110236"/>
                </a:lnTo>
                <a:lnTo>
                  <a:pt x="418477" y="108966"/>
                </a:lnTo>
                <a:lnTo>
                  <a:pt x="419112" y="108966"/>
                </a:lnTo>
                <a:lnTo>
                  <a:pt x="419112" y="17462"/>
                </a:lnTo>
                <a:lnTo>
                  <a:pt x="801890" y="208851"/>
                </a:lnTo>
                <a:lnTo>
                  <a:pt x="801890" y="193484"/>
                </a:lnTo>
                <a:lnTo>
                  <a:pt x="414921" y="0"/>
                </a:lnTo>
                <a:lnTo>
                  <a:pt x="409333" y="0"/>
                </a:lnTo>
                <a:lnTo>
                  <a:pt x="407936" y="1397"/>
                </a:lnTo>
                <a:lnTo>
                  <a:pt x="406539" y="1397"/>
                </a:lnTo>
                <a:lnTo>
                  <a:pt x="406539" y="2794"/>
                </a:lnTo>
                <a:lnTo>
                  <a:pt x="405142" y="2794"/>
                </a:lnTo>
                <a:lnTo>
                  <a:pt x="405142" y="100584"/>
                </a:lnTo>
                <a:lnTo>
                  <a:pt x="6997" y="100584"/>
                </a:lnTo>
                <a:lnTo>
                  <a:pt x="4203" y="101981"/>
                </a:lnTo>
                <a:lnTo>
                  <a:pt x="2806" y="101981"/>
                </a:lnTo>
                <a:lnTo>
                  <a:pt x="12" y="104775"/>
                </a:lnTo>
                <a:lnTo>
                  <a:pt x="12" y="310134"/>
                </a:lnTo>
                <a:lnTo>
                  <a:pt x="0" y="312928"/>
                </a:lnTo>
                <a:lnTo>
                  <a:pt x="1397" y="314325"/>
                </a:lnTo>
                <a:lnTo>
                  <a:pt x="1397" y="315722"/>
                </a:lnTo>
                <a:lnTo>
                  <a:pt x="2794" y="315722"/>
                </a:lnTo>
                <a:lnTo>
                  <a:pt x="4191" y="317119"/>
                </a:lnTo>
                <a:lnTo>
                  <a:pt x="405142" y="317119"/>
                </a:lnTo>
                <a:lnTo>
                  <a:pt x="405142" y="412115"/>
                </a:lnTo>
                <a:lnTo>
                  <a:pt x="405142" y="414909"/>
                </a:lnTo>
                <a:lnTo>
                  <a:pt x="406539" y="416306"/>
                </a:lnTo>
                <a:lnTo>
                  <a:pt x="406539" y="417703"/>
                </a:lnTo>
                <a:lnTo>
                  <a:pt x="407936" y="417703"/>
                </a:lnTo>
                <a:lnTo>
                  <a:pt x="409333" y="419100"/>
                </a:lnTo>
                <a:lnTo>
                  <a:pt x="413524" y="419100"/>
                </a:lnTo>
                <a:lnTo>
                  <a:pt x="414921" y="417703"/>
                </a:lnTo>
                <a:lnTo>
                  <a:pt x="820051" y="215138"/>
                </a:lnTo>
                <a:lnTo>
                  <a:pt x="822845" y="212344"/>
                </a:lnTo>
                <a:lnTo>
                  <a:pt x="822845" y="210947"/>
                </a:lnTo>
                <a:lnTo>
                  <a:pt x="824242" y="209550"/>
                </a:lnTo>
                <a:lnTo>
                  <a:pt x="824242" y="2081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683257" y="3556380"/>
            <a:ext cx="669925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  <a:tabLst>
                <a:tab pos="2407920" algn="l"/>
                <a:tab pos="4966970" algn="l"/>
              </a:tabLst>
            </a:pPr>
            <a:r>
              <a:rPr sz="2600" b="1" dirty="0">
                <a:latin typeface="Times New Roman"/>
                <a:cs typeface="Times New Roman"/>
              </a:rPr>
              <a:t>E</a:t>
            </a:r>
            <a:r>
              <a:rPr sz="2600" b="1" spc="35" dirty="0">
                <a:latin typeface="Times New Roman"/>
                <a:cs typeface="Times New Roman"/>
              </a:rPr>
              <a:t>n</a:t>
            </a:r>
            <a:r>
              <a:rPr sz="2600" b="1" spc="10" dirty="0">
                <a:latin typeface="Times New Roman"/>
                <a:cs typeface="Times New Roman"/>
              </a:rPr>
              <a:t>o</a:t>
            </a:r>
            <a:r>
              <a:rPr sz="2600" b="1" spc="35" dirty="0">
                <a:latin typeface="Times New Roman"/>
                <a:cs typeface="Times New Roman"/>
              </a:rPr>
              <a:t>n</a:t>
            </a:r>
            <a:r>
              <a:rPr sz="2600" b="1" spc="10" dirty="0">
                <a:latin typeface="Times New Roman"/>
                <a:cs typeface="Times New Roman"/>
              </a:rPr>
              <a:t>c</a:t>
            </a:r>
            <a:r>
              <a:rPr sz="2600" b="1" spc="15" dirty="0">
                <a:latin typeface="Times New Roman"/>
                <a:cs typeface="Times New Roman"/>
              </a:rPr>
              <a:t>é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15" dirty="0">
                <a:latin typeface="Times New Roman"/>
                <a:cs typeface="Times New Roman"/>
              </a:rPr>
              <a:t>Algo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5" dirty="0">
                <a:latin typeface="Times New Roman"/>
                <a:cs typeface="Times New Roman"/>
              </a:rPr>
              <a:t>i</a:t>
            </a:r>
            <a:r>
              <a:rPr sz="2600" b="1" spc="40" dirty="0">
                <a:latin typeface="Times New Roman"/>
                <a:cs typeface="Times New Roman"/>
              </a:rPr>
              <a:t>t</a:t>
            </a:r>
            <a:r>
              <a:rPr sz="2600" b="1" spc="35" dirty="0">
                <a:latin typeface="Times New Roman"/>
                <a:cs typeface="Times New Roman"/>
              </a:rPr>
              <a:t>h</a:t>
            </a:r>
            <a:r>
              <a:rPr sz="2600" b="1" spc="60" dirty="0">
                <a:latin typeface="Times New Roman"/>
                <a:cs typeface="Times New Roman"/>
              </a:rPr>
              <a:t>m</a:t>
            </a:r>
            <a:r>
              <a:rPr sz="2600" b="1" spc="15" dirty="0">
                <a:latin typeface="Times New Roman"/>
                <a:cs typeface="Times New Roman"/>
              </a:rPr>
              <a:t>e</a:t>
            </a:r>
            <a:r>
              <a:rPr sz="2600" b="1" dirty="0">
                <a:latin typeface="Times New Roman"/>
                <a:cs typeface="Times New Roman"/>
              </a:rPr>
              <a:t>	</a:t>
            </a:r>
            <a:r>
              <a:rPr sz="2600" b="1" spc="55" dirty="0">
                <a:latin typeface="Times New Roman"/>
                <a:cs typeface="Times New Roman"/>
              </a:rPr>
              <a:t>P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15" dirty="0">
                <a:latin typeface="Times New Roman"/>
                <a:cs typeface="Times New Roman"/>
              </a:rPr>
              <a:t>og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15" dirty="0">
                <a:latin typeface="Times New Roman"/>
                <a:cs typeface="Times New Roman"/>
              </a:rPr>
              <a:t>a</a:t>
            </a:r>
            <a:r>
              <a:rPr sz="2600" b="1" spc="50" dirty="0">
                <a:latin typeface="Times New Roman"/>
                <a:cs typeface="Times New Roman"/>
              </a:rPr>
              <a:t>m</a:t>
            </a:r>
            <a:r>
              <a:rPr sz="2600" b="1" spc="60" dirty="0">
                <a:latin typeface="Times New Roman"/>
                <a:cs typeface="Times New Roman"/>
              </a:rPr>
              <a:t>m</a:t>
            </a:r>
            <a:r>
              <a:rPr sz="2600" b="1" spc="15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0" name="object 20"/>
          <p:cNvSpPr txBox="1"/>
          <p:nvPr/>
        </p:nvSpPr>
        <p:spPr>
          <a:xfrm>
            <a:off x="2968386" y="2131441"/>
            <a:ext cx="155194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0" dirty="0">
                <a:latin typeface="Times New Roman"/>
                <a:cs typeface="Times New Roman"/>
              </a:rPr>
              <a:t>Résolution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649620" y="2131441"/>
            <a:ext cx="110934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15" dirty="0">
                <a:latin typeface="Times New Roman"/>
                <a:cs typeface="Times New Roman"/>
              </a:rPr>
              <a:t>Co</a:t>
            </a:r>
            <a:r>
              <a:rPr sz="2600" b="1" spc="35" dirty="0">
                <a:latin typeface="Times New Roman"/>
                <a:cs typeface="Times New Roman"/>
              </a:rPr>
              <a:t>d</a:t>
            </a:r>
            <a:r>
              <a:rPr sz="2600" b="1" spc="20" dirty="0">
                <a:latin typeface="Times New Roman"/>
                <a:cs typeface="Times New Roman"/>
              </a:rPr>
              <a:t>a</a:t>
            </a:r>
            <a:r>
              <a:rPr sz="2600" b="1" spc="30" dirty="0">
                <a:latin typeface="Times New Roman"/>
                <a:cs typeface="Times New Roman"/>
              </a:rPr>
              <a:t>g</a:t>
            </a:r>
            <a:r>
              <a:rPr sz="2600" b="1" spc="15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2209" y="672971"/>
            <a:ext cx="265874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Pseudo</a:t>
            </a:r>
            <a:r>
              <a:rPr sz="3950" b="1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b="1" dirty="0">
                <a:solidFill>
                  <a:srgbClr val="000000"/>
                </a:solidFill>
                <a:latin typeface="Times New Roman"/>
                <a:cs typeface="Times New Roman"/>
              </a:rPr>
              <a:t>code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6665" y="2188772"/>
            <a:ext cx="3230245" cy="15608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ts val="3050"/>
              </a:lnSpc>
              <a:spcBef>
                <a:spcPts val="140"/>
              </a:spcBef>
            </a:pPr>
            <a:r>
              <a:rPr sz="2600" b="1" spc="10" dirty="0">
                <a:latin typeface="Times New Roman"/>
                <a:cs typeface="Times New Roman"/>
              </a:rPr>
              <a:t>lire</a:t>
            </a:r>
            <a:r>
              <a:rPr sz="2600" b="1" spc="-60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(n)</a:t>
            </a:r>
            <a:endParaRPr sz="2600" dirty="0">
              <a:latin typeface="Times New Roman"/>
              <a:cs typeface="Times New Roman"/>
            </a:endParaRPr>
          </a:p>
          <a:p>
            <a:pPr marL="250190" marR="866140" indent="-238125">
              <a:lnSpc>
                <a:spcPts val="2970"/>
              </a:lnSpc>
              <a:spcBef>
                <a:spcPts val="155"/>
              </a:spcBef>
            </a:pPr>
            <a:r>
              <a:rPr sz="2600" b="1" spc="25" dirty="0">
                <a:latin typeface="Times New Roman"/>
                <a:cs typeface="Times New Roman"/>
              </a:rPr>
              <a:t>pour</a:t>
            </a:r>
            <a:r>
              <a:rPr sz="2600" b="1" spc="100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i</a:t>
            </a:r>
            <a:r>
              <a:rPr sz="2600" b="1" spc="120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Symbol"/>
                <a:cs typeface="Symbol"/>
              </a:rPr>
              <a:t></a:t>
            </a:r>
            <a:r>
              <a:rPr sz="2600" spc="15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0</a:t>
            </a:r>
            <a:r>
              <a:rPr sz="2600" b="1" spc="12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à</a:t>
            </a:r>
            <a:r>
              <a:rPr sz="2600" b="1" spc="12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n 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si </a:t>
            </a:r>
            <a:r>
              <a:rPr sz="2600" b="1" spc="20" dirty="0">
                <a:latin typeface="Times New Roman"/>
                <a:cs typeface="Times New Roman"/>
              </a:rPr>
              <a:t>(i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mod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2)</a:t>
            </a:r>
            <a:r>
              <a:rPr sz="2600" b="1" spc="20" dirty="0">
                <a:latin typeface="Times New Roman"/>
                <a:cs typeface="Times New Roman"/>
              </a:rPr>
              <a:t> #</a:t>
            </a:r>
            <a:r>
              <a:rPr sz="2600" b="1" spc="-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0</a:t>
            </a:r>
            <a:endParaRPr sz="2600" dirty="0">
              <a:latin typeface="Times New Roman"/>
              <a:cs typeface="Times New Roman"/>
            </a:endParaRPr>
          </a:p>
          <a:p>
            <a:pPr marL="969644">
              <a:lnSpc>
                <a:spcPts val="2895"/>
              </a:lnSpc>
            </a:pPr>
            <a:r>
              <a:rPr sz="2600" b="1" spc="10" dirty="0">
                <a:latin typeface="Times New Roman"/>
                <a:cs typeface="Times New Roman"/>
              </a:rPr>
              <a:t>alors</a:t>
            </a:r>
            <a:r>
              <a:rPr sz="2600" b="1" spc="-80" dirty="0">
                <a:latin typeface="Times New Roman"/>
                <a:cs typeface="Times New Roman"/>
              </a:rPr>
              <a:t> </a:t>
            </a:r>
            <a:r>
              <a:rPr sz="2600" b="1" spc="30" dirty="0">
                <a:latin typeface="Times New Roman"/>
                <a:cs typeface="Times New Roman"/>
              </a:rPr>
              <a:t>afficher(i)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19100" y="2125979"/>
            <a:ext cx="3520440" cy="2842895"/>
          </a:xfrm>
          <a:custGeom>
            <a:avLst/>
            <a:gdLst/>
            <a:ahLst/>
            <a:cxnLst/>
            <a:rect l="l" t="t" r="r" b="b"/>
            <a:pathLst>
              <a:path w="3520440" h="2842895">
                <a:moveTo>
                  <a:pt x="3520440" y="4191"/>
                </a:moveTo>
                <a:lnTo>
                  <a:pt x="3519043" y="4191"/>
                </a:lnTo>
                <a:lnTo>
                  <a:pt x="3519043" y="2794"/>
                </a:lnTo>
                <a:lnTo>
                  <a:pt x="3517646" y="1397"/>
                </a:lnTo>
                <a:lnTo>
                  <a:pt x="3516249" y="1397"/>
                </a:lnTo>
                <a:lnTo>
                  <a:pt x="3516249" y="0"/>
                </a:lnTo>
                <a:lnTo>
                  <a:pt x="6985" y="0"/>
                </a:lnTo>
                <a:lnTo>
                  <a:pt x="6985" y="6985"/>
                </a:lnTo>
                <a:lnTo>
                  <a:pt x="6350" y="6985"/>
                </a:lnTo>
                <a:lnTo>
                  <a:pt x="6350" y="0"/>
                </a:lnTo>
                <a:lnTo>
                  <a:pt x="3810" y="0"/>
                </a:lnTo>
                <a:lnTo>
                  <a:pt x="3810" y="1397"/>
                </a:lnTo>
                <a:lnTo>
                  <a:pt x="1270" y="1397"/>
                </a:lnTo>
                <a:lnTo>
                  <a:pt x="1270" y="3556"/>
                </a:lnTo>
                <a:lnTo>
                  <a:pt x="0" y="3556"/>
                </a:lnTo>
                <a:lnTo>
                  <a:pt x="0" y="2842895"/>
                </a:lnTo>
                <a:lnTo>
                  <a:pt x="1270" y="2842895"/>
                </a:lnTo>
                <a:lnTo>
                  <a:pt x="3810" y="2842895"/>
                </a:lnTo>
                <a:lnTo>
                  <a:pt x="6350" y="2842895"/>
                </a:lnTo>
                <a:lnTo>
                  <a:pt x="13970" y="2842895"/>
                </a:lnTo>
                <a:lnTo>
                  <a:pt x="13970" y="13970"/>
                </a:lnTo>
                <a:lnTo>
                  <a:pt x="3513455" y="13970"/>
                </a:lnTo>
                <a:lnTo>
                  <a:pt x="3513455" y="6985"/>
                </a:lnTo>
                <a:lnTo>
                  <a:pt x="3520440" y="6985"/>
                </a:lnTo>
                <a:lnTo>
                  <a:pt x="3520440" y="4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364480" y="2125979"/>
            <a:ext cx="4358640" cy="4526280"/>
          </a:xfrm>
          <a:custGeom>
            <a:avLst/>
            <a:gdLst/>
            <a:ahLst/>
            <a:cxnLst/>
            <a:rect l="l" t="t" r="r" b="b"/>
            <a:pathLst>
              <a:path w="4358640" h="4526280">
                <a:moveTo>
                  <a:pt x="4358640" y="4191"/>
                </a:moveTo>
                <a:lnTo>
                  <a:pt x="4357243" y="4191"/>
                </a:lnTo>
                <a:lnTo>
                  <a:pt x="4357243" y="2794"/>
                </a:lnTo>
                <a:lnTo>
                  <a:pt x="4355846" y="1397"/>
                </a:lnTo>
                <a:lnTo>
                  <a:pt x="4354449" y="1397"/>
                </a:lnTo>
                <a:lnTo>
                  <a:pt x="4354449" y="0"/>
                </a:lnTo>
                <a:lnTo>
                  <a:pt x="6985" y="0"/>
                </a:lnTo>
                <a:lnTo>
                  <a:pt x="6985" y="6985"/>
                </a:lnTo>
                <a:lnTo>
                  <a:pt x="6350" y="6985"/>
                </a:lnTo>
                <a:lnTo>
                  <a:pt x="6350" y="0"/>
                </a:lnTo>
                <a:lnTo>
                  <a:pt x="3810" y="0"/>
                </a:lnTo>
                <a:lnTo>
                  <a:pt x="3810" y="1397"/>
                </a:lnTo>
                <a:lnTo>
                  <a:pt x="1270" y="1397"/>
                </a:lnTo>
                <a:lnTo>
                  <a:pt x="1270" y="3556"/>
                </a:lnTo>
                <a:lnTo>
                  <a:pt x="0" y="3556"/>
                </a:lnTo>
                <a:lnTo>
                  <a:pt x="0" y="4519295"/>
                </a:lnTo>
                <a:lnTo>
                  <a:pt x="1270" y="4519295"/>
                </a:lnTo>
                <a:lnTo>
                  <a:pt x="3810" y="4519295"/>
                </a:lnTo>
                <a:lnTo>
                  <a:pt x="6350" y="4519295"/>
                </a:lnTo>
                <a:lnTo>
                  <a:pt x="13970" y="4519295"/>
                </a:lnTo>
                <a:lnTo>
                  <a:pt x="13970" y="13970"/>
                </a:lnTo>
                <a:lnTo>
                  <a:pt x="4344670" y="13970"/>
                </a:lnTo>
                <a:lnTo>
                  <a:pt x="4344670" y="4519295"/>
                </a:lnTo>
                <a:lnTo>
                  <a:pt x="4351655" y="4519295"/>
                </a:lnTo>
                <a:lnTo>
                  <a:pt x="4351655" y="4526280"/>
                </a:lnTo>
                <a:lnTo>
                  <a:pt x="4354449" y="4524883"/>
                </a:lnTo>
                <a:lnTo>
                  <a:pt x="4355846" y="4524883"/>
                </a:lnTo>
                <a:lnTo>
                  <a:pt x="4355846" y="4523486"/>
                </a:lnTo>
                <a:lnTo>
                  <a:pt x="4357243" y="4523486"/>
                </a:lnTo>
                <a:lnTo>
                  <a:pt x="4357243" y="4522089"/>
                </a:lnTo>
                <a:lnTo>
                  <a:pt x="4358640" y="4520692"/>
                </a:lnTo>
                <a:lnTo>
                  <a:pt x="4358640" y="6985"/>
                </a:lnTo>
                <a:lnTo>
                  <a:pt x="4358640" y="419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29919" y="4578985"/>
            <a:ext cx="4132579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950" b="1" spc="20" dirty="0">
                <a:latin typeface="Times New Roman"/>
                <a:cs typeface="Times New Roman"/>
              </a:rPr>
              <a:t>Plus</a:t>
            </a:r>
            <a:r>
              <a:rPr sz="1950" b="1" spc="-35" dirty="0">
                <a:latin typeface="Times New Roman"/>
                <a:cs typeface="Times New Roman"/>
              </a:rPr>
              <a:t> </a:t>
            </a:r>
            <a:r>
              <a:rPr sz="1950" b="1" spc="10" dirty="0">
                <a:latin typeface="Times New Roman"/>
                <a:cs typeface="Times New Roman"/>
              </a:rPr>
              <a:t>abstrait,</a:t>
            </a:r>
            <a:r>
              <a:rPr sz="1950" b="1" dirty="0">
                <a:latin typeface="Times New Roman"/>
                <a:cs typeface="Times New Roman"/>
              </a:rPr>
              <a:t> </a:t>
            </a:r>
            <a:r>
              <a:rPr sz="1950" b="1" spc="5" dirty="0">
                <a:latin typeface="Times New Roman"/>
                <a:cs typeface="Times New Roman"/>
              </a:rPr>
              <a:t>plus</a:t>
            </a:r>
            <a:r>
              <a:rPr sz="1950" b="1" spc="-35" dirty="0">
                <a:latin typeface="Times New Roman"/>
                <a:cs typeface="Times New Roman"/>
              </a:rPr>
              <a:t> </a:t>
            </a:r>
            <a:r>
              <a:rPr sz="1950" b="1" spc="15" dirty="0">
                <a:latin typeface="Times New Roman"/>
                <a:cs typeface="Times New Roman"/>
              </a:rPr>
              <a:t>lisible,</a:t>
            </a:r>
            <a:r>
              <a:rPr sz="1950" b="1" dirty="0">
                <a:latin typeface="Times New Roman"/>
                <a:cs typeface="Times New Roman"/>
              </a:rPr>
              <a:t> plus</a:t>
            </a:r>
            <a:r>
              <a:rPr sz="1950" b="1" spc="-20" dirty="0">
                <a:latin typeface="Times New Roman"/>
                <a:cs typeface="Times New Roman"/>
              </a:rPr>
              <a:t> </a:t>
            </a:r>
            <a:r>
              <a:rPr sz="1950" b="1" spc="10" dirty="0">
                <a:latin typeface="Times New Roman"/>
                <a:cs typeface="Times New Roman"/>
              </a:rPr>
              <a:t>concis...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8" name="object 8"/>
          <p:cNvSpPr txBox="1"/>
          <p:nvPr/>
        </p:nvSpPr>
        <p:spPr>
          <a:xfrm>
            <a:off x="4167459" y="492005"/>
            <a:ext cx="4252595" cy="930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1400"/>
              </a:lnSpc>
              <a:spcBef>
                <a:spcPts val="95"/>
              </a:spcBef>
            </a:pPr>
            <a:r>
              <a:rPr sz="1950" b="1" spc="25" dirty="0">
                <a:latin typeface="Times New Roman"/>
                <a:cs typeface="Times New Roman"/>
              </a:rPr>
              <a:t>Faire </a:t>
            </a:r>
            <a:r>
              <a:rPr sz="1950" b="1" spc="20" dirty="0">
                <a:latin typeface="Times New Roman"/>
                <a:cs typeface="Times New Roman"/>
              </a:rPr>
              <a:t>la </a:t>
            </a:r>
            <a:r>
              <a:rPr sz="1950" b="1" dirty="0">
                <a:latin typeface="Times New Roman"/>
                <a:cs typeface="Times New Roman"/>
              </a:rPr>
              <a:t>différence </a:t>
            </a:r>
            <a:r>
              <a:rPr sz="1950" b="1" spc="15" dirty="0">
                <a:latin typeface="Times New Roman"/>
                <a:cs typeface="Times New Roman"/>
              </a:rPr>
              <a:t>entre </a:t>
            </a:r>
            <a:r>
              <a:rPr sz="1950" b="1" spc="20" dirty="0">
                <a:latin typeface="Times New Roman"/>
                <a:cs typeface="Times New Roman"/>
              </a:rPr>
              <a:t>les </a:t>
            </a:r>
            <a:r>
              <a:rPr sz="1950" b="1" spc="15" dirty="0">
                <a:latin typeface="Times New Roman"/>
                <a:cs typeface="Times New Roman"/>
              </a:rPr>
              <a:t>contraintes </a:t>
            </a:r>
            <a:r>
              <a:rPr sz="1950" b="1" spc="-475" dirty="0">
                <a:latin typeface="Times New Roman"/>
                <a:cs typeface="Times New Roman"/>
              </a:rPr>
              <a:t> </a:t>
            </a:r>
            <a:r>
              <a:rPr sz="1950" b="1" spc="15" dirty="0">
                <a:latin typeface="Times New Roman"/>
                <a:cs typeface="Times New Roman"/>
              </a:rPr>
              <a:t>propres à </a:t>
            </a:r>
            <a:r>
              <a:rPr sz="1950" b="1" spc="-5" dirty="0">
                <a:latin typeface="Times New Roman"/>
                <a:cs typeface="Times New Roman"/>
              </a:rPr>
              <a:t>un </a:t>
            </a:r>
            <a:r>
              <a:rPr sz="1950" b="1" spc="10" dirty="0">
                <a:latin typeface="Times New Roman"/>
                <a:cs typeface="Times New Roman"/>
              </a:rPr>
              <a:t>langage </a:t>
            </a:r>
            <a:r>
              <a:rPr sz="1950" b="1" spc="25" dirty="0">
                <a:latin typeface="Times New Roman"/>
                <a:cs typeface="Times New Roman"/>
              </a:rPr>
              <a:t>et les </a:t>
            </a:r>
            <a:r>
              <a:rPr sz="1950" b="1" dirty="0">
                <a:latin typeface="Times New Roman"/>
                <a:cs typeface="Times New Roman"/>
              </a:rPr>
              <a:t>difficultés </a:t>
            </a:r>
            <a:r>
              <a:rPr sz="1950" b="1" spc="5" dirty="0">
                <a:latin typeface="Times New Roman"/>
                <a:cs typeface="Times New Roman"/>
              </a:rPr>
              <a:t> </a:t>
            </a:r>
            <a:r>
              <a:rPr sz="1950" b="1" spc="15" dirty="0">
                <a:latin typeface="Times New Roman"/>
                <a:cs typeface="Times New Roman"/>
              </a:rPr>
              <a:t>inhérentes</a:t>
            </a:r>
            <a:r>
              <a:rPr sz="1950" b="1" spc="-35" dirty="0">
                <a:latin typeface="Times New Roman"/>
                <a:cs typeface="Times New Roman"/>
              </a:rPr>
              <a:t> </a:t>
            </a:r>
            <a:r>
              <a:rPr sz="1950" b="1" spc="15" dirty="0">
                <a:latin typeface="Times New Roman"/>
                <a:cs typeface="Times New Roman"/>
              </a:rPr>
              <a:t>à</a:t>
            </a:r>
            <a:r>
              <a:rPr sz="1950" b="1" dirty="0">
                <a:latin typeface="Times New Roman"/>
                <a:cs typeface="Times New Roman"/>
              </a:rPr>
              <a:t> un</a:t>
            </a:r>
            <a:r>
              <a:rPr sz="1950" b="1" spc="-30" dirty="0">
                <a:latin typeface="Times New Roman"/>
                <a:cs typeface="Times New Roman"/>
              </a:rPr>
              <a:t> </a:t>
            </a:r>
            <a:r>
              <a:rPr sz="1950" b="1" spc="5" dirty="0">
                <a:latin typeface="Times New Roman"/>
                <a:cs typeface="Times New Roman"/>
              </a:rPr>
              <a:t>problème</a:t>
            </a:r>
            <a:r>
              <a:rPr sz="1950" b="1" spc="35" dirty="0">
                <a:latin typeface="Times New Roman"/>
                <a:cs typeface="Times New Roman"/>
              </a:rPr>
              <a:t> </a:t>
            </a:r>
            <a:r>
              <a:rPr sz="1950" b="1" spc="-5" dirty="0">
                <a:latin typeface="Times New Roman"/>
                <a:cs typeface="Times New Roman"/>
              </a:rPr>
              <a:t>donné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5053" y="6648360"/>
            <a:ext cx="468566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b="1" dirty="0">
                <a:latin typeface="Times New Roman"/>
                <a:cs typeface="Times New Roman"/>
              </a:rPr>
              <a:t>Met</a:t>
            </a:r>
            <a:r>
              <a:rPr sz="2200" b="1" spc="10" dirty="0">
                <a:latin typeface="Times New Roman"/>
                <a:cs typeface="Times New Roman"/>
              </a:rPr>
              <a:t> en</a:t>
            </a:r>
            <a:r>
              <a:rPr sz="2200" b="1" spc="30" dirty="0">
                <a:latin typeface="Times New Roman"/>
                <a:cs typeface="Times New Roman"/>
              </a:rPr>
              <a:t> avant</a:t>
            </a:r>
            <a:r>
              <a:rPr sz="2200" b="1" spc="25" dirty="0">
                <a:latin typeface="Times New Roman"/>
                <a:cs typeface="Times New Roman"/>
              </a:rPr>
              <a:t> l'essence</a:t>
            </a:r>
            <a:r>
              <a:rPr sz="2200" b="1" spc="20" dirty="0">
                <a:latin typeface="Times New Roman"/>
                <a:cs typeface="Times New Roman"/>
              </a:rPr>
              <a:t> </a:t>
            </a:r>
            <a:r>
              <a:rPr sz="2200" b="1" spc="10" dirty="0">
                <a:latin typeface="Times New Roman"/>
                <a:cs typeface="Times New Roman"/>
              </a:rPr>
              <a:t>de</a:t>
            </a:r>
            <a:r>
              <a:rPr sz="2200" b="1" spc="25" dirty="0">
                <a:latin typeface="Times New Roman"/>
                <a:cs typeface="Times New Roman"/>
              </a:rPr>
              <a:t> </a:t>
            </a:r>
            <a:r>
              <a:rPr sz="2200" b="1" spc="20" dirty="0">
                <a:latin typeface="Times New Roman"/>
                <a:cs typeface="Times New Roman"/>
              </a:rPr>
              <a:t>l'algorithme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xmlns="" id="{E4ACEDCE-6589-8442-9E53-AA273A117C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6368" y="2007661"/>
            <a:ext cx="3568700" cy="393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88617" y="756791"/>
            <a:ext cx="624522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b="1" spc="-5" dirty="0">
                <a:solidFill>
                  <a:srgbClr val="000000"/>
                </a:solidFill>
                <a:latin typeface="Times New Roman"/>
                <a:cs typeface="Times New Roman"/>
              </a:rPr>
              <a:t>Conception</a:t>
            </a:r>
            <a:r>
              <a:rPr sz="3950" b="1" spc="-8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b="1" spc="-10" dirty="0">
                <a:solidFill>
                  <a:srgbClr val="000000"/>
                </a:solidFill>
                <a:latin typeface="Times New Roman"/>
                <a:cs typeface="Times New Roman"/>
              </a:rPr>
              <a:t>d'un</a:t>
            </a:r>
            <a:r>
              <a:rPr sz="3950" b="1" spc="-7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b="1" spc="15" dirty="0">
                <a:solidFill>
                  <a:srgbClr val="000000"/>
                </a:solidFill>
                <a:latin typeface="Times New Roman"/>
                <a:cs typeface="Times New Roman"/>
              </a:rPr>
              <a:t>programme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3976" y="4936616"/>
            <a:ext cx="5629275" cy="791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07260" marR="5080" indent="-2195195">
              <a:lnSpc>
                <a:spcPct val="114199"/>
              </a:lnSpc>
              <a:spcBef>
                <a:spcPts val="100"/>
              </a:spcBef>
            </a:pPr>
            <a:r>
              <a:rPr sz="2200" b="1" spc="30" dirty="0">
                <a:latin typeface="Times New Roman"/>
                <a:cs typeface="Times New Roman"/>
              </a:rPr>
              <a:t>Ne</a:t>
            </a:r>
            <a:r>
              <a:rPr sz="2200" b="1" spc="20" dirty="0">
                <a:latin typeface="Times New Roman"/>
                <a:cs typeface="Times New Roman"/>
              </a:rPr>
              <a:t> pas</a:t>
            </a:r>
            <a:r>
              <a:rPr sz="2200" b="1" spc="70" dirty="0">
                <a:latin typeface="Times New Roman"/>
                <a:cs typeface="Times New Roman"/>
              </a:rPr>
              <a:t> </a:t>
            </a:r>
            <a:r>
              <a:rPr sz="2200" b="1" spc="20" dirty="0">
                <a:latin typeface="Times New Roman"/>
                <a:cs typeface="Times New Roman"/>
              </a:rPr>
              <a:t>se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spc="35" dirty="0">
                <a:latin typeface="Times New Roman"/>
                <a:cs typeface="Times New Roman"/>
              </a:rPr>
              <a:t>laisser</a:t>
            </a:r>
            <a:r>
              <a:rPr sz="2200" b="1" spc="20" dirty="0">
                <a:latin typeface="Times New Roman"/>
                <a:cs typeface="Times New Roman"/>
              </a:rPr>
              <a:t> aveugler</a:t>
            </a:r>
            <a:r>
              <a:rPr sz="2200" b="1" spc="45" dirty="0">
                <a:latin typeface="Times New Roman"/>
                <a:cs typeface="Times New Roman"/>
              </a:rPr>
              <a:t> </a:t>
            </a:r>
            <a:r>
              <a:rPr sz="2200" b="1" spc="20" dirty="0">
                <a:latin typeface="Times New Roman"/>
                <a:cs typeface="Times New Roman"/>
              </a:rPr>
              <a:t>par</a:t>
            </a:r>
            <a:r>
              <a:rPr sz="2200" b="1" spc="25" dirty="0">
                <a:latin typeface="Times New Roman"/>
                <a:cs typeface="Times New Roman"/>
              </a:rPr>
              <a:t> l'objectif</a:t>
            </a:r>
            <a:r>
              <a:rPr sz="2200" b="1" spc="20" dirty="0">
                <a:latin typeface="Times New Roman"/>
                <a:cs typeface="Times New Roman"/>
              </a:rPr>
              <a:t> final</a:t>
            </a:r>
            <a:r>
              <a:rPr sz="2200" b="1" spc="7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: </a:t>
            </a:r>
            <a:r>
              <a:rPr sz="2200" b="1" spc="-535" dirty="0">
                <a:latin typeface="Times New Roman"/>
                <a:cs typeface="Times New Roman"/>
              </a:rPr>
              <a:t> </a:t>
            </a:r>
            <a:r>
              <a:rPr sz="2200" b="1" spc="25" dirty="0">
                <a:latin typeface="Times New Roman"/>
                <a:cs typeface="Times New Roman"/>
              </a:rPr>
              <a:t>le</a:t>
            </a:r>
            <a:r>
              <a:rPr sz="2200" b="1" spc="30" dirty="0">
                <a:latin typeface="Times New Roman"/>
                <a:cs typeface="Times New Roman"/>
              </a:rPr>
              <a:t> </a:t>
            </a:r>
            <a:r>
              <a:rPr sz="2200" b="1" spc="15" dirty="0">
                <a:latin typeface="Times New Roman"/>
                <a:cs typeface="Times New Roman"/>
              </a:rPr>
              <a:t>codage</a:t>
            </a:r>
            <a:r>
              <a:rPr sz="2200" b="1" spc="40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!</a:t>
            </a:r>
            <a:endParaRPr sz="22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50235" y="2377439"/>
            <a:ext cx="1047750" cy="1047750"/>
            <a:chOff x="3150235" y="2377439"/>
            <a:chExt cx="1047750" cy="1047750"/>
          </a:xfrm>
        </p:grpSpPr>
        <p:sp>
          <p:nvSpPr>
            <p:cNvPr id="5" name="object 5"/>
            <p:cNvSpPr/>
            <p:nvPr/>
          </p:nvSpPr>
          <p:spPr>
            <a:xfrm>
              <a:off x="3157220" y="2384424"/>
              <a:ext cx="1033780" cy="1033780"/>
            </a:xfrm>
            <a:custGeom>
              <a:avLst/>
              <a:gdLst/>
              <a:ahLst/>
              <a:cxnLst/>
              <a:rect l="l" t="t" r="r" b="b"/>
              <a:pathLst>
                <a:path w="1033779" h="1033779">
                  <a:moveTo>
                    <a:pt x="1033780" y="1033779"/>
                  </a:moveTo>
                  <a:lnTo>
                    <a:pt x="1033780" y="0"/>
                  </a:lnTo>
                  <a:lnTo>
                    <a:pt x="0" y="0"/>
                  </a:lnTo>
                  <a:lnTo>
                    <a:pt x="0" y="1033779"/>
                  </a:lnTo>
                  <a:lnTo>
                    <a:pt x="1033780" y="1033779"/>
                  </a:lnTo>
                  <a:close/>
                </a:path>
              </a:pathLst>
            </a:custGeom>
            <a:solidFill>
              <a:srgbClr val="9191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50235" y="2377439"/>
              <a:ext cx="1047750" cy="1047750"/>
            </a:xfrm>
            <a:custGeom>
              <a:avLst/>
              <a:gdLst/>
              <a:ahLst/>
              <a:cxnLst/>
              <a:rect l="l" t="t" r="r" b="b"/>
              <a:pathLst>
                <a:path w="1047750" h="1047750">
                  <a:moveTo>
                    <a:pt x="1047750" y="6985"/>
                  </a:moveTo>
                  <a:lnTo>
                    <a:pt x="1046353" y="4191"/>
                  </a:lnTo>
                  <a:lnTo>
                    <a:pt x="1046353" y="2794"/>
                  </a:lnTo>
                  <a:lnTo>
                    <a:pt x="1044956" y="1397"/>
                  </a:lnTo>
                  <a:lnTo>
                    <a:pt x="1043559" y="1397"/>
                  </a:lnTo>
                  <a:lnTo>
                    <a:pt x="1042162" y="0"/>
                  </a:lnTo>
                  <a:lnTo>
                    <a:pt x="1033780" y="0"/>
                  </a:lnTo>
                  <a:lnTo>
                    <a:pt x="1033780" y="13970"/>
                  </a:lnTo>
                  <a:lnTo>
                    <a:pt x="1033780" y="1033780"/>
                  </a:lnTo>
                  <a:lnTo>
                    <a:pt x="523875" y="1033780"/>
                  </a:lnTo>
                  <a:lnTo>
                    <a:pt x="13970" y="1033780"/>
                  </a:lnTo>
                  <a:lnTo>
                    <a:pt x="13970" y="13970"/>
                  </a:lnTo>
                  <a:lnTo>
                    <a:pt x="1033780" y="13970"/>
                  </a:lnTo>
                  <a:lnTo>
                    <a:pt x="1033780" y="0"/>
                  </a:lnTo>
                  <a:lnTo>
                    <a:pt x="6985" y="0"/>
                  </a:lnTo>
                  <a:lnTo>
                    <a:pt x="6985" y="6985"/>
                  </a:lnTo>
                  <a:lnTo>
                    <a:pt x="6350" y="6985"/>
                  </a:lnTo>
                  <a:lnTo>
                    <a:pt x="6350" y="0"/>
                  </a:lnTo>
                  <a:lnTo>
                    <a:pt x="3810" y="0"/>
                  </a:lnTo>
                  <a:lnTo>
                    <a:pt x="3810" y="1397"/>
                  </a:lnTo>
                  <a:lnTo>
                    <a:pt x="1270" y="1397"/>
                  </a:lnTo>
                  <a:lnTo>
                    <a:pt x="1270" y="4191"/>
                  </a:lnTo>
                  <a:lnTo>
                    <a:pt x="0" y="4191"/>
                  </a:lnTo>
                  <a:lnTo>
                    <a:pt x="0" y="1040765"/>
                  </a:lnTo>
                  <a:lnTo>
                    <a:pt x="0" y="1042162"/>
                  </a:lnTo>
                  <a:lnTo>
                    <a:pt x="1397" y="1043559"/>
                  </a:lnTo>
                  <a:lnTo>
                    <a:pt x="1397" y="1044956"/>
                  </a:lnTo>
                  <a:lnTo>
                    <a:pt x="2794" y="1046353"/>
                  </a:lnTo>
                  <a:lnTo>
                    <a:pt x="4191" y="1046353"/>
                  </a:lnTo>
                  <a:lnTo>
                    <a:pt x="5588" y="1047750"/>
                  </a:lnTo>
                  <a:lnTo>
                    <a:pt x="523875" y="1047750"/>
                  </a:lnTo>
                  <a:lnTo>
                    <a:pt x="1040765" y="1047750"/>
                  </a:lnTo>
                  <a:lnTo>
                    <a:pt x="1042162" y="1046353"/>
                  </a:lnTo>
                  <a:lnTo>
                    <a:pt x="1044956" y="1046353"/>
                  </a:lnTo>
                  <a:lnTo>
                    <a:pt x="1044956" y="1044956"/>
                  </a:lnTo>
                  <a:lnTo>
                    <a:pt x="1046353" y="1044956"/>
                  </a:lnTo>
                  <a:lnTo>
                    <a:pt x="1046353" y="1042162"/>
                  </a:lnTo>
                  <a:lnTo>
                    <a:pt x="1047750" y="1042162"/>
                  </a:lnTo>
                  <a:lnTo>
                    <a:pt x="1047750" y="698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867400" y="2384425"/>
            <a:ext cx="1040765" cy="1040765"/>
            <a:chOff x="5867400" y="2384425"/>
            <a:chExt cx="1040765" cy="1040765"/>
          </a:xfrm>
        </p:grpSpPr>
        <p:sp>
          <p:nvSpPr>
            <p:cNvPr id="8" name="object 8"/>
            <p:cNvSpPr/>
            <p:nvPr/>
          </p:nvSpPr>
          <p:spPr>
            <a:xfrm>
              <a:off x="5874385" y="2391410"/>
              <a:ext cx="1026794" cy="1026794"/>
            </a:xfrm>
            <a:custGeom>
              <a:avLst/>
              <a:gdLst/>
              <a:ahLst/>
              <a:cxnLst/>
              <a:rect l="l" t="t" r="r" b="b"/>
              <a:pathLst>
                <a:path w="1026795" h="1026795">
                  <a:moveTo>
                    <a:pt x="1026795" y="1026794"/>
                  </a:moveTo>
                  <a:lnTo>
                    <a:pt x="512699" y="0"/>
                  </a:lnTo>
                  <a:lnTo>
                    <a:pt x="0" y="1026794"/>
                  </a:lnTo>
                  <a:lnTo>
                    <a:pt x="1026795" y="1026794"/>
                  </a:lnTo>
                  <a:close/>
                </a:path>
              </a:pathLst>
            </a:custGeom>
            <a:solidFill>
              <a:srgbClr val="DADA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7400" y="2384424"/>
              <a:ext cx="1040765" cy="1040765"/>
            </a:xfrm>
            <a:custGeom>
              <a:avLst/>
              <a:gdLst/>
              <a:ahLst/>
              <a:cxnLst/>
              <a:rect l="l" t="t" r="r" b="b"/>
              <a:pathLst>
                <a:path w="1040765" h="1040764">
                  <a:moveTo>
                    <a:pt x="1040765" y="1032383"/>
                  </a:moveTo>
                  <a:lnTo>
                    <a:pt x="1039368" y="1030986"/>
                  </a:lnTo>
                  <a:lnTo>
                    <a:pt x="1021905" y="996022"/>
                  </a:lnTo>
                  <a:lnTo>
                    <a:pt x="1021905" y="1026795"/>
                  </a:lnTo>
                  <a:lnTo>
                    <a:pt x="17462" y="1026795"/>
                  </a:lnTo>
                  <a:lnTo>
                    <a:pt x="520369" y="22364"/>
                  </a:lnTo>
                  <a:lnTo>
                    <a:pt x="1021905" y="1026795"/>
                  </a:lnTo>
                  <a:lnTo>
                    <a:pt x="1021905" y="996022"/>
                  </a:lnTo>
                  <a:lnTo>
                    <a:pt x="526669" y="4191"/>
                  </a:lnTo>
                  <a:lnTo>
                    <a:pt x="525272" y="1397"/>
                  </a:lnTo>
                  <a:lnTo>
                    <a:pt x="523875" y="1397"/>
                  </a:lnTo>
                  <a:lnTo>
                    <a:pt x="522478" y="0"/>
                  </a:lnTo>
                  <a:lnTo>
                    <a:pt x="516890" y="0"/>
                  </a:lnTo>
                  <a:lnTo>
                    <a:pt x="514096" y="2794"/>
                  </a:lnTo>
                  <a:lnTo>
                    <a:pt x="514096" y="4191"/>
                  </a:lnTo>
                  <a:lnTo>
                    <a:pt x="0" y="1030986"/>
                  </a:lnTo>
                  <a:lnTo>
                    <a:pt x="0" y="1036574"/>
                  </a:lnTo>
                  <a:lnTo>
                    <a:pt x="1397" y="1036574"/>
                  </a:lnTo>
                  <a:lnTo>
                    <a:pt x="1397" y="1037971"/>
                  </a:lnTo>
                  <a:lnTo>
                    <a:pt x="2794" y="1039368"/>
                  </a:lnTo>
                  <a:lnTo>
                    <a:pt x="4191" y="1039368"/>
                  </a:lnTo>
                  <a:lnTo>
                    <a:pt x="5588" y="1040765"/>
                  </a:lnTo>
                  <a:lnTo>
                    <a:pt x="1033780" y="1040765"/>
                  </a:lnTo>
                  <a:lnTo>
                    <a:pt x="1035177" y="1039368"/>
                  </a:lnTo>
                  <a:lnTo>
                    <a:pt x="1037971" y="1039368"/>
                  </a:lnTo>
                  <a:lnTo>
                    <a:pt x="1039368" y="1037971"/>
                  </a:lnTo>
                  <a:lnTo>
                    <a:pt x="1039368" y="1036574"/>
                  </a:lnTo>
                  <a:lnTo>
                    <a:pt x="1040765" y="1035177"/>
                  </a:lnTo>
                  <a:lnTo>
                    <a:pt x="1040765" y="10323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591550" y="2377439"/>
            <a:ext cx="740410" cy="1047750"/>
            <a:chOff x="8591550" y="2377439"/>
            <a:chExt cx="740410" cy="1047750"/>
          </a:xfrm>
        </p:grpSpPr>
        <p:sp>
          <p:nvSpPr>
            <p:cNvPr id="11" name="object 11"/>
            <p:cNvSpPr/>
            <p:nvPr/>
          </p:nvSpPr>
          <p:spPr>
            <a:xfrm>
              <a:off x="8591550" y="2377439"/>
              <a:ext cx="740410" cy="1047750"/>
            </a:xfrm>
            <a:custGeom>
              <a:avLst/>
              <a:gdLst/>
              <a:ahLst/>
              <a:cxnLst/>
              <a:rect l="l" t="t" r="r" b="b"/>
              <a:pathLst>
                <a:path w="740409" h="1047750">
                  <a:moveTo>
                    <a:pt x="740410" y="4191"/>
                  </a:moveTo>
                  <a:lnTo>
                    <a:pt x="739013" y="4191"/>
                  </a:lnTo>
                  <a:lnTo>
                    <a:pt x="739013" y="2794"/>
                  </a:lnTo>
                  <a:lnTo>
                    <a:pt x="737616" y="1397"/>
                  </a:lnTo>
                  <a:lnTo>
                    <a:pt x="736219" y="1397"/>
                  </a:lnTo>
                  <a:lnTo>
                    <a:pt x="734822" y="0"/>
                  </a:lnTo>
                  <a:lnTo>
                    <a:pt x="726440" y="0"/>
                  </a:lnTo>
                  <a:lnTo>
                    <a:pt x="726440" y="13970"/>
                  </a:lnTo>
                  <a:lnTo>
                    <a:pt x="726440" y="1033780"/>
                  </a:lnTo>
                  <a:lnTo>
                    <a:pt x="370205" y="1033780"/>
                  </a:lnTo>
                  <a:lnTo>
                    <a:pt x="13970" y="1033780"/>
                  </a:lnTo>
                  <a:lnTo>
                    <a:pt x="13970" y="13970"/>
                  </a:lnTo>
                  <a:lnTo>
                    <a:pt x="726440" y="13970"/>
                  </a:lnTo>
                  <a:lnTo>
                    <a:pt x="726440" y="0"/>
                  </a:lnTo>
                  <a:lnTo>
                    <a:pt x="6985" y="0"/>
                  </a:lnTo>
                  <a:lnTo>
                    <a:pt x="6985" y="6985"/>
                  </a:lnTo>
                  <a:lnTo>
                    <a:pt x="6350" y="6985"/>
                  </a:lnTo>
                  <a:lnTo>
                    <a:pt x="6350" y="0"/>
                  </a:lnTo>
                  <a:lnTo>
                    <a:pt x="3810" y="0"/>
                  </a:lnTo>
                  <a:lnTo>
                    <a:pt x="3810" y="1397"/>
                  </a:lnTo>
                  <a:lnTo>
                    <a:pt x="1270" y="1397"/>
                  </a:lnTo>
                  <a:lnTo>
                    <a:pt x="1270" y="3556"/>
                  </a:lnTo>
                  <a:lnTo>
                    <a:pt x="0" y="3556"/>
                  </a:lnTo>
                  <a:lnTo>
                    <a:pt x="0" y="1040765"/>
                  </a:lnTo>
                  <a:lnTo>
                    <a:pt x="0" y="1043559"/>
                  </a:lnTo>
                  <a:lnTo>
                    <a:pt x="2794" y="1046353"/>
                  </a:lnTo>
                  <a:lnTo>
                    <a:pt x="4191" y="1046353"/>
                  </a:lnTo>
                  <a:lnTo>
                    <a:pt x="5588" y="1047750"/>
                  </a:lnTo>
                  <a:lnTo>
                    <a:pt x="370205" y="1047750"/>
                  </a:lnTo>
                  <a:lnTo>
                    <a:pt x="733425" y="1047750"/>
                  </a:lnTo>
                  <a:lnTo>
                    <a:pt x="734822" y="1046353"/>
                  </a:lnTo>
                  <a:lnTo>
                    <a:pt x="737616" y="1046353"/>
                  </a:lnTo>
                  <a:lnTo>
                    <a:pt x="737616" y="1044956"/>
                  </a:lnTo>
                  <a:lnTo>
                    <a:pt x="739013" y="1044956"/>
                  </a:lnTo>
                  <a:lnTo>
                    <a:pt x="739013" y="1043559"/>
                  </a:lnTo>
                  <a:lnTo>
                    <a:pt x="740410" y="1042162"/>
                  </a:lnTo>
                  <a:lnTo>
                    <a:pt x="740410" y="6985"/>
                  </a:lnTo>
                  <a:lnTo>
                    <a:pt x="740410" y="4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19490" y="2377439"/>
              <a:ext cx="684530" cy="1047750"/>
            </a:xfrm>
            <a:custGeom>
              <a:avLst/>
              <a:gdLst/>
              <a:ahLst/>
              <a:cxnLst/>
              <a:rect l="l" t="t" r="r" b="b"/>
              <a:pathLst>
                <a:path w="684529" h="1047750">
                  <a:moveTo>
                    <a:pt x="0" y="1047750"/>
                  </a:moveTo>
                  <a:lnTo>
                    <a:pt x="0" y="0"/>
                  </a:lnTo>
                </a:path>
                <a:path w="684529" h="1047750">
                  <a:moveTo>
                    <a:pt x="684530" y="1047750"/>
                  </a:moveTo>
                  <a:lnTo>
                    <a:pt x="684529" y="0"/>
                  </a:lnTo>
                </a:path>
                <a:path w="684529" h="1047750">
                  <a:moveTo>
                    <a:pt x="27939" y="48894"/>
                  </a:moveTo>
                  <a:lnTo>
                    <a:pt x="642619" y="48894"/>
                  </a:lnTo>
                </a:path>
                <a:path w="684529" h="1047750">
                  <a:moveTo>
                    <a:pt x="27939" y="125730"/>
                  </a:moveTo>
                  <a:lnTo>
                    <a:pt x="447039" y="125730"/>
                  </a:lnTo>
                </a:path>
                <a:path w="684529" h="1047750">
                  <a:moveTo>
                    <a:pt x="27939" y="209550"/>
                  </a:moveTo>
                  <a:lnTo>
                    <a:pt x="530859" y="209550"/>
                  </a:lnTo>
                </a:path>
                <a:path w="684529" h="1047750">
                  <a:moveTo>
                    <a:pt x="27939" y="293370"/>
                  </a:moveTo>
                  <a:lnTo>
                    <a:pt x="279399" y="293370"/>
                  </a:lnTo>
                </a:path>
                <a:path w="684529" h="1047750">
                  <a:moveTo>
                    <a:pt x="27939" y="377190"/>
                  </a:moveTo>
                  <a:lnTo>
                    <a:pt x="363220" y="377190"/>
                  </a:lnTo>
                </a:path>
                <a:path w="684529" h="1047750">
                  <a:moveTo>
                    <a:pt x="27939" y="461009"/>
                  </a:moveTo>
                  <a:lnTo>
                    <a:pt x="111759" y="461009"/>
                  </a:lnTo>
                </a:path>
                <a:path w="684529" h="1047750">
                  <a:moveTo>
                    <a:pt x="27939" y="544830"/>
                  </a:moveTo>
                  <a:lnTo>
                    <a:pt x="447040" y="544830"/>
                  </a:lnTo>
                </a:path>
                <a:path w="684529" h="1047750">
                  <a:moveTo>
                    <a:pt x="27939" y="628650"/>
                  </a:moveTo>
                  <a:lnTo>
                    <a:pt x="195579" y="628650"/>
                  </a:lnTo>
                </a:path>
                <a:path w="684529" h="1047750">
                  <a:moveTo>
                    <a:pt x="27939" y="712470"/>
                  </a:moveTo>
                  <a:lnTo>
                    <a:pt x="530860" y="712469"/>
                  </a:lnTo>
                </a:path>
                <a:path w="684529" h="1047750">
                  <a:moveTo>
                    <a:pt x="27939" y="796290"/>
                  </a:moveTo>
                  <a:lnTo>
                    <a:pt x="279400" y="796290"/>
                  </a:lnTo>
                </a:path>
                <a:path w="684529" h="1047750">
                  <a:moveTo>
                    <a:pt x="27939" y="880110"/>
                  </a:moveTo>
                  <a:lnTo>
                    <a:pt x="363220" y="880110"/>
                  </a:lnTo>
                </a:path>
                <a:path w="684529" h="1047750">
                  <a:moveTo>
                    <a:pt x="27939" y="963930"/>
                  </a:moveTo>
                  <a:lnTo>
                    <a:pt x="447040" y="963930"/>
                  </a:lnTo>
                </a:path>
              </a:pathLst>
            </a:custGeom>
            <a:ln w="1397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4610100" y="2740659"/>
            <a:ext cx="824230" cy="419100"/>
          </a:xfrm>
          <a:custGeom>
            <a:avLst/>
            <a:gdLst/>
            <a:ahLst/>
            <a:cxnLst/>
            <a:rect l="l" t="t" r="r" b="b"/>
            <a:pathLst>
              <a:path w="824229" h="419100">
                <a:moveTo>
                  <a:pt x="824230" y="208153"/>
                </a:moveTo>
                <a:lnTo>
                  <a:pt x="822833" y="206756"/>
                </a:lnTo>
                <a:lnTo>
                  <a:pt x="822833" y="205359"/>
                </a:lnTo>
                <a:lnTo>
                  <a:pt x="820039" y="202565"/>
                </a:lnTo>
                <a:lnTo>
                  <a:pt x="801878" y="193548"/>
                </a:lnTo>
                <a:lnTo>
                  <a:pt x="801878" y="208851"/>
                </a:lnTo>
                <a:lnTo>
                  <a:pt x="419100" y="400240"/>
                </a:lnTo>
                <a:lnTo>
                  <a:pt x="419100" y="310134"/>
                </a:lnTo>
                <a:lnTo>
                  <a:pt x="417703" y="308737"/>
                </a:lnTo>
                <a:lnTo>
                  <a:pt x="417703" y="305943"/>
                </a:lnTo>
                <a:lnTo>
                  <a:pt x="416306" y="305943"/>
                </a:lnTo>
                <a:lnTo>
                  <a:pt x="416306" y="304546"/>
                </a:lnTo>
                <a:lnTo>
                  <a:pt x="413512" y="304546"/>
                </a:lnTo>
                <a:lnTo>
                  <a:pt x="412115" y="303149"/>
                </a:lnTo>
                <a:lnTo>
                  <a:pt x="13970" y="303149"/>
                </a:lnTo>
                <a:lnTo>
                  <a:pt x="13970" y="114554"/>
                </a:lnTo>
                <a:lnTo>
                  <a:pt x="412115" y="114554"/>
                </a:lnTo>
                <a:lnTo>
                  <a:pt x="415925" y="114554"/>
                </a:lnTo>
                <a:lnTo>
                  <a:pt x="415925" y="112903"/>
                </a:lnTo>
                <a:lnTo>
                  <a:pt x="417195" y="112903"/>
                </a:lnTo>
                <a:lnTo>
                  <a:pt x="417195" y="110236"/>
                </a:lnTo>
                <a:lnTo>
                  <a:pt x="418465" y="110236"/>
                </a:lnTo>
                <a:lnTo>
                  <a:pt x="418465" y="108966"/>
                </a:lnTo>
                <a:lnTo>
                  <a:pt x="419100" y="108966"/>
                </a:lnTo>
                <a:lnTo>
                  <a:pt x="419100" y="17462"/>
                </a:lnTo>
                <a:lnTo>
                  <a:pt x="801878" y="208851"/>
                </a:lnTo>
                <a:lnTo>
                  <a:pt x="801878" y="193548"/>
                </a:lnTo>
                <a:lnTo>
                  <a:pt x="414909" y="1397"/>
                </a:lnTo>
                <a:lnTo>
                  <a:pt x="412115" y="0"/>
                </a:lnTo>
                <a:lnTo>
                  <a:pt x="409321" y="0"/>
                </a:lnTo>
                <a:lnTo>
                  <a:pt x="407924" y="1397"/>
                </a:lnTo>
                <a:lnTo>
                  <a:pt x="406527" y="1397"/>
                </a:lnTo>
                <a:lnTo>
                  <a:pt x="406527" y="2794"/>
                </a:lnTo>
                <a:lnTo>
                  <a:pt x="405130" y="2794"/>
                </a:lnTo>
                <a:lnTo>
                  <a:pt x="405130" y="101981"/>
                </a:lnTo>
                <a:lnTo>
                  <a:pt x="6985" y="101981"/>
                </a:lnTo>
                <a:lnTo>
                  <a:pt x="6985" y="108966"/>
                </a:lnTo>
                <a:lnTo>
                  <a:pt x="6350" y="108966"/>
                </a:lnTo>
                <a:lnTo>
                  <a:pt x="6350" y="101981"/>
                </a:lnTo>
                <a:lnTo>
                  <a:pt x="2540" y="101981"/>
                </a:lnTo>
                <a:lnTo>
                  <a:pt x="2540" y="103505"/>
                </a:lnTo>
                <a:lnTo>
                  <a:pt x="0" y="103505"/>
                </a:lnTo>
                <a:lnTo>
                  <a:pt x="0" y="310134"/>
                </a:lnTo>
                <a:lnTo>
                  <a:pt x="0" y="312928"/>
                </a:lnTo>
                <a:lnTo>
                  <a:pt x="1397" y="314325"/>
                </a:lnTo>
                <a:lnTo>
                  <a:pt x="1397" y="315722"/>
                </a:lnTo>
                <a:lnTo>
                  <a:pt x="2794" y="315722"/>
                </a:lnTo>
                <a:lnTo>
                  <a:pt x="4191" y="317119"/>
                </a:lnTo>
                <a:lnTo>
                  <a:pt x="405130" y="317119"/>
                </a:lnTo>
                <a:lnTo>
                  <a:pt x="405130" y="412115"/>
                </a:lnTo>
                <a:lnTo>
                  <a:pt x="405130" y="414909"/>
                </a:lnTo>
                <a:lnTo>
                  <a:pt x="406527" y="416306"/>
                </a:lnTo>
                <a:lnTo>
                  <a:pt x="406527" y="417703"/>
                </a:lnTo>
                <a:lnTo>
                  <a:pt x="407924" y="417703"/>
                </a:lnTo>
                <a:lnTo>
                  <a:pt x="409321" y="419100"/>
                </a:lnTo>
                <a:lnTo>
                  <a:pt x="413512" y="419100"/>
                </a:lnTo>
                <a:lnTo>
                  <a:pt x="414909" y="417703"/>
                </a:lnTo>
                <a:lnTo>
                  <a:pt x="820039" y="215138"/>
                </a:lnTo>
                <a:lnTo>
                  <a:pt x="822833" y="212344"/>
                </a:lnTo>
                <a:lnTo>
                  <a:pt x="822833" y="210947"/>
                </a:lnTo>
                <a:lnTo>
                  <a:pt x="824230" y="209550"/>
                </a:lnTo>
                <a:lnTo>
                  <a:pt x="824230" y="20815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7334250" y="2740659"/>
            <a:ext cx="824230" cy="419100"/>
          </a:xfrm>
          <a:custGeom>
            <a:avLst/>
            <a:gdLst/>
            <a:ahLst/>
            <a:cxnLst/>
            <a:rect l="l" t="t" r="r" b="b"/>
            <a:pathLst>
              <a:path w="824229" h="419100">
                <a:moveTo>
                  <a:pt x="824230" y="206756"/>
                </a:moveTo>
                <a:lnTo>
                  <a:pt x="822833" y="206756"/>
                </a:lnTo>
                <a:lnTo>
                  <a:pt x="822833" y="203962"/>
                </a:lnTo>
                <a:lnTo>
                  <a:pt x="821436" y="203962"/>
                </a:lnTo>
                <a:lnTo>
                  <a:pt x="820039" y="202565"/>
                </a:lnTo>
                <a:lnTo>
                  <a:pt x="801878" y="193548"/>
                </a:lnTo>
                <a:lnTo>
                  <a:pt x="801878" y="208851"/>
                </a:lnTo>
                <a:lnTo>
                  <a:pt x="419100" y="400240"/>
                </a:lnTo>
                <a:lnTo>
                  <a:pt x="419100" y="310134"/>
                </a:lnTo>
                <a:lnTo>
                  <a:pt x="417703" y="308737"/>
                </a:lnTo>
                <a:lnTo>
                  <a:pt x="417703" y="305943"/>
                </a:lnTo>
                <a:lnTo>
                  <a:pt x="416306" y="305943"/>
                </a:lnTo>
                <a:lnTo>
                  <a:pt x="416306" y="304546"/>
                </a:lnTo>
                <a:lnTo>
                  <a:pt x="413512" y="304546"/>
                </a:lnTo>
                <a:lnTo>
                  <a:pt x="412115" y="303149"/>
                </a:lnTo>
                <a:lnTo>
                  <a:pt x="13970" y="303149"/>
                </a:lnTo>
                <a:lnTo>
                  <a:pt x="13970" y="114554"/>
                </a:lnTo>
                <a:lnTo>
                  <a:pt x="412115" y="114554"/>
                </a:lnTo>
                <a:lnTo>
                  <a:pt x="415925" y="114554"/>
                </a:lnTo>
                <a:lnTo>
                  <a:pt x="415925" y="112903"/>
                </a:lnTo>
                <a:lnTo>
                  <a:pt x="417195" y="112903"/>
                </a:lnTo>
                <a:lnTo>
                  <a:pt x="417195" y="110236"/>
                </a:lnTo>
                <a:lnTo>
                  <a:pt x="418465" y="110236"/>
                </a:lnTo>
                <a:lnTo>
                  <a:pt x="418465" y="108966"/>
                </a:lnTo>
                <a:lnTo>
                  <a:pt x="419100" y="108966"/>
                </a:lnTo>
                <a:lnTo>
                  <a:pt x="419100" y="17462"/>
                </a:lnTo>
                <a:lnTo>
                  <a:pt x="801878" y="208851"/>
                </a:lnTo>
                <a:lnTo>
                  <a:pt x="801878" y="193548"/>
                </a:lnTo>
                <a:lnTo>
                  <a:pt x="414909" y="1397"/>
                </a:lnTo>
                <a:lnTo>
                  <a:pt x="412115" y="0"/>
                </a:lnTo>
                <a:lnTo>
                  <a:pt x="409321" y="0"/>
                </a:lnTo>
                <a:lnTo>
                  <a:pt x="407924" y="1397"/>
                </a:lnTo>
                <a:lnTo>
                  <a:pt x="406527" y="1397"/>
                </a:lnTo>
                <a:lnTo>
                  <a:pt x="406527" y="2794"/>
                </a:lnTo>
                <a:lnTo>
                  <a:pt x="405130" y="2794"/>
                </a:lnTo>
                <a:lnTo>
                  <a:pt x="405130" y="101981"/>
                </a:lnTo>
                <a:lnTo>
                  <a:pt x="6985" y="101981"/>
                </a:lnTo>
                <a:lnTo>
                  <a:pt x="6985" y="108966"/>
                </a:lnTo>
                <a:lnTo>
                  <a:pt x="6350" y="108966"/>
                </a:lnTo>
                <a:lnTo>
                  <a:pt x="6350" y="101981"/>
                </a:lnTo>
                <a:lnTo>
                  <a:pt x="2540" y="101981"/>
                </a:lnTo>
                <a:lnTo>
                  <a:pt x="2540" y="103505"/>
                </a:lnTo>
                <a:lnTo>
                  <a:pt x="0" y="103505"/>
                </a:lnTo>
                <a:lnTo>
                  <a:pt x="0" y="310134"/>
                </a:lnTo>
                <a:lnTo>
                  <a:pt x="0" y="312928"/>
                </a:lnTo>
                <a:lnTo>
                  <a:pt x="1397" y="314325"/>
                </a:lnTo>
                <a:lnTo>
                  <a:pt x="1397" y="315722"/>
                </a:lnTo>
                <a:lnTo>
                  <a:pt x="2794" y="315722"/>
                </a:lnTo>
                <a:lnTo>
                  <a:pt x="4191" y="317119"/>
                </a:lnTo>
                <a:lnTo>
                  <a:pt x="405130" y="317119"/>
                </a:lnTo>
                <a:lnTo>
                  <a:pt x="405130" y="412115"/>
                </a:lnTo>
                <a:lnTo>
                  <a:pt x="405130" y="414909"/>
                </a:lnTo>
                <a:lnTo>
                  <a:pt x="406527" y="416306"/>
                </a:lnTo>
                <a:lnTo>
                  <a:pt x="406527" y="417703"/>
                </a:lnTo>
                <a:lnTo>
                  <a:pt x="407924" y="417703"/>
                </a:lnTo>
                <a:lnTo>
                  <a:pt x="409321" y="419100"/>
                </a:lnTo>
                <a:lnTo>
                  <a:pt x="413512" y="419100"/>
                </a:lnTo>
                <a:lnTo>
                  <a:pt x="414909" y="417703"/>
                </a:lnTo>
                <a:lnTo>
                  <a:pt x="820039" y="215138"/>
                </a:lnTo>
                <a:lnTo>
                  <a:pt x="822833" y="213741"/>
                </a:lnTo>
                <a:lnTo>
                  <a:pt x="822833" y="212344"/>
                </a:lnTo>
                <a:lnTo>
                  <a:pt x="824230" y="210947"/>
                </a:lnTo>
                <a:lnTo>
                  <a:pt x="824230" y="2067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99920" y="2754629"/>
            <a:ext cx="824230" cy="419734"/>
          </a:xfrm>
          <a:custGeom>
            <a:avLst/>
            <a:gdLst/>
            <a:ahLst/>
            <a:cxnLst/>
            <a:rect l="l" t="t" r="r" b="b"/>
            <a:pathLst>
              <a:path w="824230" h="419735">
                <a:moveTo>
                  <a:pt x="824230" y="206756"/>
                </a:moveTo>
                <a:lnTo>
                  <a:pt x="822833" y="206756"/>
                </a:lnTo>
                <a:lnTo>
                  <a:pt x="822833" y="203962"/>
                </a:lnTo>
                <a:lnTo>
                  <a:pt x="821436" y="203962"/>
                </a:lnTo>
                <a:lnTo>
                  <a:pt x="820039" y="202565"/>
                </a:lnTo>
                <a:lnTo>
                  <a:pt x="801890" y="193497"/>
                </a:lnTo>
                <a:lnTo>
                  <a:pt x="801890" y="208864"/>
                </a:lnTo>
                <a:lnTo>
                  <a:pt x="419100" y="400265"/>
                </a:lnTo>
                <a:lnTo>
                  <a:pt x="419100" y="310134"/>
                </a:lnTo>
                <a:lnTo>
                  <a:pt x="417703" y="308737"/>
                </a:lnTo>
                <a:lnTo>
                  <a:pt x="417703" y="305943"/>
                </a:lnTo>
                <a:lnTo>
                  <a:pt x="416306" y="305943"/>
                </a:lnTo>
                <a:lnTo>
                  <a:pt x="416306" y="304546"/>
                </a:lnTo>
                <a:lnTo>
                  <a:pt x="413512" y="304546"/>
                </a:lnTo>
                <a:lnTo>
                  <a:pt x="412115" y="303149"/>
                </a:lnTo>
                <a:lnTo>
                  <a:pt x="13970" y="303149"/>
                </a:lnTo>
                <a:lnTo>
                  <a:pt x="13970" y="114554"/>
                </a:lnTo>
                <a:lnTo>
                  <a:pt x="412115" y="114554"/>
                </a:lnTo>
                <a:lnTo>
                  <a:pt x="414655" y="114554"/>
                </a:lnTo>
                <a:lnTo>
                  <a:pt x="414655" y="113538"/>
                </a:lnTo>
                <a:lnTo>
                  <a:pt x="417195" y="113538"/>
                </a:lnTo>
                <a:lnTo>
                  <a:pt x="417195" y="110236"/>
                </a:lnTo>
                <a:lnTo>
                  <a:pt x="418465" y="110236"/>
                </a:lnTo>
                <a:lnTo>
                  <a:pt x="418465" y="108966"/>
                </a:lnTo>
                <a:lnTo>
                  <a:pt x="419100" y="108966"/>
                </a:lnTo>
                <a:lnTo>
                  <a:pt x="419100" y="17462"/>
                </a:lnTo>
                <a:lnTo>
                  <a:pt x="801890" y="208864"/>
                </a:lnTo>
                <a:lnTo>
                  <a:pt x="801890" y="193497"/>
                </a:lnTo>
                <a:lnTo>
                  <a:pt x="414909" y="0"/>
                </a:lnTo>
                <a:lnTo>
                  <a:pt x="409321" y="0"/>
                </a:lnTo>
                <a:lnTo>
                  <a:pt x="407924" y="1397"/>
                </a:lnTo>
                <a:lnTo>
                  <a:pt x="406527" y="1397"/>
                </a:lnTo>
                <a:lnTo>
                  <a:pt x="406527" y="2794"/>
                </a:lnTo>
                <a:lnTo>
                  <a:pt x="405130" y="2794"/>
                </a:lnTo>
                <a:lnTo>
                  <a:pt x="405130" y="100584"/>
                </a:lnTo>
                <a:lnTo>
                  <a:pt x="6985" y="100584"/>
                </a:lnTo>
                <a:lnTo>
                  <a:pt x="4191" y="101981"/>
                </a:lnTo>
                <a:lnTo>
                  <a:pt x="2794" y="101981"/>
                </a:lnTo>
                <a:lnTo>
                  <a:pt x="0" y="104775"/>
                </a:lnTo>
                <a:lnTo>
                  <a:pt x="0" y="310134"/>
                </a:lnTo>
                <a:lnTo>
                  <a:pt x="0" y="312928"/>
                </a:lnTo>
                <a:lnTo>
                  <a:pt x="1397" y="314325"/>
                </a:lnTo>
                <a:lnTo>
                  <a:pt x="1397" y="315722"/>
                </a:lnTo>
                <a:lnTo>
                  <a:pt x="2794" y="315722"/>
                </a:lnTo>
                <a:lnTo>
                  <a:pt x="4191" y="317119"/>
                </a:lnTo>
                <a:lnTo>
                  <a:pt x="405130" y="317119"/>
                </a:lnTo>
                <a:lnTo>
                  <a:pt x="405130" y="412115"/>
                </a:lnTo>
                <a:lnTo>
                  <a:pt x="412102" y="412115"/>
                </a:lnTo>
                <a:lnTo>
                  <a:pt x="405130" y="412127"/>
                </a:lnTo>
                <a:lnTo>
                  <a:pt x="405130" y="414921"/>
                </a:lnTo>
                <a:lnTo>
                  <a:pt x="406527" y="416318"/>
                </a:lnTo>
                <a:lnTo>
                  <a:pt x="406527" y="417715"/>
                </a:lnTo>
                <a:lnTo>
                  <a:pt x="409321" y="417715"/>
                </a:lnTo>
                <a:lnTo>
                  <a:pt x="410718" y="419112"/>
                </a:lnTo>
                <a:lnTo>
                  <a:pt x="412115" y="419112"/>
                </a:lnTo>
                <a:lnTo>
                  <a:pt x="413512" y="417715"/>
                </a:lnTo>
                <a:lnTo>
                  <a:pt x="414909" y="417715"/>
                </a:lnTo>
                <a:lnTo>
                  <a:pt x="820039" y="215150"/>
                </a:lnTo>
                <a:lnTo>
                  <a:pt x="817245" y="209562"/>
                </a:lnTo>
                <a:lnTo>
                  <a:pt x="820039" y="215138"/>
                </a:lnTo>
                <a:lnTo>
                  <a:pt x="822833" y="213741"/>
                </a:lnTo>
                <a:lnTo>
                  <a:pt x="822833" y="212344"/>
                </a:lnTo>
                <a:lnTo>
                  <a:pt x="824230" y="210947"/>
                </a:lnTo>
                <a:lnTo>
                  <a:pt x="824230" y="2067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05815" y="3598289"/>
            <a:ext cx="141033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55" dirty="0">
                <a:latin typeface="Times New Roman"/>
                <a:cs typeface="Times New Roman"/>
              </a:rPr>
              <a:t>P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15" dirty="0">
                <a:latin typeface="Times New Roman"/>
                <a:cs typeface="Times New Roman"/>
              </a:rPr>
              <a:t>o</a:t>
            </a:r>
            <a:r>
              <a:rPr sz="2600" b="1" spc="35" dirty="0">
                <a:latin typeface="Times New Roman"/>
                <a:cs typeface="Times New Roman"/>
              </a:rPr>
              <a:t>b</a:t>
            </a:r>
            <a:r>
              <a:rPr sz="2600" b="1" spc="10" dirty="0">
                <a:latin typeface="Times New Roman"/>
                <a:cs typeface="Times New Roman"/>
              </a:rPr>
              <a:t>l</a:t>
            </a:r>
            <a:r>
              <a:rPr sz="2600" b="1" spc="-5" dirty="0">
                <a:latin typeface="Times New Roman"/>
                <a:cs typeface="Times New Roman"/>
              </a:rPr>
              <a:t>è</a:t>
            </a:r>
            <a:r>
              <a:rPr sz="2600" b="1" spc="60" dirty="0">
                <a:latin typeface="Times New Roman"/>
                <a:cs typeface="Times New Roman"/>
              </a:rPr>
              <a:t>m</a:t>
            </a:r>
            <a:r>
              <a:rPr sz="2600" b="1" spc="15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42821" y="3598289"/>
            <a:ext cx="108521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dirty="0">
                <a:latin typeface="Times New Roman"/>
                <a:cs typeface="Times New Roman"/>
              </a:rPr>
              <a:t>E</a:t>
            </a:r>
            <a:r>
              <a:rPr sz="2600" b="1" spc="25" dirty="0">
                <a:latin typeface="Times New Roman"/>
                <a:cs typeface="Times New Roman"/>
              </a:rPr>
              <a:t>n</a:t>
            </a:r>
            <a:r>
              <a:rPr sz="2600" b="1" spc="15" dirty="0">
                <a:latin typeface="Times New Roman"/>
                <a:cs typeface="Times New Roman"/>
              </a:rPr>
              <a:t>o</a:t>
            </a:r>
            <a:r>
              <a:rPr sz="2600" b="1" spc="35" dirty="0">
                <a:latin typeface="Times New Roman"/>
                <a:cs typeface="Times New Roman"/>
              </a:rPr>
              <a:t>n</a:t>
            </a:r>
            <a:r>
              <a:rPr sz="2600" b="1" spc="-5" dirty="0">
                <a:latin typeface="Times New Roman"/>
                <a:cs typeface="Times New Roman"/>
              </a:rPr>
              <a:t>c</a:t>
            </a:r>
            <a:r>
              <a:rPr sz="2600" b="1" spc="15" dirty="0">
                <a:latin typeface="Times New Roman"/>
                <a:cs typeface="Times New Roman"/>
              </a:rPr>
              <a:t>é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38463" y="3598289"/>
            <a:ext cx="167386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0" dirty="0">
                <a:latin typeface="Times New Roman"/>
                <a:cs typeface="Times New Roman"/>
              </a:rPr>
              <a:t>Algo</a:t>
            </a:r>
            <a:r>
              <a:rPr sz="2600" b="1" spc="-5" dirty="0">
                <a:latin typeface="Times New Roman"/>
                <a:cs typeface="Times New Roman"/>
              </a:rPr>
              <a:t>r</a:t>
            </a:r>
            <a:r>
              <a:rPr sz="2600" b="1" spc="20" dirty="0">
                <a:latin typeface="Times New Roman"/>
                <a:cs typeface="Times New Roman"/>
              </a:rPr>
              <a:t>i</a:t>
            </a:r>
            <a:r>
              <a:rPr sz="2600" b="1" spc="30" dirty="0">
                <a:latin typeface="Times New Roman"/>
                <a:cs typeface="Times New Roman"/>
              </a:rPr>
              <a:t>t</a:t>
            </a:r>
            <a:r>
              <a:rPr sz="2600" b="1" spc="35" dirty="0">
                <a:latin typeface="Times New Roman"/>
                <a:cs typeface="Times New Roman"/>
              </a:rPr>
              <a:t>h</a:t>
            </a:r>
            <a:r>
              <a:rPr sz="2600" b="1" spc="60" dirty="0">
                <a:latin typeface="Times New Roman"/>
                <a:cs typeface="Times New Roman"/>
              </a:rPr>
              <a:t>m</a:t>
            </a:r>
            <a:r>
              <a:rPr sz="2600" b="1" spc="15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00673" y="3598289"/>
            <a:ext cx="174625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5" dirty="0">
                <a:latin typeface="Times New Roman"/>
                <a:cs typeface="Times New Roman"/>
              </a:rPr>
              <a:t>Programme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44600" y="2173349"/>
            <a:ext cx="1888489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35" dirty="0">
                <a:latin typeface="Times New Roman"/>
                <a:cs typeface="Times New Roman"/>
              </a:rPr>
              <a:t>Sp</a:t>
            </a:r>
            <a:r>
              <a:rPr sz="2600" b="1" spc="-5" dirty="0">
                <a:latin typeface="Times New Roman"/>
                <a:cs typeface="Times New Roman"/>
              </a:rPr>
              <a:t>éc</a:t>
            </a:r>
            <a:r>
              <a:rPr sz="2600" b="1" spc="10" dirty="0">
                <a:latin typeface="Times New Roman"/>
                <a:cs typeface="Times New Roman"/>
              </a:rPr>
              <a:t>i</a:t>
            </a:r>
            <a:r>
              <a:rPr sz="2600" b="1" spc="130" dirty="0">
                <a:latin typeface="Times New Roman"/>
                <a:cs typeface="Times New Roman"/>
              </a:rPr>
              <a:t>f</a:t>
            </a:r>
            <a:r>
              <a:rPr sz="2600" b="1" spc="10" dirty="0">
                <a:latin typeface="Times New Roman"/>
                <a:cs typeface="Times New Roman"/>
              </a:rPr>
              <a:t>i</a:t>
            </a:r>
            <a:r>
              <a:rPr sz="2600" b="1" spc="-5" dirty="0">
                <a:latin typeface="Times New Roman"/>
                <a:cs typeface="Times New Roman"/>
              </a:rPr>
              <a:t>c</a:t>
            </a:r>
            <a:r>
              <a:rPr sz="2600" b="1" spc="15" dirty="0">
                <a:latin typeface="Times New Roman"/>
                <a:cs typeface="Times New Roman"/>
              </a:rPr>
              <a:t>a</a:t>
            </a:r>
            <a:r>
              <a:rPr sz="2600" b="1" spc="40" dirty="0">
                <a:latin typeface="Times New Roman"/>
                <a:cs typeface="Times New Roman"/>
              </a:rPr>
              <a:t>t</a:t>
            </a:r>
            <a:r>
              <a:rPr sz="2600" b="1" spc="10" dirty="0">
                <a:latin typeface="Times New Roman"/>
                <a:cs typeface="Times New Roman"/>
              </a:rPr>
              <a:t>i</a:t>
            </a:r>
            <a:r>
              <a:rPr sz="2600" b="1" spc="15" dirty="0">
                <a:latin typeface="Times New Roman"/>
                <a:cs typeface="Times New Roman"/>
              </a:rPr>
              <a:t>o</a:t>
            </a:r>
            <a:r>
              <a:rPr sz="2600" b="1" spc="20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429592" y="2173349"/>
            <a:ext cx="155257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0" dirty="0">
                <a:latin typeface="Times New Roman"/>
                <a:cs typeface="Times New Roman"/>
              </a:rPr>
              <a:t>R</a:t>
            </a:r>
            <a:r>
              <a:rPr sz="2600" b="1" spc="-15" dirty="0">
                <a:latin typeface="Times New Roman"/>
                <a:cs typeface="Times New Roman"/>
              </a:rPr>
              <a:t>é</a:t>
            </a:r>
            <a:r>
              <a:rPr sz="2600" b="1" spc="-25" dirty="0">
                <a:latin typeface="Times New Roman"/>
                <a:cs typeface="Times New Roman"/>
              </a:rPr>
              <a:t>s</a:t>
            </a:r>
            <a:r>
              <a:rPr sz="2600" b="1" spc="15" dirty="0">
                <a:latin typeface="Times New Roman"/>
                <a:cs typeface="Times New Roman"/>
              </a:rPr>
              <a:t>o</a:t>
            </a:r>
            <a:r>
              <a:rPr sz="2600" b="1" spc="20" dirty="0">
                <a:latin typeface="Times New Roman"/>
                <a:cs typeface="Times New Roman"/>
              </a:rPr>
              <a:t>l</a:t>
            </a:r>
            <a:r>
              <a:rPr sz="2600" b="1" spc="35" dirty="0">
                <a:latin typeface="Times New Roman"/>
                <a:cs typeface="Times New Roman"/>
              </a:rPr>
              <a:t>u</a:t>
            </a:r>
            <a:r>
              <a:rPr sz="2600" b="1" spc="30" dirty="0">
                <a:latin typeface="Times New Roman"/>
                <a:cs typeface="Times New Roman"/>
              </a:rPr>
              <a:t>t</a:t>
            </a:r>
            <a:r>
              <a:rPr sz="2600" b="1" spc="20" dirty="0">
                <a:latin typeface="Times New Roman"/>
                <a:cs typeface="Times New Roman"/>
              </a:rPr>
              <a:t>i</a:t>
            </a:r>
            <a:r>
              <a:rPr sz="2600" b="1" spc="15" dirty="0">
                <a:latin typeface="Times New Roman"/>
                <a:cs typeface="Times New Roman"/>
              </a:rPr>
              <a:t>o</a:t>
            </a:r>
            <a:r>
              <a:rPr sz="2600" b="1" spc="20" dirty="0">
                <a:latin typeface="Times New Roman"/>
                <a:cs typeface="Times New Roman"/>
              </a:rPr>
              <a:t>n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111162" y="2173349"/>
            <a:ext cx="110744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b="1" spc="20" dirty="0">
                <a:latin typeface="Times New Roman"/>
                <a:cs typeface="Times New Roman"/>
              </a:rPr>
              <a:t>C</a:t>
            </a:r>
            <a:r>
              <a:rPr sz="2600" b="1" spc="15" dirty="0">
                <a:latin typeface="Times New Roman"/>
                <a:cs typeface="Times New Roman"/>
              </a:rPr>
              <a:t>o</a:t>
            </a:r>
            <a:r>
              <a:rPr sz="2600" b="1" spc="35" dirty="0">
                <a:latin typeface="Times New Roman"/>
                <a:cs typeface="Times New Roman"/>
              </a:rPr>
              <a:t>d</a:t>
            </a:r>
            <a:r>
              <a:rPr sz="2600" b="1" spc="5" dirty="0">
                <a:latin typeface="Times New Roman"/>
                <a:cs typeface="Times New Roman"/>
              </a:rPr>
              <a:t>a</a:t>
            </a:r>
            <a:r>
              <a:rPr sz="2600" b="1" spc="30" dirty="0">
                <a:latin typeface="Times New Roman"/>
                <a:cs typeface="Times New Roman"/>
              </a:rPr>
              <a:t>g</a:t>
            </a:r>
            <a:r>
              <a:rPr sz="2600" b="1" spc="15" dirty="0"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47040" y="2426335"/>
            <a:ext cx="1012825" cy="1019810"/>
            <a:chOff x="447040" y="2426335"/>
            <a:chExt cx="1012825" cy="1019810"/>
          </a:xfrm>
        </p:grpSpPr>
        <p:sp>
          <p:nvSpPr>
            <p:cNvPr id="24" name="object 24"/>
            <p:cNvSpPr/>
            <p:nvPr/>
          </p:nvSpPr>
          <p:spPr>
            <a:xfrm>
              <a:off x="454025" y="2433320"/>
              <a:ext cx="998855" cy="1005840"/>
            </a:xfrm>
            <a:custGeom>
              <a:avLst/>
              <a:gdLst/>
              <a:ahLst/>
              <a:cxnLst/>
              <a:rect l="l" t="t" r="r" b="b"/>
              <a:pathLst>
                <a:path w="998855" h="1005839">
                  <a:moveTo>
                    <a:pt x="998855" y="502920"/>
                  </a:moveTo>
                  <a:lnTo>
                    <a:pt x="880110" y="424688"/>
                  </a:lnTo>
                  <a:lnTo>
                    <a:pt x="958342" y="310134"/>
                  </a:lnTo>
                  <a:lnTo>
                    <a:pt x="822833" y="284988"/>
                  </a:lnTo>
                  <a:lnTo>
                    <a:pt x="850773" y="146685"/>
                  </a:lnTo>
                  <a:lnTo>
                    <a:pt x="713867" y="176022"/>
                  </a:lnTo>
                  <a:lnTo>
                    <a:pt x="688721" y="37719"/>
                  </a:lnTo>
                  <a:lnTo>
                    <a:pt x="574167" y="117348"/>
                  </a:lnTo>
                  <a:lnTo>
                    <a:pt x="497332" y="0"/>
                  </a:lnTo>
                  <a:lnTo>
                    <a:pt x="423291" y="117348"/>
                  </a:lnTo>
                  <a:lnTo>
                    <a:pt x="308737" y="37719"/>
                  </a:lnTo>
                  <a:lnTo>
                    <a:pt x="283591" y="176022"/>
                  </a:lnTo>
                  <a:lnTo>
                    <a:pt x="145288" y="146685"/>
                  </a:lnTo>
                  <a:lnTo>
                    <a:pt x="174625" y="284988"/>
                  </a:lnTo>
                  <a:lnTo>
                    <a:pt x="37718" y="310134"/>
                  </a:lnTo>
                  <a:lnTo>
                    <a:pt x="117348" y="424688"/>
                  </a:lnTo>
                  <a:lnTo>
                    <a:pt x="0" y="502920"/>
                  </a:lnTo>
                  <a:lnTo>
                    <a:pt x="117348" y="578358"/>
                  </a:lnTo>
                  <a:lnTo>
                    <a:pt x="37718" y="692912"/>
                  </a:lnTo>
                  <a:lnTo>
                    <a:pt x="174625" y="719455"/>
                  </a:lnTo>
                  <a:lnTo>
                    <a:pt x="145288" y="856361"/>
                  </a:lnTo>
                  <a:lnTo>
                    <a:pt x="283591" y="827024"/>
                  </a:lnTo>
                  <a:lnTo>
                    <a:pt x="308737" y="965327"/>
                  </a:lnTo>
                  <a:lnTo>
                    <a:pt x="423291" y="885698"/>
                  </a:lnTo>
                  <a:lnTo>
                    <a:pt x="500126" y="1005840"/>
                  </a:lnTo>
                  <a:lnTo>
                    <a:pt x="574167" y="885698"/>
                  </a:lnTo>
                  <a:lnTo>
                    <a:pt x="688721" y="965327"/>
                  </a:lnTo>
                  <a:lnTo>
                    <a:pt x="713867" y="827024"/>
                  </a:lnTo>
                  <a:lnTo>
                    <a:pt x="850773" y="856361"/>
                  </a:lnTo>
                  <a:lnTo>
                    <a:pt x="822833" y="719455"/>
                  </a:lnTo>
                  <a:lnTo>
                    <a:pt x="958342" y="692912"/>
                  </a:lnTo>
                  <a:lnTo>
                    <a:pt x="880110" y="578358"/>
                  </a:lnTo>
                  <a:lnTo>
                    <a:pt x="998855" y="502920"/>
                  </a:lnTo>
                  <a:close/>
                </a:path>
              </a:pathLst>
            </a:custGeom>
            <a:solidFill>
              <a:srgbClr val="4747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7040" y="2426334"/>
              <a:ext cx="1012825" cy="1019810"/>
            </a:xfrm>
            <a:custGeom>
              <a:avLst/>
              <a:gdLst/>
              <a:ahLst/>
              <a:cxnLst/>
              <a:rect l="l" t="t" r="r" b="b"/>
              <a:pathLst>
                <a:path w="1012825" h="1019810">
                  <a:moveTo>
                    <a:pt x="1012825" y="507111"/>
                  </a:moveTo>
                  <a:lnTo>
                    <a:pt x="1010031" y="504317"/>
                  </a:lnTo>
                  <a:lnTo>
                    <a:pt x="1010031" y="502920"/>
                  </a:lnTo>
                  <a:lnTo>
                    <a:pt x="992009" y="491261"/>
                  </a:lnTo>
                  <a:lnTo>
                    <a:pt x="992009" y="509155"/>
                  </a:lnTo>
                  <a:lnTo>
                    <a:pt x="882904" y="579755"/>
                  </a:lnTo>
                  <a:lnTo>
                    <a:pt x="880110" y="582549"/>
                  </a:lnTo>
                  <a:lnTo>
                    <a:pt x="880110" y="588137"/>
                  </a:lnTo>
                  <a:lnTo>
                    <a:pt x="881507" y="589534"/>
                  </a:lnTo>
                  <a:lnTo>
                    <a:pt x="953477" y="694944"/>
                  </a:lnTo>
                  <a:lnTo>
                    <a:pt x="827024" y="719455"/>
                  </a:lnTo>
                  <a:lnTo>
                    <a:pt x="825627" y="719455"/>
                  </a:lnTo>
                  <a:lnTo>
                    <a:pt x="822833" y="722249"/>
                  </a:lnTo>
                  <a:lnTo>
                    <a:pt x="822833" y="727837"/>
                  </a:lnTo>
                  <a:lnTo>
                    <a:pt x="848588" y="854100"/>
                  </a:lnTo>
                  <a:lnTo>
                    <a:pt x="722249" y="827024"/>
                  </a:lnTo>
                  <a:lnTo>
                    <a:pt x="719455" y="827024"/>
                  </a:lnTo>
                  <a:lnTo>
                    <a:pt x="719455" y="828421"/>
                  </a:lnTo>
                  <a:lnTo>
                    <a:pt x="716661" y="828421"/>
                  </a:lnTo>
                  <a:lnTo>
                    <a:pt x="716661" y="829818"/>
                  </a:lnTo>
                  <a:lnTo>
                    <a:pt x="715264" y="829818"/>
                  </a:lnTo>
                  <a:lnTo>
                    <a:pt x="713867" y="831215"/>
                  </a:lnTo>
                  <a:lnTo>
                    <a:pt x="713867" y="832612"/>
                  </a:lnTo>
                  <a:lnTo>
                    <a:pt x="690638" y="960374"/>
                  </a:lnTo>
                  <a:lnTo>
                    <a:pt x="583946" y="887095"/>
                  </a:lnTo>
                  <a:lnTo>
                    <a:pt x="582549" y="887095"/>
                  </a:lnTo>
                  <a:lnTo>
                    <a:pt x="581152" y="885698"/>
                  </a:lnTo>
                  <a:lnTo>
                    <a:pt x="579755" y="885698"/>
                  </a:lnTo>
                  <a:lnTo>
                    <a:pt x="578358" y="887095"/>
                  </a:lnTo>
                  <a:lnTo>
                    <a:pt x="575564" y="887095"/>
                  </a:lnTo>
                  <a:lnTo>
                    <a:pt x="575564" y="889889"/>
                  </a:lnTo>
                  <a:lnTo>
                    <a:pt x="506349" y="998829"/>
                  </a:lnTo>
                  <a:lnTo>
                    <a:pt x="435864" y="889889"/>
                  </a:lnTo>
                  <a:lnTo>
                    <a:pt x="433070" y="887095"/>
                  </a:lnTo>
                  <a:lnTo>
                    <a:pt x="431673" y="887095"/>
                  </a:lnTo>
                  <a:lnTo>
                    <a:pt x="430276" y="885698"/>
                  </a:lnTo>
                  <a:lnTo>
                    <a:pt x="428879" y="885698"/>
                  </a:lnTo>
                  <a:lnTo>
                    <a:pt x="427482" y="887095"/>
                  </a:lnTo>
                  <a:lnTo>
                    <a:pt x="426085" y="887095"/>
                  </a:lnTo>
                  <a:lnTo>
                    <a:pt x="319620" y="961110"/>
                  </a:lnTo>
                  <a:lnTo>
                    <a:pt x="297561" y="832612"/>
                  </a:lnTo>
                  <a:lnTo>
                    <a:pt x="296164" y="831215"/>
                  </a:lnTo>
                  <a:lnTo>
                    <a:pt x="296164" y="829818"/>
                  </a:lnTo>
                  <a:lnTo>
                    <a:pt x="294767" y="829818"/>
                  </a:lnTo>
                  <a:lnTo>
                    <a:pt x="294767" y="828421"/>
                  </a:lnTo>
                  <a:lnTo>
                    <a:pt x="291973" y="828421"/>
                  </a:lnTo>
                  <a:lnTo>
                    <a:pt x="290576" y="827024"/>
                  </a:lnTo>
                  <a:lnTo>
                    <a:pt x="289179" y="827024"/>
                  </a:lnTo>
                  <a:lnTo>
                    <a:pt x="161531" y="854100"/>
                  </a:lnTo>
                  <a:lnTo>
                    <a:pt x="188595" y="727837"/>
                  </a:lnTo>
                  <a:lnTo>
                    <a:pt x="188595" y="722249"/>
                  </a:lnTo>
                  <a:lnTo>
                    <a:pt x="187198" y="722249"/>
                  </a:lnTo>
                  <a:lnTo>
                    <a:pt x="187198" y="720852"/>
                  </a:lnTo>
                  <a:lnTo>
                    <a:pt x="185801" y="720852"/>
                  </a:lnTo>
                  <a:lnTo>
                    <a:pt x="185801" y="719455"/>
                  </a:lnTo>
                  <a:lnTo>
                    <a:pt x="183007" y="719455"/>
                  </a:lnTo>
                  <a:lnTo>
                    <a:pt x="56629" y="694956"/>
                  </a:lnTo>
                  <a:lnTo>
                    <a:pt x="129921" y="589534"/>
                  </a:lnTo>
                  <a:lnTo>
                    <a:pt x="131318" y="586740"/>
                  </a:lnTo>
                  <a:lnTo>
                    <a:pt x="131318" y="582549"/>
                  </a:lnTo>
                  <a:lnTo>
                    <a:pt x="129921" y="582549"/>
                  </a:lnTo>
                  <a:lnTo>
                    <a:pt x="129921" y="581152"/>
                  </a:lnTo>
                  <a:lnTo>
                    <a:pt x="128524" y="579755"/>
                  </a:lnTo>
                  <a:lnTo>
                    <a:pt x="20688" y="509155"/>
                  </a:lnTo>
                  <a:lnTo>
                    <a:pt x="128524" y="437261"/>
                  </a:lnTo>
                  <a:lnTo>
                    <a:pt x="131318" y="434467"/>
                  </a:lnTo>
                  <a:lnTo>
                    <a:pt x="131318" y="430276"/>
                  </a:lnTo>
                  <a:lnTo>
                    <a:pt x="129921" y="428879"/>
                  </a:lnTo>
                  <a:lnTo>
                    <a:pt x="56642" y="322186"/>
                  </a:lnTo>
                  <a:lnTo>
                    <a:pt x="183007" y="298970"/>
                  </a:lnTo>
                  <a:lnTo>
                    <a:pt x="181597" y="291985"/>
                  </a:lnTo>
                  <a:lnTo>
                    <a:pt x="183007" y="298958"/>
                  </a:lnTo>
                  <a:lnTo>
                    <a:pt x="185801" y="297561"/>
                  </a:lnTo>
                  <a:lnTo>
                    <a:pt x="185801" y="296164"/>
                  </a:lnTo>
                  <a:lnTo>
                    <a:pt x="187198" y="296164"/>
                  </a:lnTo>
                  <a:lnTo>
                    <a:pt x="187198" y="294767"/>
                  </a:lnTo>
                  <a:lnTo>
                    <a:pt x="188595" y="294767"/>
                  </a:lnTo>
                  <a:lnTo>
                    <a:pt x="188595" y="290576"/>
                  </a:lnTo>
                  <a:lnTo>
                    <a:pt x="161505" y="162915"/>
                  </a:lnTo>
                  <a:lnTo>
                    <a:pt x="289179" y="189992"/>
                  </a:lnTo>
                  <a:lnTo>
                    <a:pt x="291973" y="189992"/>
                  </a:lnTo>
                  <a:lnTo>
                    <a:pt x="293370" y="188595"/>
                  </a:lnTo>
                  <a:lnTo>
                    <a:pt x="294767" y="188595"/>
                  </a:lnTo>
                  <a:lnTo>
                    <a:pt x="296164" y="187198"/>
                  </a:lnTo>
                  <a:lnTo>
                    <a:pt x="296164" y="185801"/>
                  </a:lnTo>
                  <a:lnTo>
                    <a:pt x="297561" y="185801"/>
                  </a:lnTo>
                  <a:lnTo>
                    <a:pt x="297561" y="184404"/>
                  </a:lnTo>
                  <a:lnTo>
                    <a:pt x="319620" y="55918"/>
                  </a:lnTo>
                  <a:lnTo>
                    <a:pt x="426085" y="129921"/>
                  </a:lnTo>
                  <a:lnTo>
                    <a:pt x="433070" y="129921"/>
                  </a:lnTo>
                  <a:lnTo>
                    <a:pt x="435864" y="127127"/>
                  </a:lnTo>
                  <a:lnTo>
                    <a:pt x="504418" y="19773"/>
                  </a:lnTo>
                  <a:lnTo>
                    <a:pt x="575564" y="127127"/>
                  </a:lnTo>
                  <a:lnTo>
                    <a:pt x="576961" y="128524"/>
                  </a:lnTo>
                  <a:lnTo>
                    <a:pt x="576961" y="129921"/>
                  </a:lnTo>
                  <a:lnTo>
                    <a:pt x="583946" y="129921"/>
                  </a:lnTo>
                  <a:lnTo>
                    <a:pt x="690638" y="56654"/>
                  </a:lnTo>
                  <a:lnTo>
                    <a:pt x="713867" y="184404"/>
                  </a:lnTo>
                  <a:lnTo>
                    <a:pt x="713867" y="185801"/>
                  </a:lnTo>
                  <a:lnTo>
                    <a:pt x="716661" y="188595"/>
                  </a:lnTo>
                  <a:lnTo>
                    <a:pt x="718058" y="188595"/>
                  </a:lnTo>
                  <a:lnTo>
                    <a:pt x="719455" y="189992"/>
                  </a:lnTo>
                  <a:lnTo>
                    <a:pt x="722249" y="189992"/>
                  </a:lnTo>
                  <a:lnTo>
                    <a:pt x="848614" y="162915"/>
                  </a:lnTo>
                  <a:lnTo>
                    <a:pt x="822833" y="290576"/>
                  </a:lnTo>
                  <a:lnTo>
                    <a:pt x="822833" y="294767"/>
                  </a:lnTo>
                  <a:lnTo>
                    <a:pt x="825627" y="297561"/>
                  </a:lnTo>
                  <a:lnTo>
                    <a:pt x="827024" y="297561"/>
                  </a:lnTo>
                  <a:lnTo>
                    <a:pt x="827024" y="298958"/>
                  </a:lnTo>
                  <a:lnTo>
                    <a:pt x="953490" y="322199"/>
                  </a:lnTo>
                  <a:lnTo>
                    <a:pt x="881507" y="428879"/>
                  </a:lnTo>
                  <a:lnTo>
                    <a:pt x="880110" y="430276"/>
                  </a:lnTo>
                  <a:lnTo>
                    <a:pt x="880110" y="435864"/>
                  </a:lnTo>
                  <a:lnTo>
                    <a:pt x="881507" y="435864"/>
                  </a:lnTo>
                  <a:lnTo>
                    <a:pt x="882904" y="437261"/>
                  </a:lnTo>
                  <a:lnTo>
                    <a:pt x="992009" y="509155"/>
                  </a:lnTo>
                  <a:lnTo>
                    <a:pt x="992009" y="491261"/>
                  </a:lnTo>
                  <a:lnTo>
                    <a:pt x="896848" y="429691"/>
                  </a:lnTo>
                  <a:lnTo>
                    <a:pt x="970915" y="319913"/>
                  </a:lnTo>
                  <a:lnTo>
                    <a:pt x="972312" y="318516"/>
                  </a:lnTo>
                  <a:lnTo>
                    <a:pt x="972312" y="314325"/>
                  </a:lnTo>
                  <a:lnTo>
                    <a:pt x="970915" y="312928"/>
                  </a:lnTo>
                  <a:lnTo>
                    <a:pt x="970915" y="311531"/>
                  </a:lnTo>
                  <a:lnTo>
                    <a:pt x="969518" y="310134"/>
                  </a:lnTo>
                  <a:lnTo>
                    <a:pt x="966724" y="310134"/>
                  </a:lnTo>
                  <a:lnTo>
                    <a:pt x="836904" y="286296"/>
                  </a:lnTo>
                  <a:lnTo>
                    <a:pt x="864743" y="155067"/>
                  </a:lnTo>
                  <a:lnTo>
                    <a:pt x="864743" y="150876"/>
                  </a:lnTo>
                  <a:lnTo>
                    <a:pt x="863346" y="150876"/>
                  </a:lnTo>
                  <a:lnTo>
                    <a:pt x="863346" y="149479"/>
                  </a:lnTo>
                  <a:lnTo>
                    <a:pt x="860552" y="146685"/>
                  </a:lnTo>
                  <a:lnTo>
                    <a:pt x="856361" y="146685"/>
                  </a:lnTo>
                  <a:lnTo>
                    <a:pt x="726541" y="174510"/>
                  </a:lnTo>
                  <a:lnTo>
                    <a:pt x="702691" y="43307"/>
                  </a:lnTo>
                  <a:lnTo>
                    <a:pt x="701294" y="40513"/>
                  </a:lnTo>
                  <a:lnTo>
                    <a:pt x="698500" y="37719"/>
                  </a:lnTo>
                  <a:lnTo>
                    <a:pt x="692912" y="37719"/>
                  </a:lnTo>
                  <a:lnTo>
                    <a:pt x="691515" y="39116"/>
                  </a:lnTo>
                  <a:lnTo>
                    <a:pt x="582447" y="113601"/>
                  </a:lnTo>
                  <a:lnTo>
                    <a:pt x="509905" y="2794"/>
                  </a:lnTo>
                  <a:lnTo>
                    <a:pt x="507111" y="0"/>
                  </a:lnTo>
                  <a:lnTo>
                    <a:pt x="500126" y="0"/>
                  </a:lnTo>
                  <a:lnTo>
                    <a:pt x="500126" y="1397"/>
                  </a:lnTo>
                  <a:lnTo>
                    <a:pt x="498729" y="2794"/>
                  </a:lnTo>
                  <a:lnTo>
                    <a:pt x="427520" y="113563"/>
                  </a:lnTo>
                  <a:lnTo>
                    <a:pt x="318516" y="39116"/>
                  </a:lnTo>
                  <a:lnTo>
                    <a:pt x="317119" y="37719"/>
                  </a:lnTo>
                  <a:lnTo>
                    <a:pt x="312928" y="37719"/>
                  </a:lnTo>
                  <a:lnTo>
                    <a:pt x="311531" y="39116"/>
                  </a:lnTo>
                  <a:lnTo>
                    <a:pt x="310134" y="39116"/>
                  </a:lnTo>
                  <a:lnTo>
                    <a:pt x="310134" y="40513"/>
                  </a:lnTo>
                  <a:lnTo>
                    <a:pt x="308737" y="40513"/>
                  </a:lnTo>
                  <a:lnTo>
                    <a:pt x="308737" y="43307"/>
                  </a:lnTo>
                  <a:lnTo>
                    <a:pt x="284873" y="174523"/>
                  </a:lnTo>
                  <a:lnTo>
                    <a:pt x="153670" y="146685"/>
                  </a:lnTo>
                  <a:lnTo>
                    <a:pt x="149479" y="146685"/>
                  </a:lnTo>
                  <a:lnTo>
                    <a:pt x="146685" y="149479"/>
                  </a:lnTo>
                  <a:lnTo>
                    <a:pt x="146685" y="150876"/>
                  </a:lnTo>
                  <a:lnTo>
                    <a:pt x="145288" y="152273"/>
                  </a:lnTo>
                  <a:lnTo>
                    <a:pt x="145288" y="155067"/>
                  </a:lnTo>
                  <a:lnTo>
                    <a:pt x="173113" y="286308"/>
                  </a:lnTo>
                  <a:lnTo>
                    <a:pt x="43307" y="310146"/>
                  </a:lnTo>
                  <a:lnTo>
                    <a:pt x="41910" y="310146"/>
                  </a:lnTo>
                  <a:lnTo>
                    <a:pt x="39116" y="312940"/>
                  </a:lnTo>
                  <a:lnTo>
                    <a:pt x="39116" y="314337"/>
                  </a:lnTo>
                  <a:lnTo>
                    <a:pt x="37719" y="315734"/>
                  </a:lnTo>
                  <a:lnTo>
                    <a:pt x="37719" y="317131"/>
                  </a:lnTo>
                  <a:lnTo>
                    <a:pt x="39116" y="318528"/>
                  </a:lnTo>
                  <a:lnTo>
                    <a:pt x="39116" y="319913"/>
                  </a:lnTo>
                  <a:lnTo>
                    <a:pt x="114541" y="429755"/>
                  </a:lnTo>
                  <a:lnTo>
                    <a:pt x="2794" y="502920"/>
                  </a:lnTo>
                  <a:lnTo>
                    <a:pt x="1397" y="505714"/>
                  </a:lnTo>
                  <a:lnTo>
                    <a:pt x="0" y="507111"/>
                  </a:lnTo>
                  <a:lnTo>
                    <a:pt x="0" y="511302"/>
                  </a:lnTo>
                  <a:lnTo>
                    <a:pt x="1397" y="512699"/>
                  </a:lnTo>
                  <a:lnTo>
                    <a:pt x="1397" y="514096"/>
                  </a:lnTo>
                  <a:lnTo>
                    <a:pt x="2794" y="514096"/>
                  </a:lnTo>
                  <a:lnTo>
                    <a:pt x="2794" y="515493"/>
                  </a:lnTo>
                  <a:lnTo>
                    <a:pt x="114477" y="587298"/>
                  </a:lnTo>
                  <a:lnTo>
                    <a:pt x="39116" y="695706"/>
                  </a:lnTo>
                  <a:lnTo>
                    <a:pt x="39116" y="698500"/>
                  </a:lnTo>
                  <a:lnTo>
                    <a:pt x="37719" y="699897"/>
                  </a:lnTo>
                  <a:lnTo>
                    <a:pt x="37719" y="701294"/>
                  </a:lnTo>
                  <a:lnTo>
                    <a:pt x="39116" y="702691"/>
                  </a:lnTo>
                  <a:lnTo>
                    <a:pt x="39116" y="704088"/>
                  </a:lnTo>
                  <a:lnTo>
                    <a:pt x="41910" y="706882"/>
                  </a:lnTo>
                  <a:lnTo>
                    <a:pt x="43307" y="706882"/>
                  </a:lnTo>
                  <a:lnTo>
                    <a:pt x="173113" y="732053"/>
                  </a:lnTo>
                  <a:lnTo>
                    <a:pt x="145288" y="861949"/>
                  </a:lnTo>
                  <a:lnTo>
                    <a:pt x="145288" y="864743"/>
                  </a:lnTo>
                  <a:lnTo>
                    <a:pt x="146685" y="864743"/>
                  </a:lnTo>
                  <a:lnTo>
                    <a:pt x="146685" y="867537"/>
                  </a:lnTo>
                  <a:lnTo>
                    <a:pt x="148082" y="868934"/>
                  </a:lnTo>
                  <a:lnTo>
                    <a:pt x="149479" y="868934"/>
                  </a:lnTo>
                  <a:lnTo>
                    <a:pt x="150876" y="870331"/>
                  </a:lnTo>
                  <a:lnTo>
                    <a:pt x="153670" y="870331"/>
                  </a:lnTo>
                  <a:lnTo>
                    <a:pt x="284873" y="842505"/>
                  </a:lnTo>
                  <a:lnTo>
                    <a:pt x="308737" y="973709"/>
                  </a:lnTo>
                  <a:lnTo>
                    <a:pt x="308737" y="976503"/>
                  </a:lnTo>
                  <a:lnTo>
                    <a:pt x="310134" y="976503"/>
                  </a:lnTo>
                  <a:lnTo>
                    <a:pt x="310134" y="977900"/>
                  </a:lnTo>
                  <a:lnTo>
                    <a:pt x="311531" y="977900"/>
                  </a:lnTo>
                  <a:lnTo>
                    <a:pt x="312928" y="979297"/>
                  </a:lnTo>
                  <a:lnTo>
                    <a:pt x="318516" y="979297"/>
                  </a:lnTo>
                  <a:lnTo>
                    <a:pt x="318516" y="977900"/>
                  </a:lnTo>
                  <a:lnTo>
                    <a:pt x="426910" y="902550"/>
                  </a:lnTo>
                  <a:lnTo>
                    <a:pt x="500126" y="1017016"/>
                  </a:lnTo>
                  <a:lnTo>
                    <a:pt x="501523" y="1018413"/>
                  </a:lnTo>
                  <a:lnTo>
                    <a:pt x="502920" y="1018413"/>
                  </a:lnTo>
                  <a:lnTo>
                    <a:pt x="504317" y="1019810"/>
                  </a:lnTo>
                  <a:lnTo>
                    <a:pt x="508508" y="1019810"/>
                  </a:lnTo>
                  <a:lnTo>
                    <a:pt x="511302" y="1017016"/>
                  </a:lnTo>
                  <a:lnTo>
                    <a:pt x="512699" y="1017016"/>
                  </a:lnTo>
                  <a:lnTo>
                    <a:pt x="583196" y="902614"/>
                  </a:lnTo>
                  <a:lnTo>
                    <a:pt x="691515" y="977900"/>
                  </a:lnTo>
                  <a:lnTo>
                    <a:pt x="694309" y="979297"/>
                  </a:lnTo>
                  <a:lnTo>
                    <a:pt x="698500" y="979297"/>
                  </a:lnTo>
                  <a:lnTo>
                    <a:pt x="702691" y="975106"/>
                  </a:lnTo>
                  <a:lnTo>
                    <a:pt x="702691" y="973709"/>
                  </a:lnTo>
                  <a:lnTo>
                    <a:pt x="726541" y="842518"/>
                  </a:lnTo>
                  <a:lnTo>
                    <a:pt x="856361" y="870331"/>
                  </a:lnTo>
                  <a:lnTo>
                    <a:pt x="859155" y="870331"/>
                  </a:lnTo>
                  <a:lnTo>
                    <a:pt x="860552" y="868934"/>
                  </a:lnTo>
                  <a:lnTo>
                    <a:pt x="861949" y="868934"/>
                  </a:lnTo>
                  <a:lnTo>
                    <a:pt x="863346" y="867537"/>
                  </a:lnTo>
                  <a:lnTo>
                    <a:pt x="863346" y="866140"/>
                  </a:lnTo>
                  <a:lnTo>
                    <a:pt x="864743" y="866140"/>
                  </a:lnTo>
                  <a:lnTo>
                    <a:pt x="864743" y="861949"/>
                  </a:lnTo>
                  <a:lnTo>
                    <a:pt x="836904" y="732053"/>
                  </a:lnTo>
                  <a:lnTo>
                    <a:pt x="966724" y="706882"/>
                  </a:lnTo>
                  <a:lnTo>
                    <a:pt x="969518" y="706882"/>
                  </a:lnTo>
                  <a:lnTo>
                    <a:pt x="970915" y="705485"/>
                  </a:lnTo>
                  <a:lnTo>
                    <a:pt x="970915" y="704088"/>
                  </a:lnTo>
                  <a:lnTo>
                    <a:pt x="972312" y="702691"/>
                  </a:lnTo>
                  <a:lnTo>
                    <a:pt x="972312" y="697103"/>
                  </a:lnTo>
                  <a:lnTo>
                    <a:pt x="970915" y="695706"/>
                  </a:lnTo>
                  <a:lnTo>
                    <a:pt x="896912" y="587362"/>
                  </a:lnTo>
                  <a:lnTo>
                    <a:pt x="1010031" y="515493"/>
                  </a:lnTo>
                  <a:lnTo>
                    <a:pt x="1011428" y="514096"/>
                  </a:lnTo>
                  <a:lnTo>
                    <a:pt x="1011428" y="512699"/>
                  </a:lnTo>
                  <a:lnTo>
                    <a:pt x="1012825" y="511302"/>
                  </a:lnTo>
                  <a:lnTo>
                    <a:pt x="1012825" y="5071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8" y="578918"/>
            <a:ext cx="2847340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Formalisme...</a:t>
            </a:r>
          </a:p>
        </p:txBody>
      </p:sp>
      <p:sp>
        <p:nvSpPr>
          <p:cNvPr id="3" name="object 3"/>
          <p:cNvSpPr/>
          <p:nvPr/>
        </p:nvSpPr>
        <p:spPr>
          <a:xfrm>
            <a:off x="363067" y="1782368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41" y="148831"/>
                </a:moveTo>
                <a:lnTo>
                  <a:pt x="155841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41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3080" y="2242654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54" y="148844"/>
                </a:moveTo>
                <a:lnTo>
                  <a:pt x="155854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44"/>
                </a:lnTo>
                <a:lnTo>
                  <a:pt x="155854" y="1488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3093" y="2701556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67" y="148843"/>
                </a:moveTo>
                <a:lnTo>
                  <a:pt x="155867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43"/>
                </a:lnTo>
                <a:lnTo>
                  <a:pt x="155867" y="148843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753" y="3179127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79" y="148843"/>
                </a:moveTo>
                <a:lnTo>
                  <a:pt x="155879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43"/>
                </a:lnTo>
                <a:lnTo>
                  <a:pt x="155879" y="148843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62875" y="3576434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79" y="148856"/>
                </a:moveTo>
                <a:lnTo>
                  <a:pt x="155879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56"/>
                </a:lnTo>
                <a:lnTo>
                  <a:pt x="155879" y="148856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62913" y="3972331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79" y="148869"/>
                </a:moveTo>
                <a:lnTo>
                  <a:pt x="155879" y="0"/>
                </a:lnTo>
                <a:lnTo>
                  <a:pt x="0" y="0"/>
                </a:lnTo>
                <a:lnTo>
                  <a:pt x="0" y="74434"/>
                </a:lnTo>
                <a:lnTo>
                  <a:pt x="0" y="148869"/>
                </a:lnTo>
                <a:lnTo>
                  <a:pt x="155879" y="148869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62964" y="4368266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79" y="148869"/>
                </a:moveTo>
                <a:lnTo>
                  <a:pt x="155879" y="0"/>
                </a:lnTo>
                <a:lnTo>
                  <a:pt x="0" y="0"/>
                </a:lnTo>
                <a:lnTo>
                  <a:pt x="0" y="74434"/>
                </a:lnTo>
                <a:lnTo>
                  <a:pt x="0" y="148869"/>
                </a:lnTo>
                <a:lnTo>
                  <a:pt x="155879" y="148869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63002" y="5161483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92" y="148869"/>
                </a:moveTo>
                <a:lnTo>
                  <a:pt x="155892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69"/>
                </a:lnTo>
                <a:lnTo>
                  <a:pt x="155892" y="148869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63040" y="5980569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905" y="148869"/>
                </a:moveTo>
                <a:lnTo>
                  <a:pt x="155905" y="0"/>
                </a:lnTo>
                <a:lnTo>
                  <a:pt x="0" y="0"/>
                </a:lnTo>
                <a:lnTo>
                  <a:pt x="0" y="74434"/>
                </a:lnTo>
                <a:lnTo>
                  <a:pt x="0" y="148869"/>
                </a:lnTo>
                <a:lnTo>
                  <a:pt x="155905" y="148869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92046" y="1536257"/>
            <a:ext cx="9999754" cy="47068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69875" indent="-635">
              <a:lnSpc>
                <a:spcPct val="125800"/>
              </a:lnSpc>
              <a:spcBef>
                <a:spcPts val="95"/>
              </a:spcBef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Un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algorithme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 doit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être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lisible</a:t>
            </a:r>
            <a:r>
              <a:rPr sz="24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et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compréhensible par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 err="1">
                <a:solidFill>
                  <a:srgbClr val="231F20"/>
                </a:solidFill>
                <a:latin typeface="Times New Roman"/>
                <a:cs typeface="Times New Roman"/>
              </a:rPr>
              <a:t>plusieurs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 err="1">
                <a:solidFill>
                  <a:srgbClr val="231F20"/>
                </a:solidFill>
                <a:latin typeface="Times New Roman"/>
                <a:cs typeface="Times New Roman"/>
              </a:rPr>
              <a:t>personnes</a:t>
            </a:r>
            <a:r>
              <a:rPr lang="fr-FR"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.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endParaRPr lang="fr-FR" sz="2400" spc="-5" dirty="0">
              <a:solidFill>
                <a:srgbClr val="231F20"/>
              </a:solidFill>
              <a:latin typeface="Times New Roman"/>
              <a:cs typeface="Times New Roman"/>
            </a:endParaRPr>
          </a:p>
          <a:p>
            <a:pPr marL="12700" marR="269875" indent="-635">
              <a:lnSpc>
                <a:spcPct val="125800"/>
              </a:lnSpc>
              <a:spcBef>
                <a:spcPts val="95"/>
              </a:spcBef>
            </a:pPr>
            <a:r>
              <a:rPr lang="fr-FR"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Il doit </a:t>
            </a:r>
            <a:r>
              <a:rPr sz="2400" spc="5" dirty="0" err="1">
                <a:solidFill>
                  <a:srgbClr val="231F20"/>
                </a:solidFill>
                <a:latin typeface="Times New Roman"/>
                <a:cs typeface="Times New Roman"/>
              </a:rPr>
              <a:t>donc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suivre</a:t>
            </a:r>
            <a:r>
              <a:rPr sz="24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des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règles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Il</a:t>
            </a:r>
            <a:r>
              <a:rPr sz="24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est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composé</a:t>
            </a:r>
            <a:r>
              <a:rPr sz="24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d’une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entête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et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d’un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corps</a:t>
            </a:r>
            <a:r>
              <a:rPr sz="24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400" dirty="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980"/>
              </a:spcBef>
            </a:pP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l’entête,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qui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-25" dirty="0">
                <a:solidFill>
                  <a:srgbClr val="231F20"/>
                </a:solidFill>
                <a:latin typeface="Times New Roman"/>
                <a:cs typeface="Times New Roman"/>
              </a:rPr>
              <a:t>spécifie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300" dirty="0">
              <a:latin typeface="Times New Roman"/>
              <a:cs typeface="Times New Roman"/>
            </a:endParaRPr>
          </a:p>
          <a:p>
            <a:pPr marL="712470" marR="5083810" indent="-635">
              <a:lnSpc>
                <a:spcPts val="3120"/>
              </a:lnSpc>
              <a:spcBef>
                <a:spcPts val="175"/>
              </a:spcBef>
            </a:pP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le 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nom de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l’algorithme 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(</a:t>
            </a:r>
            <a:r>
              <a:rPr sz="21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Nom 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) </a:t>
            </a:r>
            <a:r>
              <a:rPr sz="2100" spc="-509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son </a:t>
            </a:r>
            <a:r>
              <a:rPr sz="2100" dirty="0">
                <a:solidFill>
                  <a:srgbClr val="231F20"/>
                </a:solidFill>
                <a:latin typeface="Times New Roman"/>
                <a:cs typeface="Times New Roman"/>
              </a:rPr>
              <a:t>utilité</a:t>
            </a:r>
            <a:r>
              <a:rPr sz="21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(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Rôle </a:t>
            </a:r>
            <a:r>
              <a:rPr sz="21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)</a:t>
            </a:r>
            <a:endParaRPr sz="2100" dirty="0">
              <a:latin typeface="Times New Roman"/>
              <a:cs typeface="Times New Roman"/>
            </a:endParaRPr>
          </a:p>
          <a:p>
            <a:pPr marL="712470">
              <a:lnSpc>
                <a:spcPct val="100000"/>
              </a:lnSpc>
              <a:spcBef>
                <a:spcPts val="390"/>
              </a:spcBef>
            </a:pP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les données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“en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 entrée”, c’est-à-dire</a:t>
            </a:r>
            <a:r>
              <a:rPr sz="2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les</a:t>
            </a:r>
            <a:r>
              <a:rPr sz="21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éléments qui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sont</a:t>
            </a:r>
            <a:r>
              <a:rPr sz="21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indispensables</a:t>
            </a:r>
            <a:r>
              <a:rPr sz="2100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à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son</a:t>
            </a:r>
            <a:endParaRPr sz="2100" dirty="0">
              <a:latin typeface="Times New Roman"/>
              <a:cs typeface="Times New Roman"/>
            </a:endParaRPr>
          </a:p>
          <a:p>
            <a:pPr marL="712470">
              <a:lnSpc>
                <a:spcPct val="100000"/>
              </a:lnSpc>
              <a:spcBef>
                <a:spcPts val="605"/>
              </a:spcBef>
            </a:pP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bon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 fonctionnement 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(</a:t>
            </a:r>
            <a:r>
              <a:rPr sz="21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Entrée</a:t>
            </a:r>
            <a:r>
              <a:rPr sz="21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)</a:t>
            </a:r>
            <a:endParaRPr sz="2100" dirty="0">
              <a:latin typeface="Times New Roman"/>
              <a:cs typeface="Times New Roman"/>
            </a:endParaRPr>
          </a:p>
          <a:p>
            <a:pPr marL="712470" marR="830580">
              <a:lnSpc>
                <a:spcPct val="123700"/>
              </a:lnSpc>
            </a:pP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les</a:t>
            </a:r>
            <a:r>
              <a:rPr sz="2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données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“en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 sortie”,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c’est-à-dire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les éléments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calculés, produits,</a:t>
            </a:r>
            <a:r>
              <a:rPr sz="2100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par </a:t>
            </a:r>
            <a:r>
              <a:rPr sz="2100" spc="-509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l’algorithme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(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Sortie :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)</a:t>
            </a:r>
            <a:endParaRPr sz="2100" dirty="0">
              <a:latin typeface="Times New Roman"/>
              <a:cs typeface="Times New Roman"/>
            </a:endParaRPr>
          </a:p>
          <a:p>
            <a:pPr marL="712470">
              <a:lnSpc>
                <a:spcPct val="100000"/>
              </a:lnSpc>
              <a:spcBef>
                <a:spcPts val="815"/>
              </a:spcBef>
            </a:pP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les données</a:t>
            </a:r>
            <a:r>
              <a:rPr sz="21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locales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fr-FR"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à</a:t>
            </a:r>
            <a:r>
              <a:rPr lang="fr-FR"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lang="fr-FR"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l’algorithmique</a:t>
            </a:r>
            <a:r>
              <a:rPr lang="fr-FR" sz="2100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qui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lui</a:t>
            </a:r>
            <a:r>
              <a:rPr sz="21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sont</a:t>
            </a:r>
            <a:r>
              <a:rPr sz="2100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indispensables</a:t>
            </a:r>
            <a:r>
              <a:rPr sz="2100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(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Declaration</a:t>
            </a:r>
            <a:r>
              <a:rPr lang="fr-FR" sz="2100" dirty="0">
                <a:latin typeface="Times New Roman"/>
                <a:cs typeface="Times New Roman"/>
              </a:rPr>
              <a:t> </a:t>
            </a:r>
            <a:r>
              <a:rPr lang="fr-FR"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lang="fr-FR"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)</a:t>
            </a:r>
            <a:endParaRPr lang="fr-FR" sz="2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8" y="578918"/>
            <a:ext cx="2847340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Formalisme...</a:t>
            </a:r>
          </a:p>
        </p:txBody>
      </p:sp>
      <p:sp>
        <p:nvSpPr>
          <p:cNvPr id="3" name="object 3"/>
          <p:cNvSpPr/>
          <p:nvPr/>
        </p:nvSpPr>
        <p:spPr>
          <a:xfrm>
            <a:off x="1141564" y="1775193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54" y="148831"/>
                </a:moveTo>
                <a:lnTo>
                  <a:pt x="155854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54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550225" y="2226894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10" h="149225">
                <a:moveTo>
                  <a:pt x="155867" y="148831"/>
                </a:moveTo>
                <a:lnTo>
                  <a:pt x="155867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67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550288" y="2678607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10" h="149225">
                <a:moveTo>
                  <a:pt x="155867" y="148844"/>
                </a:moveTo>
                <a:lnTo>
                  <a:pt x="155867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44"/>
                </a:lnTo>
                <a:lnTo>
                  <a:pt x="155867" y="1488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550352" y="3156178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10" h="149225">
                <a:moveTo>
                  <a:pt x="155867" y="148856"/>
                </a:moveTo>
                <a:lnTo>
                  <a:pt x="155867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56"/>
                </a:lnTo>
                <a:lnTo>
                  <a:pt x="155867" y="148856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70497" y="1498084"/>
            <a:ext cx="4327525" cy="189103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85"/>
              </a:spcBef>
            </a:pP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 corps,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qui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est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composé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 :</a:t>
            </a:r>
            <a:endParaRPr sz="2300">
              <a:latin typeface="Times New Roman"/>
              <a:cs typeface="Times New Roman"/>
            </a:endParaRPr>
          </a:p>
          <a:p>
            <a:pPr marL="421005">
              <a:lnSpc>
                <a:spcPct val="100000"/>
              </a:lnSpc>
              <a:spcBef>
                <a:spcPts val="994"/>
              </a:spcBef>
            </a:pP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du</a:t>
            </a:r>
            <a:r>
              <a:rPr sz="21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mot</a:t>
            </a:r>
            <a:r>
              <a:rPr sz="21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clef</a:t>
            </a:r>
            <a:r>
              <a:rPr sz="21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endParaRPr sz="2100">
              <a:latin typeface="Times New Roman"/>
              <a:cs typeface="Times New Roman"/>
            </a:endParaRPr>
          </a:p>
          <a:p>
            <a:pPr marL="421005">
              <a:lnSpc>
                <a:spcPct val="100000"/>
              </a:lnSpc>
              <a:spcBef>
                <a:spcPts val="1040"/>
              </a:spcBef>
            </a:pP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d’une</a:t>
            </a:r>
            <a:r>
              <a:rPr sz="21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suite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d’instructions</a:t>
            </a:r>
            <a:r>
              <a:rPr sz="2100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indentées</a:t>
            </a:r>
            <a:endParaRPr sz="2100">
              <a:latin typeface="Times New Roman"/>
              <a:cs typeface="Times New Roman"/>
            </a:endParaRPr>
          </a:p>
          <a:p>
            <a:pPr marL="421005">
              <a:lnSpc>
                <a:spcPct val="100000"/>
              </a:lnSpc>
              <a:spcBef>
                <a:spcPts val="1240"/>
              </a:spcBef>
            </a:pP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du</a:t>
            </a:r>
            <a:r>
              <a:rPr sz="21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mot</a:t>
            </a:r>
            <a:r>
              <a:rPr sz="21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clef</a:t>
            </a:r>
            <a:r>
              <a:rPr sz="21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spc="-7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20" y="1340916"/>
            <a:ext cx="5457190" cy="50800"/>
          </a:xfrm>
          <a:custGeom>
            <a:avLst/>
            <a:gdLst/>
            <a:ahLst/>
            <a:cxnLst/>
            <a:rect l="l" t="t" r="r" b="b"/>
            <a:pathLst>
              <a:path w="5457190" h="50800">
                <a:moveTo>
                  <a:pt x="0" y="50495"/>
                </a:moveTo>
                <a:lnTo>
                  <a:pt x="5456643" y="50495"/>
                </a:lnTo>
                <a:lnTo>
                  <a:pt x="5456643" y="0"/>
                </a:lnTo>
                <a:lnTo>
                  <a:pt x="0" y="0"/>
                </a:lnTo>
                <a:lnTo>
                  <a:pt x="0" y="50495"/>
                </a:lnTo>
                <a:close/>
              </a:path>
            </a:pathLst>
          </a:custGeom>
          <a:solidFill>
            <a:srgbClr val="9999B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032" y="1340916"/>
            <a:ext cx="9679305" cy="50800"/>
            <a:chOff x="60032" y="1340916"/>
            <a:chExt cx="9679305" cy="50800"/>
          </a:xfrm>
        </p:grpSpPr>
        <p:sp>
          <p:nvSpPr>
            <p:cNvPr id="4" name="object 4"/>
            <p:cNvSpPr/>
            <p:nvPr/>
          </p:nvSpPr>
          <p:spPr>
            <a:xfrm>
              <a:off x="9641624" y="1340916"/>
              <a:ext cx="97790" cy="50800"/>
            </a:xfrm>
            <a:custGeom>
              <a:avLst/>
              <a:gdLst/>
              <a:ahLst/>
              <a:cxnLst/>
              <a:rect l="l" t="t" r="r" b="b"/>
              <a:pathLst>
                <a:path w="97790" h="50800">
                  <a:moveTo>
                    <a:pt x="0" y="50495"/>
                  </a:moveTo>
                  <a:lnTo>
                    <a:pt x="97434" y="50495"/>
                  </a:lnTo>
                  <a:lnTo>
                    <a:pt x="97434" y="0"/>
                  </a:lnTo>
                  <a:lnTo>
                    <a:pt x="0" y="0"/>
                  </a:lnTo>
                  <a:lnTo>
                    <a:pt x="0" y="50495"/>
                  </a:lnTo>
                  <a:close/>
                </a:path>
              </a:pathLst>
            </a:custGeom>
            <a:solidFill>
              <a:srgbClr val="999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06571" y="1340916"/>
              <a:ext cx="33020" cy="50800"/>
            </a:xfrm>
            <a:custGeom>
              <a:avLst/>
              <a:gdLst/>
              <a:ahLst/>
              <a:cxnLst/>
              <a:rect l="l" t="t" r="r" b="b"/>
              <a:pathLst>
                <a:path w="33020" h="50800">
                  <a:moveTo>
                    <a:pt x="32473" y="50482"/>
                  </a:moveTo>
                  <a:lnTo>
                    <a:pt x="32473" y="0"/>
                  </a:lnTo>
                  <a:lnTo>
                    <a:pt x="0" y="0"/>
                  </a:lnTo>
                  <a:lnTo>
                    <a:pt x="0" y="50482"/>
                  </a:lnTo>
                  <a:lnTo>
                    <a:pt x="32473" y="50482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74098" y="1340916"/>
              <a:ext cx="33020" cy="50800"/>
            </a:xfrm>
            <a:custGeom>
              <a:avLst/>
              <a:gdLst/>
              <a:ahLst/>
              <a:cxnLst/>
              <a:rect l="l" t="t" r="r" b="b"/>
              <a:pathLst>
                <a:path w="33020" h="50800">
                  <a:moveTo>
                    <a:pt x="32473" y="50482"/>
                  </a:moveTo>
                  <a:lnTo>
                    <a:pt x="32473" y="0"/>
                  </a:lnTo>
                  <a:lnTo>
                    <a:pt x="0" y="0"/>
                  </a:lnTo>
                  <a:lnTo>
                    <a:pt x="0" y="50482"/>
                  </a:lnTo>
                  <a:lnTo>
                    <a:pt x="32473" y="50482"/>
                  </a:lnTo>
                  <a:close/>
                </a:path>
              </a:pathLst>
            </a:custGeom>
            <a:solidFill>
              <a:srgbClr val="FDFD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41611" y="1340916"/>
              <a:ext cx="33020" cy="50800"/>
            </a:xfrm>
            <a:custGeom>
              <a:avLst/>
              <a:gdLst/>
              <a:ahLst/>
              <a:cxnLst/>
              <a:rect l="l" t="t" r="r" b="b"/>
              <a:pathLst>
                <a:path w="33020" h="50800">
                  <a:moveTo>
                    <a:pt x="32473" y="50482"/>
                  </a:moveTo>
                  <a:lnTo>
                    <a:pt x="32473" y="0"/>
                  </a:lnTo>
                  <a:lnTo>
                    <a:pt x="0" y="0"/>
                  </a:lnTo>
                  <a:lnTo>
                    <a:pt x="0" y="50482"/>
                  </a:lnTo>
                  <a:lnTo>
                    <a:pt x="32473" y="50482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32" y="1340916"/>
              <a:ext cx="9581591" cy="5048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7989" y="578938"/>
            <a:ext cx="2847340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Formalisme...</a:t>
            </a:r>
          </a:p>
        </p:txBody>
      </p:sp>
      <p:sp>
        <p:nvSpPr>
          <p:cNvPr id="10" name="object 10"/>
          <p:cNvSpPr/>
          <p:nvPr/>
        </p:nvSpPr>
        <p:spPr>
          <a:xfrm>
            <a:off x="363093" y="1782483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67" y="148843"/>
                </a:moveTo>
                <a:lnTo>
                  <a:pt x="155867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43"/>
                </a:lnTo>
                <a:lnTo>
                  <a:pt x="155867" y="148843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94356" y="1629299"/>
            <a:ext cx="7694295" cy="40189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537210">
              <a:lnSpc>
                <a:spcPct val="100000"/>
              </a:lnSpc>
              <a:spcBef>
                <a:spcPts val="110"/>
              </a:spcBef>
            </a:pP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Exemple</a:t>
            </a:r>
            <a:r>
              <a:rPr sz="24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4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code</a:t>
            </a:r>
            <a:r>
              <a:rPr sz="2400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Nom</a:t>
            </a:r>
            <a:r>
              <a:rPr sz="2300" b="1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addDeuxEntiers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Rôle</a:t>
            </a: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Additionner</a:t>
            </a:r>
            <a:r>
              <a:rPr sz="2300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deux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entiers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et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b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et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mettre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résultat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dans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endParaRPr sz="2300">
              <a:latin typeface="Times New Roman"/>
              <a:cs typeface="Times New Roman"/>
            </a:endParaRPr>
          </a:p>
          <a:p>
            <a:pPr marL="13335" marR="5279390" indent="-635">
              <a:lnSpc>
                <a:spcPct val="120500"/>
              </a:lnSpc>
              <a:spcBef>
                <a:spcPts val="5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Entrée</a:t>
            </a:r>
            <a:r>
              <a:rPr sz="2300" b="1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a,b</a:t>
            </a:r>
            <a:r>
              <a:rPr sz="23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entier </a:t>
            </a:r>
            <a:r>
              <a:rPr sz="2300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Sortie</a:t>
            </a:r>
            <a:r>
              <a:rPr sz="2300" b="1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c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entier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Déclaration</a:t>
            </a: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-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endParaRPr sz="23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560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c</a:t>
            </a:r>
            <a:r>
              <a:rPr sz="2300" spc="-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a+b</a:t>
            </a:r>
            <a:endParaRPr sz="23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70"/>
              </a:spcBef>
            </a:pPr>
            <a:r>
              <a:rPr sz="2300" b="1" spc="-75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8" y="578918"/>
            <a:ext cx="4406900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Les</a:t>
            </a:r>
            <a:r>
              <a:rPr spc="-60" dirty="0"/>
              <a:t> </a:t>
            </a:r>
            <a:r>
              <a:rPr spc="10" dirty="0"/>
              <a:t>conditionnelles...</a:t>
            </a:r>
          </a:p>
        </p:txBody>
      </p:sp>
      <p:sp>
        <p:nvSpPr>
          <p:cNvPr id="3" name="object 3"/>
          <p:cNvSpPr/>
          <p:nvPr/>
        </p:nvSpPr>
        <p:spPr>
          <a:xfrm>
            <a:off x="363067" y="1782368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41" y="148831"/>
                </a:moveTo>
                <a:lnTo>
                  <a:pt x="155841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41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702" y="2463457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54" y="148831"/>
                </a:moveTo>
                <a:lnTo>
                  <a:pt x="155854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54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3093" y="5137594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67" y="148844"/>
                </a:moveTo>
                <a:lnTo>
                  <a:pt x="155867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44"/>
                </a:lnTo>
                <a:lnTo>
                  <a:pt x="155867" y="1488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753" y="5542140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79" y="148844"/>
                </a:moveTo>
                <a:lnTo>
                  <a:pt x="155879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44"/>
                </a:lnTo>
                <a:lnTo>
                  <a:pt x="155879" y="1488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2046" y="1629198"/>
            <a:ext cx="9354185" cy="45269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2815"/>
              </a:lnSpc>
              <a:spcBef>
                <a:spcPts val="110"/>
              </a:spcBef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Jusqu’à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présent les</a:t>
            </a:r>
            <a:r>
              <a:rPr sz="24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instructions</a:t>
            </a:r>
            <a:r>
              <a:rPr sz="24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d’un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algorithme</a:t>
            </a:r>
            <a:r>
              <a:rPr sz="24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étaient</a:t>
            </a:r>
            <a:r>
              <a:rPr sz="24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31F20"/>
                </a:solidFill>
                <a:latin typeface="Times New Roman"/>
                <a:cs typeface="Times New Roman"/>
              </a:rPr>
              <a:t>toutes</a:t>
            </a:r>
            <a:r>
              <a:rPr sz="24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interprétées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ts val="2815"/>
              </a:lnSpc>
            </a:pPr>
            <a:r>
              <a:rPr sz="24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séquentiellement</a:t>
            </a:r>
            <a:endParaRPr sz="240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575"/>
              </a:spcBef>
            </a:pP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Nom</a:t>
            </a:r>
            <a:r>
              <a:rPr sz="155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b="1" spc="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15" dirty="0">
                <a:solidFill>
                  <a:srgbClr val="231F20"/>
                </a:solidFill>
                <a:latin typeface="Times New Roman"/>
                <a:cs typeface="Times New Roman"/>
              </a:rPr>
              <a:t>euroVersDollar2</a:t>
            </a:r>
            <a:endParaRPr sz="155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320"/>
              </a:spcBef>
            </a:pPr>
            <a:r>
              <a:rPr sz="15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Rôle</a:t>
            </a:r>
            <a:r>
              <a:rPr sz="155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b="1" spc="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Convertisseur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 des</a:t>
            </a:r>
            <a:r>
              <a:rPr sz="15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sommes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en</a:t>
            </a:r>
            <a:r>
              <a:rPr sz="155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euros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 vers</a:t>
            </a:r>
            <a:r>
              <a:rPr sz="15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le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dollar</a:t>
            </a:r>
            <a:endParaRPr sz="155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  <a:spcBef>
                <a:spcPts val="320"/>
              </a:spcBef>
            </a:pPr>
            <a:r>
              <a:rPr sz="15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Entrée</a:t>
            </a:r>
            <a:r>
              <a:rPr sz="155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b="1" spc="7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valeurEnEuro</a:t>
            </a:r>
            <a:r>
              <a:rPr sz="155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spc="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Réel</a:t>
            </a:r>
            <a:endParaRPr sz="1550">
              <a:latin typeface="Times New Roman"/>
              <a:cs typeface="Times New Roman"/>
            </a:endParaRPr>
          </a:p>
          <a:p>
            <a:pPr marL="419100" marR="6000750">
              <a:lnSpc>
                <a:spcPct val="117100"/>
              </a:lnSpc>
            </a:pPr>
            <a:r>
              <a:rPr sz="15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Sortie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b="1" spc="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valeurEnDollar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spc="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Réel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Déclaration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b="1" spc="9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tauxConversion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Réel </a:t>
            </a:r>
            <a:r>
              <a:rPr sz="1550" spc="-3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endParaRPr sz="1550">
              <a:latin typeface="Times New Roman"/>
              <a:cs typeface="Times New Roman"/>
            </a:endParaRPr>
          </a:p>
          <a:p>
            <a:pPr marL="770255">
              <a:lnSpc>
                <a:spcPct val="100000"/>
              </a:lnSpc>
              <a:spcBef>
                <a:spcPts val="484"/>
              </a:spcBef>
            </a:pP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tauxConversion</a:t>
            </a:r>
            <a:r>
              <a:rPr sz="155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35" dirty="0">
                <a:solidFill>
                  <a:srgbClr val="231F20"/>
                </a:solidFill>
                <a:latin typeface="Lucida Sans Unicode"/>
                <a:cs typeface="Lucida Sans Unicode"/>
              </a:rPr>
              <a:t>←</a:t>
            </a:r>
            <a:r>
              <a:rPr sz="1550" spc="35" dirty="0">
                <a:solidFill>
                  <a:srgbClr val="231F20"/>
                </a:solidFill>
                <a:latin typeface="Times New Roman"/>
                <a:cs typeface="Times New Roman"/>
              </a:rPr>
              <a:t>1.45</a:t>
            </a:r>
            <a:endParaRPr sz="1550">
              <a:latin typeface="Times New Roman"/>
              <a:cs typeface="Times New Roman"/>
            </a:endParaRPr>
          </a:p>
          <a:p>
            <a:pPr marL="770255">
              <a:lnSpc>
                <a:spcPct val="100000"/>
              </a:lnSpc>
              <a:spcBef>
                <a:spcPts val="630"/>
              </a:spcBef>
            </a:pP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valeurEnDollar</a:t>
            </a:r>
            <a:r>
              <a:rPr sz="155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195" dirty="0">
                <a:solidFill>
                  <a:srgbClr val="231F20"/>
                </a:solidFill>
                <a:latin typeface="Lucida Sans Unicode"/>
                <a:cs typeface="Lucida Sans Unicode"/>
              </a:rPr>
              <a:t>←</a:t>
            </a:r>
            <a:r>
              <a:rPr sz="1550" spc="-110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valeurEnEuro</a:t>
            </a:r>
            <a:r>
              <a:rPr sz="155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*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 tauxConversion</a:t>
            </a:r>
            <a:endParaRPr sz="1550">
              <a:latin typeface="Times New Roman"/>
              <a:cs typeface="Times New Roman"/>
            </a:endParaRPr>
          </a:p>
          <a:p>
            <a:pPr marL="418465">
              <a:lnSpc>
                <a:spcPct val="100000"/>
              </a:lnSpc>
              <a:spcBef>
                <a:spcPts val="455"/>
              </a:spcBef>
            </a:pPr>
            <a:r>
              <a:rPr sz="1550" b="1" spc="-3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15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Mais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il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se peut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que l’on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veuille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conditionner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l’exécution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 d’un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algorithme</a:t>
            </a:r>
            <a:endParaRPr sz="2400">
              <a:latin typeface="Times New Roman"/>
              <a:cs typeface="Times New Roman"/>
            </a:endParaRPr>
          </a:p>
          <a:p>
            <a:pPr marL="419734" marR="5080">
              <a:lnSpc>
                <a:spcPct val="107300"/>
              </a:lnSpc>
              <a:spcBef>
                <a:spcPts val="204"/>
              </a:spcBef>
            </a:pP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Par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exemple: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la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résolution</a:t>
            </a:r>
            <a:r>
              <a:rPr sz="2300" spc="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d’une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équation</a:t>
            </a:r>
            <a:r>
              <a:rPr sz="2300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du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second</a:t>
            </a:r>
            <a:r>
              <a:rPr sz="2300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degré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est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conditionnée </a:t>
            </a:r>
            <a:r>
              <a:rPr sz="2300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par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 le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signe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-150" dirty="0">
                <a:solidFill>
                  <a:srgbClr val="231F20"/>
                </a:solidFill>
                <a:latin typeface="Lucida Sans Unicode"/>
                <a:cs typeface="Lucida Sans Unicode"/>
              </a:rPr>
              <a:t>∆</a:t>
            </a:r>
            <a:endParaRPr sz="23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8" y="578918"/>
            <a:ext cx="7391400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-20" dirty="0"/>
              <a:t>L’instruction</a:t>
            </a:r>
            <a:r>
              <a:rPr spc="-5" dirty="0"/>
              <a:t> </a:t>
            </a:r>
            <a:r>
              <a:rPr sz="3950" spc="5" dirty="0">
                <a:latin typeface="Courier New"/>
                <a:cs typeface="Courier New"/>
              </a:rPr>
              <a:t>si</a:t>
            </a:r>
            <a:r>
              <a:rPr sz="3950" spc="10" dirty="0">
                <a:latin typeface="Courier New"/>
                <a:cs typeface="Courier New"/>
              </a:rPr>
              <a:t> </a:t>
            </a:r>
            <a:r>
              <a:rPr sz="3950" spc="5" dirty="0">
                <a:latin typeface="Courier New"/>
                <a:cs typeface="Courier New"/>
              </a:rPr>
              <a:t>alors</a:t>
            </a:r>
            <a:r>
              <a:rPr sz="3950" spc="15" dirty="0">
                <a:latin typeface="Courier New"/>
                <a:cs typeface="Courier New"/>
              </a:rPr>
              <a:t> </a:t>
            </a:r>
            <a:r>
              <a:rPr sz="3950" dirty="0">
                <a:latin typeface="Courier New"/>
                <a:cs typeface="Courier New"/>
              </a:rPr>
              <a:t>sinon</a:t>
            </a:r>
            <a:r>
              <a:rPr dirty="0"/>
              <a:t>...</a:t>
            </a:r>
            <a:endParaRPr sz="3950">
              <a:latin typeface="Courier New"/>
              <a:cs typeface="Courier New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3067" y="1775193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41" y="148831"/>
                </a:moveTo>
                <a:lnTo>
                  <a:pt x="155841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41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1988" y="1532078"/>
            <a:ext cx="8950960" cy="5779770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L’instruction</a:t>
            </a:r>
            <a:r>
              <a:rPr sz="2300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231F20"/>
                </a:solidFill>
                <a:latin typeface="Courier New"/>
                <a:cs typeface="Courier New"/>
              </a:rPr>
              <a:t>si</a:t>
            </a:r>
            <a:r>
              <a:rPr sz="2300" spc="25" dirty="0">
                <a:solidFill>
                  <a:srgbClr val="231F20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31F20"/>
                </a:solidFill>
                <a:latin typeface="Courier New"/>
                <a:cs typeface="Courier New"/>
              </a:rPr>
              <a:t>alors</a:t>
            </a:r>
            <a:r>
              <a:rPr sz="2300" spc="5" dirty="0">
                <a:solidFill>
                  <a:srgbClr val="231F20"/>
                </a:solidFill>
                <a:latin typeface="Courier New"/>
                <a:cs typeface="Courier New"/>
              </a:rPr>
              <a:t> </a:t>
            </a:r>
            <a:r>
              <a:rPr sz="2300" spc="-10" dirty="0">
                <a:solidFill>
                  <a:srgbClr val="231F20"/>
                </a:solidFill>
                <a:latin typeface="Courier New"/>
                <a:cs typeface="Courier New"/>
              </a:rPr>
              <a:t>sinon</a:t>
            </a:r>
            <a:r>
              <a:rPr sz="2300" spc="-775" dirty="0">
                <a:solidFill>
                  <a:srgbClr val="231F20"/>
                </a:solidFill>
                <a:latin typeface="Courier New"/>
                <a:cs typeface="Courier New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permet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conditionner</a:t>
            </a:r>
            <a:r>
              <a:rPr sz="2300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l’éxecution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d’une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 suite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d'instructions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à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la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valeur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d’une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expression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booléenne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Sa</a:t>
            </a:r>
            <a:r>
              <a:rPr sz="23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syntaxe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est</a:t>
            </a: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r>
              <a:rPr sz="2100" b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expression</a:t>
            </a:r>
            <a:r>
              <a:rPr sz="2100" i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booléenne 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alors</a:t>
            </a:r>
            <a:endParaRPr sz="21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894"/>
              </a:spcBef>
            </a:pP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suite</a:t>
            </a:r>
            <a:r>
              <a:rPr sz="210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d’instructions</a:t>
            </a:r>
            <a:r>
              <a:rPr sz="2100" i="1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dirty="0">
                <a:solidFill>
                  <a:srgbClr val="231F20"/>
                </a:solidFill>
                <a:latin typeface="Times New Roman"/>
                <a:cs typeface="Times New Roman"/>
              </a:rPr>
              <a:t>exécutées</a:t>
            </a:r>
            <a:r>
              <a:rPr sz="21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l’expression</a:t>
            </a:r>
            <a:r>
              <a:rPr sz="2100" i="1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est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dirty="0">
                <a:solidFill>
                  <a:srgbClr val="231F20"/>
                </a:solidFill>
                <a:latin typeface="Times New Roman"/>
                <a:cs typeface="Times New Roman"/>
              </a:rPr>
              <a:t>vraie</a:t>
            </a:r>
            <a:endParaRPr sz="21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785"/>
              </a:spcBef>
            </a:pP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sinon</a:t>
            </a:r>
            <a:endParaRPr sz="21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610"/>
              </a:spcBef>
            </a:pP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suite</a:t>
            </a:r>
            <a:r>
              <a:rPr sz="210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d’instructions</a:t>
            </a:r>
            <a:r>
              <a:rPr sz="2100" i="1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dirty="0">
                <a:solidFill>
                  <a:srgbClr val="231F20"/>
                </a:solidFill>
                <a:latin typeface="Times New Roman"/>
                <a:cs typeface="Times New Roman"/>
              </a:rPr>
              <a:t>exécutées</a:t>
            </a:r>
            <a:r>
              <a:rPr sz="21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l’expression</a:t>
            </a:r>
            <a:r>
              <a:rPr sz="2100" i="1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est</a:t>
            </a:r>
            <a:r>
              <a:rPr sz="210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fausse</a:t>
            </a:r>
            <a:endParaRPr sz="21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595"/>
              </a:spcBef>
            </a:pPr>
            <a:r>
              <a:rPr sz="2100" b="1" spc="-45" dirty="0">
                <a:solidFill>
                  <a:srgbClr val="231F20"/>
                </a:solidFill>
                <a:latin typeface="Times New Roman"/>
                <a:cs typeface="Times New Roman"/>
              </a:rPr>
              <a:t>finsi</a:t>
            </a:r>
            <a:endParaRPr sz="2100">
              <a:latin typeface="Times New Roman"/>
              <a:cs typeface="Times New Roman"/>
            </a:endParaRPr>
          </a:p>
          <a:p>
            <a:pPr marL="13335" marR="5080" indent="-1270">
              <a:lnSpc>
                <a:spcPct val="120700"/>
              </a:lnSpc>
              <a:spcBef>
                <a:spcPts val="405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deuxième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partie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l’instruction</a:t>
            </a:r>
            <a:r>
              <a:rPr sz="2300" spc="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est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optionnelle,</a:t>
            </a:r>
            <a:r>
              <a:rPr sz="2300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on</a:t>
            </a:r>
            <a:r>
              <a:rPr sz="2300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peut </a:t>
            </a: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avoir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la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syntaxe </a:t>
            </a:r>
            <a:r>
              <a:rPr sz="2300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suivante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r>
              <a:rPr sz="2100" b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expression</a:t>
            </a:r>
            <a:r>
              <a:rPr sz="2100" i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booléenne 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alors</a:t>
            </a:r>
            <a:endParaRPr sz="21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905"/>
              </a:spcBef>
            </a:pP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suite</a:t>
            </a:r>
            <a:r>
              <a:rPr sz="210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d’instructions</a:t>
            </a:r>
            <a:r>
              <a:rPr sz="2100" i="1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dirty="0">
                <a:solidFill>
                  <a:srgbClr val="231F20"/>
                </a:solidFill>
                <a:latin typeface="Times New Roman"/>
                <a:cs typeface="Times New Roman"/>
              </a:rPr>
              <a:t>exécutées</a:t>
            </a:r>
            <a:r>
              <a:rPr sz="21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l’expression</a:t>
            </a:r>
            <a:r>
              <a:rPr sz="2100" i="1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est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dirty="0">
                <a:solidFill>
                  <a:srgbClr val="231F20"/>
                </a:solidFill>
                <a:latin typeface="Times New Roman"/>
                <a:cs typeface="Times New Roman"/>
              </a:rPr>
              <a:t>vraie</a:t>
            </a:r>
            <a:endParaRPr sz="21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980"/>
              </a:spcBef>
            </a:pPr>
            <a:r>
              <a:rPr sz="2100" b="1" spc="-7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r>
              <a:rPr sz="2100" b="1" spc="-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3080" y="2730131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54" y="148844"/>
                </a:moveTo>
                <a:lnTo>
                  <a:pt x="155854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44"/>
                </a:lnTo>
                <a:lnTo>
                  <a:pt x="155854" y="1488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3093" y="5312524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67" y="148844"/>
                </a:moveTo>
                <a:lnTo>
                  <a:pt x="155867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44"/>
                </a:lnTo>
                <a:lnTo>
                  <a:pt x="155867" y="1488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668" y="578918"/>
            <a:ext cx="2221865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Exemple...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0040" y="1570100"/>
            <a:ext cx="5202555" cy="517207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Nom</a:t>
            </a:r>
            <a:r>
              <a:rPr sz="230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abs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Rôle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Calcule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la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valeur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absolue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d’un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entier</a:t>
            </a:r>
            <a:endParaRPr sz="23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570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Entrée</a:t>
            </a:r>
            <a:r>
              <a:rPr sz="230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unEntier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Entier</a:t>
            </a:r>
            <a:endParaRPr sz="2300">
              <a:latin typeface="Times New Roman"/>
              <a:cs typeface="Times New Roman"/>
            </a:endParaRPr>
          </a:p>
          <a:p>
            <a:pPr marL="13970" marR="1134745" indent="-635">
              <a:lnSpc>
                <a:spcPts val="3329"/>
              </a:lnSpc>
              <a:spcBef>
                <a:spcPts val="195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Sortie</a:t>
            </a: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laValeurAbsolue</a:t>
            </a:r>
            <a:r>
              <a:rPr sz="2300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Entier </a:t>
            </a:r>
            <a:r>
              <a:rPr sz="2300" b="1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Déclaration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-</a:t>
            </a:r>
            <a:endParaRPr sz="2300">
              <a:latin typeface="Times New Roman"/>
              <a:cs typeface="Times New Roman"/>
            </a:endParaRPr>
          </a:p>
          <a:p>
            <a:pPr marL="14604">
              <a:lnSpc>
                <a:spcPct val="100000"/>
              </a:lnSpc>
              <a:spcBef>
                <a:spcPts val="365"/>
              </a:spcBef>
            </a:pP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endParaRPr sz="23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56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r>
              <a:rPr sz="23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unEntier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470" dirty="0">
                <a:solidFill>
                  <a:srgbClr val="231F20"/>
                </a:solidFill>
                <a:latin typeface="Microsoft Sans Serif"/>
                <a:cs typeface="Microsoft Sans Serif"/>
              </a:rPr>
              <a:t>≥</a:t>
            </a:r>
            <a:r>
              <a:rPr sz="23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0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alors</a:t>
            </a:r>
            <a:endParaRPr sz="2300">
              <a:latin typeface="Times New Roman"/>
              <a:cs typeface="Times New Roman"/>
            </a:endParaRPr>
          </a:p>
          <a:p>
            <a:pPr marL="717550">
              <a:lnSpc>
                <a:spcPct val="100000"/>
              </a:lnSpc>
              <a:spcBef>
                <a:spcPts val="570"/>
              </a:spcBef>
            </a:pP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laValeurAbsolue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unEntier</a:t>
            </a:r>
            <a:endParaRPr sz="23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56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sinon</a:t>
            </a:r>
            <a:endParaRPr sz="2300">
              <a:latin typeface="Times New Roman"/>
              <a:cs typeface="Times New Roman"/>
            </a:endParaRPr>
          </a:p>
          <a:p>
            <a:pPr marL="717550">
              <a:lnSpc>
                <a:spcPct val="100000"/>
              </a:lnSpc>
              <a:spcBef>
                <a:spcPts val="570"/>
              </a:spcBef>
            </a:pP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laValeurAbsolue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-unEntier</a:t>
            </a:r>
            <a:endParaRPr sz="23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780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r>
              <a:rPr sz="2300" b="1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20" y="1340878"/>
            <a:ext cx="5554345" cy="50800"/>
          </a:xfrm>
          <a:custGeom>
            <a:avLst/>
            <a:gdLst/>
            <a:ahLst/>
            <a:cxnLst/>
            <a:rect l="l" t="t" r="r" b="b"/>
            <a:pathLst>
              <a:path w="5554345" h="50800">
                <a:moveTo>
                  <a:pt x="0" y="50482"/>
                </a:moveTo>
                <a:lnTo>
                  <a:pt x="5553862" y="50482"/>
                </a:lnTo>
                <a:lnTo>
                  <a:pt x="5553862" y="0"/>
                </a:lnTo>
                <a:lnTo>
                  <a:pt x="0" y="0"/>
                </a:lnTo>
                <a:lnTo>
                  <a:pt x="0" y="50482"/>
                </a:lnTo>
                <a:close/>
              </a:path>
            </a:pathLst>
          </a:custGeom>
          <a:solidFill>
            <a:srgbClr val="9999B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032" y="1340878"/>
            <a:ext cx="9678670" cy="50800"/>
            <a:chOff x="60032" y="1340878"/>
            <a:chExt cx="9678670" cy="50800"/>
          </a:xfrm>
        </p:grpSpPr>
        <p:sp>
          <p:nvSpPr>
            <p:cNvPr id="4" name="object 4"/>
            <p:cNvSpPr/>
            <p:nvPr/>
          </p:nvSpPr>
          <p:spPr>
            <a:xfrm>
              <a:off x="9641243" y="1340878"/>
              <a:ext cx="97790" cy="50800"/>
            </a:xfrm>
            <a:custGeom>
              <a:avLst/>
              <a:gdLst/>
              <a:ahLst/>
              <a:cxnLst/>
              <a:rect l="l" t="t" r="r" b="b"/>
              <a:pathLst>
                <a:path w="97790" h="50800">
                  <a:moveTo>
                    <a:pt x="0" y="50482"/>
                  </a:moveTo>
                  <a:lnTo>
                    <a:pt x="97447" y="50482"/>
                  </a:lnTo>
                  <a:lnTo>
                    <a:pt x="97447" y="0"/>
                  </a:lnTo>
                  <a:lnTo>
                    <a:pt x="0" y="0"/>
                  </a:lnTo>
                  <a:lnTo>
                    <a:pt x="0" y="50482"/>
                  </a:lnTo>
                  <a:close/>
                </a:path>
              </a:pathLst>
            </a:custGeom>
            <a:solidFill>
              <a:srgbClr val="999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06203" y="1340878"/>
              <a:ext cx="33020" cy="50800"/>
            </a:xfrm>
            <a:custGeom>
              <a:avLst/>
              <a:gdLst/>
              <a:ahLst/>
              <a:cxnLst/>
              <a:rect l="l" t="t" r="r" b="b"/>
              <a:pathLst>
                <a:path w="33020" h="50800">
                  <a:moveTo>
                    <a:pt x="32473" y="50482"/>
                  </a:moveTo>
                  <a:lnTo>
                    <a:pt x="32473" y="0"/>
                  </a:lnTo>
                  <a:lnTo>
                    <a:pt x="0" y="0"/>
                  </a:lnTo>
                  <a:lnTo>
                    <a:pt x="0" y="50482"/>
                  </a:lnTo>
                  <a:lnTo>
                    <a:pt x="32473" y="50482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73729" y="1340878"/>
              <a:ext cx="33020" cy="50800"/>
            </a:xfrm>
            <a:custGeom>
              <a:avLst/>
              <a:gdLst/>
              <a:ahLst/>
              <a:cxnLst/>
              <a:rect l="l" t="t" r="r" b="b"/>
              <a:pathLst>
                <a:path w="33020" h="50800">
                  <a:moveTo>
                    <a:pt x="32473" y="50482"/>
                  </a:moveTo>
                  <a:lnTo>
                    <a:pt x="32473" y="0"/>
                  </a:lnTo>
                  <a:lnTo>
                    <a:pt x="0" y="0"/>
                  </a:lnTo>
                  <a:lnTo>
                    <a:pt x="0" y="50482"/>
                  </a:lnTo>
                  <a:lnTo>
                    <a:pt x="32473" y="50482"/>
                  </a:lnTo>
                  <a:close/>
                </a:path>
              </a:pathLst>
            </a:custGeom>
            <a:solidFill>
              <a:srgbClr val="FDFD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41243" y="1340878"/>
              <a:ext cx="33020" cy="50800"/>
            </a:xfrm>
            <a:custGeom>
              <a:avLst/>
              <a:gdLst/>
              <a:ahLst/>
              <a:cxnLst/>
              <a:rect l="l" t="t" r="r" b="b"/>
              <a:pathLst>
                <a:path w="33020" h="50800">
                  <a:moveTo>
                    <a:pt x="32473" y="50482"/>
                  </a:moveTo>
                  <a:lnTo>
                    <a:pt x="32473" y="0"/>
                  </a:lnTo>
                  <a:lnTo>
                    <a:pt x="0" y="0"/>
                  </a:lnTo>
                  <a:lnTo>
                    <a:pt x="0" y="50482"/>
                  </a:lnTo>
                  <a:lnTo>
                    <a:pt x="32473" y="50482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32" y="1340878"/>
              <a:ext cx="9581210" cy="50482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47978" y="578927"/>
            <a:ext cx="2221865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Exemple...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67344" y="1570148"/>
            <a:ext cx="5195570" cy="517271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Nom</a:t>
            </a:r>
            <a:r>
              <a:rPr sz="230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max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Rôle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 :</a:t>
            </a:r>
            <a:r>
              <a:rPr sz="2300" b="1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Calcule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maximum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deux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 entiers</a:t>
            </a:r>
            <a:endParaRPr sz="2300">
              <a:latin typeface="Times New Roman"/>
              <a:cs typeface="Times New Roman"/>
            </a:endParaRPr>
          </a:p>
          <a:p>
            <a:pPr marL="13335" marR="1022350">
              <a:lnSpc>
                <a:spcPct val="120500"/>
              </a:lnSpc>
              <a:spcBef>
                <a:spcPts val="5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Entrée</a:t>
            </a:r>
            <a:r>
              <a:rPr sz="230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lEntier1,lEntier2</a:t>
            </a:r>
            <a:r>
              <a:rPr sz="2300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Entier </a:t>
            </a:r>
            <a:r>
              <a:rPr sz="2300" b="1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Sortie</a:t>
            </a:r>
            <a:r>
              <a:rPr sz="23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leMaximum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Entier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 Déclaration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-</a:t>
            </a:r>
            <a:endParaRPr sz="23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70"/>
              </a:spcBef>
            </a:pP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endParaRPr sz="2300">
              <a:latin typeface="Times New Roman"/>
              <a:cs typeface="Times New Roman"/>
            </a:endParaRPr>
          </a:p>
          <a:p>
            <a:pPr marR="1633855" algn="r">
              <a:lnSpc>
                <a:spcPct val="100000"/>
              </a:lnSpc>
              <a:spcBef>
                <a:spcPts val="56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lEntier1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&lt;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lEntier2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alors</a:t>
            </a:r>
            <a:endParaRPr sz="2300">
              <a:latin typeface="Times New Roman"/>
              <a:cs typeface="Times New Roman"/>
            </a:endParaRPr>
          </a:p>
          <a:p>
            <a:pPr marR="1703705" algn="r">
              <a:lnSpc>
                <a:spcPct val="100000"/>
              </a:lnSpc>
              <a:spcBef>
                <a:spcPts val="570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leMaximum</a:t>
            </a:r>
            <a:r>
              <a:rPr sz="23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lEntier2</a:t>
            </a:r>
            <a:endParaRPr sz="2300">
              <a:latin typeface="Times New Roman"/>
              <a:cs typeface="Times New Roman"/>
            </a:endParaRPr>
          </a:p>
          <a:p>
            <a:pPr marL="365125">
              <a:lnSpc>
                <a:spcPct val="100000"/>
              </a:lnSpc>
              <a:spcBef>
                <a:spcPts val="56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sinon</a:t>
            </a:r>
            <a:endParaRPr sz="2300">
              <a:latin typeface="Times New Roman"/>
              <a:cs typeface="Times New Roman"/>
            </a:endParaRPr>
          </a:p>
          <a:p>
            <a:pPr marL="716280">
              <a:lnSpc>
                <a:spcPct val="100000"/>
              </a:lnSpc>
              <a:spcBef>
                <a:spcPts val="570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leMaximum</a:t>
            </a:r>
            <a:r>
              <a:rPr sz="23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lEntier1</a:t>
            </a:r>
            <a:endParaRPr sz="23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780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r>
              <a:rPr sz="2300" b="1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068" y="578918"/>
            <a:ext cx="2221865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Exemple...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5144" y="1570100"/>
            <a:ext cx="5195570" cy="481457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Nom</a:t>
            </a:r>
            <a:r>
              <a:rPr sz="230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max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Rôle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 :</a:t>
            </a:r>
            <a:r>
              <a:rPr sz="2300" b="1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Calcule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maximum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deux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entiers</a:t>
            </a:r>
            <a:endParaRPr sz="2300">
              <a:latin typeface="Times New Roman"/>
              <a:cs typeface="Times New Roman"/>
            </a:endParaRPr>
          </a:p>
          <a:p>
            <a:pPr marL="13335" marR="1022350">
              <a:lnSpc>
                <a:spcPct val="120500"/>
              </a:lnSpc>
              <a:spcBef>
                <a:spcPts val="5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Entrée</a:t>
            </a:r>
            <a:r>
              <a:rPr sz="230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lEntier1,lEntier2</a:t>
            </a:r>
            <a:r>
              <a:rPr sz="2300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Entier </a:t>
            </a:r>
            <a:r>
              <a:rPr sz="2300" b="1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Sortie</a:t>
            </a:r>
            <a:r>
              <a:rPr sz="23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leMaximum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Entier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 Déclaration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-</a:t>
            </a:r>
            <a:endParaRPr sz="23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570"/>
              </a:spcBef>
            </a:pP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endParaRPr sz="23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560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leMaximum</a:t>
            </a:r>
            <a:r>
              <a:rPr sz="23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lEntier1</a:t>
            </a:r>
            <a:endParaRPr sz="23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57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lEntier2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&gt;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lEntier1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alors</a:t>
            </a:r>
            <a:endParaRPr sz="2300">
              <a:latin typeface="Times New Roman"/>
              <a:cs typeface="Times New Roman"/>
            </a:endParaRPr>
          </a:p>
          <a:p>
            <a:pPr marL="715010">
              <a:lnSpc>
                <a:spcPct val="100000"/>
              </a:lnSpc>
              <a:spcBef>
                <a:spcPts val="555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leMaximum</a:t>
            </a:r>
            <a:r>
              <a:rPr sz="23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lEntier2</a:t>
            </a:r>
            <a:endParaRPr sz="23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1495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r>
              <a:rPr sz="2300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si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8" y="578918"/>
            <a:ext cx="3181350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Les</a:t>
            </a:r>
            <a:r>
              <a:rPr spc="-75" dirty="0"/>
              <a:t> </a:t>
            </a:r>
            <a:r>
              <a:rPr spc="5" dirty="0"/>
              <a:t>itérations...</a:t>
            </a:r>
          </a:p>
        </p:txBody>
      </p:sp>
      <p:sp>
        <p:nvSpPr>
          <p:cNvPr id="3" name="object 3"/>
          <p:cNvSpPr/>
          <p:nvPr/>
        </p:nvSpPr>
        <p:spPr>
          <a:xfrm>
            <a:off x="363067" y="1782368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41" y="148831"/>
                </a:moveTo>
                <a:lnTo>
                  <a:pt x="155841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41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3080" y="2940900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54" y="148831"/>
                </a:moveTo>
                <a:lnTo>
                  <a:pt x="155854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54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71728" y="3418459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67" y="148844"/>
                </a:moveTo>
                <a:lnTo>
                  <a:pt x="155867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44"/>
                </a:lnTo>
                <a:lnTo>
                  <a:pt x="155867" y="1488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1753" y="4245927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79" y="148843"/>
                </a:moveTo>
                <a:lnTo>
                  <a:pt x="155879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43"/>
                </a:lnTo>
                <a:lnTo>
                  <a:pt x="155879" y="148843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1739" y="1629198"/>
            <a:ext cx="9260840" cy="320421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155575">
              <a:lnSpc>
                <a:spcPts val="2750"/>
              </a:lnSpc>
              <a:spcBef>
                <a:spcPts val="310"/>
              </a:spcBef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Lorsque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l’on 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veut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répéter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plusieurs fois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un même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traitement,</a:t>
            </a:r>
            <a:r>
              <a:rPr sz="24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plutôt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de </a:t>
            </a:r>
            <a:r>
              <a:rPr sz="2400" spc="-5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copier 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n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fois la 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ou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les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instructions, 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on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peut demander à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l’ordinateur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 d’éxecuter</a:t>
            </a:r>
            <a:r>
              <a:rPr sz="2400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 fois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un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morceau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Il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existe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deux</a:t>
            </a:r>
            <a:r>
              <a:rPr sz="24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grandes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catégories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d’itérations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421005" marR="5080" indent="-1270">
              <a:lnSpc>
                <a:spcPct val="128200"/>
              </a:lnSpc>
              <a:spcBef>
                <a:spcPts val="200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Les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itérations</a:t>
            </a:r>
            <a:r>
              <a:rPr sz="2300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déterministes</a:t>
            </a: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nombre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boucles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est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-35" dirty="0">
                <a:solidFill>
                  <a:srgbClr val="231F20"/>
                </a:solidFill>
                <a:latin typeface="Times New Roman"/>
                <a:cs typeface="Times New Roman"/>
              </a:rPr>
              <a:t>défini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à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l’entrée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 </a:t>
            </a:r>
            <a:r>
              <a:rPr sz="2300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la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boucle</a:t>
            </a:r>
            <a:endParaRPr sz="2300">
              <a:latin typeface="Times New Roman"/>
              <a:cs typeface="Times New Roman"/>
            </a:endParaRPr>
          </a:p>
          <a:p>
            <a:pPr marL="419734" marR="594360">
              <a:lnSpc>
                <a:spcPct val="100000"/>
              </a:lnSpc>
              <a:spcBef>
                <a:spcPts val="220"/>
              </a:spcBef>
            </a:pP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les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itérations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indéterministes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l’exécution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la prochaine</a:t>
            </a:r>
            <a:r>
              <a:rPr sz="2300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boucle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est </a:t>
            </a:r>
            <a:r>
              <a:rPr sz="2300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conditionnée</a:t>
            </a:r>
            <a:r>
              <a:rPr sz="2300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par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une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expression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booléenne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8" y="578918"/>
            <a:ext cx="6038215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Les</a:t>
            </a:r>
            <a:r>
              <a:rPr spc="-30" dirty="0"/>
              <a:t> </a:t>
            </a:r>
            <a:r>
              <a:rPr spc="10" dirty="0"/>
              <a:t>itérations</a:t>
            </a:r>
            <a:r>
              <a:rPr spc="-35" dirty="0"/>
              <a:t> </a:t>
            </a:r>
            <a:r>
              <a:rPr spc="10" dirty="0"/>
              <a:t>déterministes...</a:t>
            </a:r>
          </a:p>
        </p:txBody>
      </p:sp>
      <p:sp>
        <p:nvSpPr>
          <p:cNvPr id="3" name="object 3"/>
          <p:cNvSpPr/>
          <p:nvPr/>
        </p:nvSpPr>
        <p:spPr>
          <a:xfrm>
            <a:off x="363067" y="1782368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41" y="148831"/>
                </a:moveTo>
                <a:lnTo>
                  <a:pt x="155841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41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92033" y="1629198"/>
            <a:ext cx="9264015" cy="375348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310"/>
              </a:spcBef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Il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existe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une seule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instruction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permettant de 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faire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des boucles déterministes, </a:t>
            </a:r>
            <a:r>
              <a:rPr sz="2400" spc="-5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c’est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l’instruction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50" spc="5" dirty="0">
                <a:solidFill>
                  <a:srgbClr val="231F20"/>
                </a:solidFill>
                <a:latin typeface="Courier New"/>
                <a:cs typeface="Courier New"/>
              </a:rPr>
              <a:t>pour</a:t>
            </a:r>
            <a:endParaRPr sz="23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Sa</a:t>
            </a:r>
            <a:r>
              <a:rPr sz="24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syntaxe</a:t>
            </a:r>
            <a:r>
              <a:rPr sz="24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est</a:t>
            </a:r>
            <a:r>
              <a:rPr sz="24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0"/>
              </a:spcBef>
            </a:pPr>
            <a:r>
              <a:rPr sz="21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pour</a:t>
            </a:r>
            <a:r>
              <a:rPr sz="2100" b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identifiant</a:t>
            </a:r>
            <a:r>
              <a:rPr sz="210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d’une</a:t>
            </a:r>
            <a:r>
              <a:rPr sz="2100" i="1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variable</a:t>
            </a:r>
            <a:r>
              <a:rPr sz="2100" i="1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de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type</a:t>
            </a:r>
            <a:r>
              <a:rPr sz="2100" i="1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scalaire</a:t>
            </a:r>
            <a:r>
              <a:rPr sz="2100" i="1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25" dirty="0">
                <a:solidFill>
                  <a:srgbClr val="231F20"/>
                </a:solidFill>
                <a:latin typeface="Lucida Sans Unicode"/>
                <a:cs typeface="Lucida Sans Unicode"/>
              </a:rPr>
              <a:t>←</a:t>
            </a:r>
            <a:r>
              <a:rPr sz="2100" i="1" spc="25" dirty="0">
                <a:solidFill>
                  <a:srgbClr val="231F20"/>
                </a:solidFill>
                <a:latin typeface="Times New Roman"/>
                <a:cs typeface="Times New Roman"/>
              </a:rPr>
              <a:t>valeur</a:t>
            </a:r>
            <a:r>
              <a:rPr sz="210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10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r>
              <a:rPr sz="210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à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valeur</a:t>
            </a:r>
            <a:r>
              <a:rPr sz="210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de </a:t>
            </a:r>
            <a:r>
              <a:rPr sz="2100" i="1" spc="-75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100" b="1" dirty="0">
                <a:solidFill>
                  <a:srgbClr val="231F20"/>
                </a:solidFill>
                <a:latin typeface="Times New Roman"/>
                <a:cs typeface="Times New Roman"/>
              </a:rPr>
              <a:t>faire</a:t>
            </a:r>
            <a:endParaRPr sz="21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595"/>
              </a:spcBef>
            </a:pP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instructions</a:t>
            </a:r>
            <a:r>
              <a:rPr sz="2100" i="1" spc="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à </a:t>
            </a:r>
            <a:r>
              <a:rPr sz="2100" i="1" dirty="0">
                <a:solidFill>
                  <a:srgbClr val="231F20"/>
                </a:solidFill>
                <a:latin typeface="Times New Roman"/>
                <a:cs typeface="Times New Roman"/>
              </a:rPr>
              <a:t>exécuter 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à</a:t>
            </a:r>
            <a:r>
              <a:rPr sz="21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dirty="0">
                <a:solidFill>
                  <a:srgbClr val="231F20"/>
                </a:solidFill>
                <a:latin typeface="Times New Roman"/>
                <a:cs typeface="Times New Roman"/>
              </a:rPr>
              <a:t>chaque</a:t>
            </a:r>
            <a:r>
              <a:rPr sz="2100" i="1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boucle</a:t>
            </a:r>
            <a:endParaRPr sz="2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100" b="1" spc="-7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r>
              <a:rPr sz="2100" b="1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pour</a:t>
            </a:r>
            <a:endParaRPr sz="2100">
              <a:latin typeface="Times New Roman"/>
              <a:cs typeface="Times New Roman"/>
            </a:endParaRPr>
          </a:p>
          <a:p>
            <a:pPr marL="12700" marR="189865">
              <a:lnSpc>
                <a:spcPts val="3320"/>
              </a:lnSpc>
              <a:spcBef>
                <a:spcPts val="400"/>
              </a:spcBef>
            </a:pP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dans</a:t>
            </a:r>
            <a:r>
              <a:rPr sz="28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ce cas</a:t>
            </a:r>
            <a:r>
              <a:rPr sz="28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la </a:t>
            </a:r>
            <a:r>
              <a:rPr sz="2800" spc="-15" dirty="0">
                <a:solidFill>
                  <a:srgbClr val="231F20"/>
                </a:solidFill>
                <a:latin typeface="Times New Roman"/>
                <a:cs typeface="Times New Roman"/>
              </a:rPr>
              <a:t>variable</a:t>
            </a:r>
            <a:r>
              <a:rPr sz="28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utilisée</a:t>
            </a:r>
            <a:r>
              <a:rPr sz="28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prend</a:t>
            </a:r>
            <a:r>
              <a:rPr sz="2800" spc="-15" dirty="0">
                <a:solidFill>
                  <a:srgbClr val="231F20"/>
                </a:solidFill>
                <a:latin typeface="Times New Roman"/>
                <a:cs typeface="Times New Roman"/>
              </a:rPr>
              <a:t> successivement</a:t>
            </a:r>
            <a:r>
              <a:rPr sz="28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les</a:t>
            </a:r>
            <a:r>
              <a:rPr sz="28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231F20"/>
                </a:solidFill>
                <a:latin typeface="Times New Roman"/>
                <a:cs typeface="Times New Roman"/>
              </a:rPr>
              <a:t>valeurs </a:t>
            </a:r>
            <a:r>
              <a:rPr sz="2800" spc="-6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comprises</a:t>
            </a:r>
            <a:r>
              <a:rPr sz="280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entre </a:t>
            </a:r>
            <a:r>
              <a:rPr sz="28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valeur</a:t>
            </a:r>
            <a:r>
              <a:rPr sz="28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de </a:t>
            </a:r>
            <a:r>
              <a:rPr sz="2800" i="1" spc="-15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r>
              <a:rPr sz="2800" i="1" spc="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231F20"/>
                </a:solidFill>
                <a:latin typeface="Times New Roman"/>
                <a:cs typeface="Times New Roman"/>
              </a:rPr>
              <a:t>et </a:t>
            </a:r>
            <a:r>
              <a:rPr sz="28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valeur</a:t>
            </a:r>
            <a:r>
              <a:rPr sz="280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de</a:t>
            </a:r>
            <a:r>
              <a:rPr sz="280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800" i="1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3080" y="2591066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54" y="148831"/>
                </a:moveTo>
                <a:lnTo>
                  <a:pt x="155854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54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63093" y="4711763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67" y="148831"/>
                </a:moveTo>
                <a:lnTo>
                  <a:pt x="155867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67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8" y="578918"/>
            <a:ext cx="2221865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Exemple...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340" y="1570100"/>
            <a:ext cx="8740140" cy="475107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0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Nom</a:t>
            </a:r>
            <a:r>
              <a:rPr sz="230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somme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Rôle</a:t>
            </a: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5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Calculer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la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somme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des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n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premiers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entiers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positifs,</a:t>
            </a:r>
            <a:r>
              <a:rPr sz="2300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75" dirty="0">
                <a:solidFill>
                  <a:srgbClr val="231F20"/>
                </a:solidFill>
                <a:latin typeface="Times New Roman"/>
                <a:cs typeface="Times New Roman"/>
              </a:rPr>
              <a:t>s=0+1+2+...</a:t>
            </a:r>
            <a:r>
              <a:rPr sz="2300" spc="-2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+n</a:t>
            </a:r>
            <a:endParaRPr sz="2300">
              <a:latin typeface="Times New Roman"/>
              <a:cs typeface="Times New Roman"/>
            </a:endParaRPr>
          </a:p>
          <a:p>
            <a:pPr marL="13335" marR="5678805" indent="-635">
              <a:lnSpc>
                <a:spcPct val="120500"/>
              </a:lnSpc>
              <a:spcBef>
                <a:spcPts val="5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Entrée</a:t>
            </a:r>
            <a:r>
              <a:rPr sz="230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Naturel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Sortie</a:t>
            </a:r>
            <a:r>
              <a:rPr sz="23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4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Naturel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 Déclaration</a:t>
            </a:r>
            <a:r>
              <a:rPr sz="2300" b="1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Naturel </a:t>
            </a:r>
            <a:r>
              <a:rPr sz="2300" b="1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endParaRPr sz="2300">
              <a:latin typeface="Times New Roman"/>
              <a:cs typeface="Times New Roman"/>
            </a:endParaRPr>
          </a:p>
          <a:p>
            <a:pPr marL="365760">
              <a:lnSpc>
                <a:spcPct val="100000"/>
              </a:lnSpc>
              <a:spcBef>
                <a:spcPts val="560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sz="23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-6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0</a:t>
            </a:r>
            <a:endParaRPr sz="2300">
              <a:latin typeface="Times New Roman"/>
              <a:cs typeface="Times New Roman"/>
            </a:endParaRPr>
          </a:p>
          <a:p>
            <a:pPr marL="366395">
              <a:lnSpc>
                <a:spcPct val="100000"/>
              </a:lnSpc>
              <a:spcBef>
                <a:spcPts val="570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pour</a:t>
            </a:r>
            <a:r>
              <a:rPr sz="230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i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2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0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à</a:t>
            </a:r>
            <a:r>
              <a:rPr sz="23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faire</a:t>
            </a:r>
            <a:endParaRPr sz="2300">
              <a:latin typeface="Times New Roman"/>
              <a:cs typeface="Times New Roman"/>
            </a:endParaRPr>
          </a:p>
          <a:p>
            <a:pPr marL="718185">
              <a:lnSpc>
                <a:spcPct val="100000"/>
              </a:lnSpc>
              <a:spcBef>
                <a:spcPts val="560"/>
              </a:spcBef>
            </a:pP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s</a:t>
            </a:r>
            <a:r>
              <a:rPr sz="23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s+i</a:t>
            </a:r>
            <a:endParaRPr sz="23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775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r>
              <a:rPr sz="2300" b="1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pour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8" y="578918"/>
            <a:ext cx="6437630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Les</a:t>
            </a:r>
            <a:r>
              <a:rPr spc="-25" dirty="0"/>
              <a:t> </a:t>
            </a:r>
            <a:r>
              <a:rPr spc="10" dirty="0"/>
              <a:t>itérations</a:t>
            </a:r>
            <a:r>
              <a:rPr spc="-35" dirty="0"/>
              <a:t> </a:t>
            </a:r>
            <a:r>
              <a:rPr spc="10" dirty="0"/>
              <a:t>indéterministes...</a:t>
            </a:r>
          </a:p>
        </p:txBody>
      </p:sp>
      <p:sp>
        <p:nvSpPr>
          <p:cNvPr id="3" name="object 3"/>
          <p:cNvSpPr/>
          <p:nvPr/>
        </p:nvSpPr>
        <p:spPr>
          <a:xfrm>
            <a:off x="363067" y="1782368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41" y="148831"/>
                </a:moveTo>
                <a:lnTo>
                  <a:pt x="155841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41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71702" y="2234057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54" y="148831"/>
                </a:moveTo>
                <a:lnTo>
                  <a:pt x="155854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54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62799" y="3913123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54" y="148844"/>
                </a:moveTo>
                <a:lnTo>
                  <a:pt x="155854" y="0"/>
                </a:lnTo>
                <a:lnTo>
                  <a:pt x="0" y="0"/>
                </a:lnTo>
                <a:lnTo>
                  <a:pt x="0" y="74422"/>
                </a:lnTo>
                <a:lnTo>
                  <a:pt x="0" y="148844"/>
                </a:lnTo>
                <a:lnTo>
                  <a:pt x="155854" y="148844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92046" y="1531843"/>
            <a:ext cx="9412605" cy="501967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La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boucle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s'exécutera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jusqu'à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ce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l'expression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booléenne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devienne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fausse.</a:t>
            </a:r>
            <a:endParaRPr sz="240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775"/>
              </a:spcBef>
            </a:pP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L’instruction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tant</a:t>
            </a:r>
            <a:r>
              <a:rPr sz="230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endParaRPr sz="230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555"/>
              </a:spcBef>
            </a:pP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tant</a:t>
            </a:r>
            <a:r>
              <a:rPr sz="21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r>
              <a:rPr sz="2100" b="1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i="1" spc="-5" dirty="0">
                <a:solidFill>
                  <a:srgbClr val="231F20"/>
                </a:solidFill>
                <a:latin typeface="Times New Roman"/>
                <a:cs typeface="Times New Roman"/>
              </a:rPr>
              <a:t>expression</a:t>
            </a: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 booléenne</a:t>
            </a:r>
            <a:r>
              <a:rPr sz="2100" i="1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231F20"/>
                </a:solidFill>
                <a:latin typeface="Times New Roman"/>
                <a:cs typeface="Times New Roman"/>
              </a:rPr>
              <a:t>faire</a:t>
            </a:r>
            <a:endParaRPr sz="2100">
              <a:latin typeface="Times New Roman"/>
              <a:cs typeface="Times New Roman"/>
            </a:endParaRPr>
          </a:p>
          <a:p>
            <a:pPr marL="770890">
              <a:lnSpc>
                <a:spcPct val="100000"/>
              </a:lnSpc>
              <a:spcBef>
                <a:spcPts val="600"/>
              </a:spcBef>
            </a:pPr>
            <a:r>
              <a:rPr sz="2100" i="1" spc="5" dirty="0">
                <a:solidFill>
                  <a:srgbClr val="231F20"/>
                </a:solidFill>
                <a:latin typeface="Times New Roman"/>
                <a:cs typeface="Times New Roman"/>
              </a:rPr>
              <a:t>instructions</a:t>
            </a:r>
            <a:endParaRPr sz="2100">
              <a:latin typeface="Times New Roman"/>
              <a:cs typeface="Times New Roman"/>
            </a:endParaRPr>
          </a:p>
          <a:p>
            <a:pPr marL="419734">
              <a:lnSpc>
                <a:spcPct val="100000"/>
              </a:lnSpc>
              <a:spcBef>
                <a:spcPts val="800"/>
              </a:spcBef>
            </a:pPr>
            <a:r>
              <a:rPr sz="2100" b="1" spc="-7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r>
              <a:rPr sz="210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tant</a:t>
            </a:r>
            <a:r>
              <a:rPr sz="210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endParaRPr sz="2100">
              <a:latin typeface="Times New Roman"/>
              <a:cs typeface="Times New Roman"/>
            </a:endParaRPr>
          </a:p>
          <a:p>
            <a:pPr marL="829944" marR="696595" indent="-635">
              <a:lnSpc>
                <a:spcPts val="3750"/>
              </a:lnSpc>
              <a:spcBef>
                <a:spcPts val="270"/>
              </a:spcBef>
            </a:pP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Ce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 qui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-20" dirty="0">
                <a:solidFill>
                  <a:srgbClr val="231F20"/>
                </a:solidFill>
                <a:latin typeface="Times New Roman"/>
                <a:cs typeface="Times New Roman"/>
              </a:rPr>
              <a:t>signifie: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 "tant</a:t>
            </a:r>
            <a:r>
              <a:rPr sz="2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r>
              <a:rPr sz="21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31F20"/>
                </a:solidFill>
                <a:latin typeface="Times New Roman"/>
                <a:cs typeface="Times New Roman"/>
              </a:rPr>
              <a:t>l’expression</a:t>
            </a:r>
            <a:r>
              <a:rPr sz="21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booléenne</a:t>
            </a:r>
            <a:r>
              <a:rPr sz="21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est</a:t>
            </a:r>
            <a:r>
              <a:rPr sz="2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vraie,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on</a:t>
            </a:r>
            <a:r>
              <a:rPr sz="21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231F20"/>
                </a:solidFill>
                <a:latin typeface="Times New Roman"/>
                <a:cs typeface="Times New Roman"/>
              </a:rPr>
              <a:t>exécute</a:t>
            </a:r>
            <a:r>
              <a:rPr sz="21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les </a:t>
            </a:r>
            <a:r>
              <a:rPr sz="2100" spc="-509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100" spc="5" dirty="0">
                <a:solidFill>
                  <a:srgbClr val="231F20"/>
                </a:solidFill>
                <a:latin typeface="Times New Roman"/>
                <a:cs typeface="Times New Roman"/>
              </a:rPr>
              <a:t>instructions".</a:t>
            </a: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>
              <a:latin typeface="Times New Roman"/>
              <a:cs typeface="Times New Roman"/>
            </a:endParaRPr>
          </a:p>
          <a:p>
            <a:pPr marL="31750" marR="340995">
              <a:lnSpc>
                <a:spcPct val="103699"/>
              </a:lnSpc>
            </a:pP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Si 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vous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ne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voulez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pas 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que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votre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algorithme “tourne” indéfiniment, 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l’expression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booléenne doit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faire intervenir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des </a:t>
            </a:r>
            <a:r>
              <a:rPr sz="2400" spc="-10" dirty="0">
                <a:solidFill>
                  <a:srgbClr val="231F20"/>
                </a:solidFill>
                <a:latin typeface="Times New Roman"/>
                <a:cs typeface="Times New Roman"/>
              </a:rPr>
              <a:t>variables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dont le 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contenu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 doit</a:t>
            </a:r>
            <a:r>
              <a:rPr sz="24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être</a:t>
            </a:r>
            <a:r>
              <a:rPr sz="24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modifié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par,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au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moins,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une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des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instructions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du</a:t>
            </a:r>
            <a:r>
              <a:rPr sz="24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corps</a:t>
            </a:r>
            <a:r>
              <a:rPr sz="240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de la</a:t>
            </a:r>
            <a:r>
              <a:rPr sz="24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231F20"/>
                </a:solidFill>
                <a:latin typeface="Times New Roman"/>
                <a:cs typeface="Times New Roman"/>
              </a:rPr>
              <a:t>boucle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53783" y="6849881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10" h="149225">
                <a:moveTo>
                  <a:pt x="155854" y="148831"/>
                </a:moveTo>
                <a:lnTo>
                  <a:pt x="155854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54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96754" y="5532651"/>
            <a:ext cx="156210" cy="149225"/>
          </a:xfrm>
          <a:custGeom>
            <a:avLst/>
            <a:gdLst/>
            <a:ahLst/>
            <a:cxnLst/>
            <a:rect l="l" t="t" r="r" b="b"/>
            <a:pathLst>
              <a:path w="156209" h="149225">
                <a:moveTo>
                  <a:pt x="155854" y="148831"/>
                </a:moveTo>
                <a:lnTo>
                  <a:pt x="155854" y="0"/>
                </a:lnTo>
                <a:lnTo>
                  <a:pt x="0" y="0"/>
                </a:lnTo>
                <a:lnTo>
                  <a:pt x="0" y="74409"/>
                </a:lnTo>
                <a:lnTo>
                  <a:pt x="0" y="148831"/>
                </a:lnTo>
                <a:lnTo>
                  <a:pt x="155854" y="148831"/>
                </a:lnTo>
                <a:close/>
              </a:path>
            </a:pathLst>
          </a:custGeom>
          <a:solidFill>
            <a:srgbClr val="6666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058" y="1341551"/>
            <a:ext cx="4582795" cy="50800"/>
          </a:xfrm>
          <a:custGeom>
            <a:avLst/>
            <a:gdLst/>
            <a:ahLst/>
            <a:cxnLst/>
            <a:rect l="l" t="t" r="r" b="b"/>
            <a:pathLst>
              <a:path w="4582795" h="50800">
                <a:moveTo>
                  <a:pt x="0" y="50520"/>
                </a:moveTo>
                <a:lnTo>
                  <a:pt x="4582541" y="50520"/>
                </a:lnTo>
                <a:lnTo>
                  <a:pt x="4582541" y="0"/>
                </a:lnTo>
                <a:lnTo>
                  <a:pt x="0" y="0"/>
                </a:lnTo>
                <a:lnTo>
                  <a:pt x="0" y="50520"/>
                </a:lnTo>
                <a:close/>
              </a:path>
            </a:pathLst>
          </a:custGeom>
          <a:solidFill>
            <a:srgbClr val="9999B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60071" y="1341551"/>
            <a:ext cx="9685655" cy="50800"/>
            <a:chOff x="60071" y="1341551"/>
            <a:chExt cx="9685655" cy="50800"/>
          </a:xfrm>
        </p:grpSpPr>
        <p:sp>
          <p:nvSpPr>
            <p:cNvPr id="4" name="object 4"/>
            <p:cNvSpPr/>
            <p:nvPr/>
          </p:nvSpPr>
          <p:spPr>
            <a:xfrm>
              <a:off x="9647631" y="1341551"/>
              <a:ext cx="97790" cy="50800"/>
            </a:xfrm>
            <a:custGeom>
              <a:avLst/>
              <a:gdLst/>
              <a:ahLst/>
              <a:cxnLst/>
              <a:rect l="l" t="t" r="r" b="b"/>
              <a:pathLst>
                <a:path w="97790" h="50800">
                  <a:moveTo>
                    <a:pt x="0" y="50520"/>
                  </a:moveTo>
                  <a:lnTo>
                    <a:pt x="97497" y="50520"/>
                  </a:lnTo>
                  <a:lnTo>
                    <a:pt x="97497" y="0"/>
                  </a:lnTo>
                  <a:lnTo>
                    <a:pt x="0" y="0"/>
                  </a:lnTo>
                  <a:lnTo>
                    <a:pt x="0" y="50520"/>
                  </a:lnTo>
                  <a:close/>
                </a:path>
              </a:pathLst>
            </a:custGeom>
            <a:solidFill>
              <a:srgbClr val="9999B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712629" y="1341551"/>
              <a:ext cx="33020" cy="50800"/>
            </a:xfrm>
            <a:custGeom>
              <a:avLst/>
              <a:gdLst/>
              <a:ahLst/>
              <a:cxnLst/>
              <a:rect l="l" t="t" r="r" b="b"/>
              <a:pathLst>
                <a:path w="33020" h="50800">
                  <a:moveTo>
                    <a:pt x="32499" y="50520"/>
                  </a:moveTo>
                  <a:lnTo>
                    <a:pt x="32499" y="0"/>
                  </a:lnTo>
                  <a:lnTo>
                    <a:pt x="0" y="0"/>
                  </a:lnTo>
                  <a:lnTo>
                    <a:pt x="0" y="50520"/>
                  </a:lnTo>
                  <a:lnTo>
                    <a:pt x="32499" y="5052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80130" y="1341551"/>
              <a:ext cx="33020" cy="50800"/>
            </a:xfrm>
            <a:custGeom>
              <a:avLst/>
              <a:gdLst/>
              <a:ahLst/>
              <a:cxnLst/>
              <a:rect l="l" t="t" r="r" b="b"/>
              <a:pathLst>
                <a:path w="33020" h="50800">
                  <a:moveTo>
                    <a:pt x="32499" y="50520"/>
                  </a:moveTo>
                  <a:lnTo>
                    <a:pt x="32499" y="0"/>
                  </a:lnTo>
                  <a:lnTo>
                    <a:pt x="0" y="0"/>
                  </a:lnTo>
                  <a:lnTo>
                    <a:pt x="0" y="50520"/>
                  </a:lnTo>
                  <a:lnTo>
                    <a:pt x="32499" y="50520"/>
                  </a:lnTo>
                  <a:close/>
                </a:path>
              </a:pathLst>
            </a:custGeom>
            <a:solidFill>
              <a:srgbClr val="FDFDF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47631" y="1341551"/>
              <a:ext cx="33020" cy="50800"/>
            </a:xfrm>
            <a:custGeom>
              <a:avLst/>
              <a:gdLst/>
              <a:ahLst/>
              <a:cxnLst/>
              <a:rect l="l" t="t" r="r" b="b"/>
              <a:pathLst>
                <a:path w="33020" h="50800">
                  <a:moveTo>
                    <a:pt x="32499" y="50520"/>
                  </a:moveTo>
                  <a:lnTo>
                    <a:pt x="32499" y="0"/>
                  </a:lnTo>
                  <a:lnTo>
                    <a:pt x="0" y="0"/>
                  </a:lnTo>
                  <a:lnTo>
                    <a:pt x="0" y="50520"/>
                  </a:lnTo>
                  <a:lnTo>
                    <a:pt x="32499" y="50520"/>
                  </a:lnTo>
                  <a:close/>
                </a:path>
              </a:pathLst>
            </a:custGeom>
            <a:solidFill>
              <a:srgbClr val="FCFC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071" y="1341551"/>
              <a:ext cx="9587560" cy="50520"/>
            </a:xfrm>
            <a:prstGeom prst="rect">
              <a:avLst/>
            </a:prstGeom>
          </p:spPr>
        </p:pic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93408" y="367329"/>
            <a:ext cx="2886075" cy="64071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15" dirty="0"/>
              <a:t>Un</a:t>
            </a:r>
            <a:r>
              <a:rPr spc="-40" dirty="0"/>
              <a:t> </a:t>
            </a:r>
            <a:r>
              <a:rPr spc="-5" dirty="0"/>
              <a:t>exemple...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10" name="object 10"/>
          <p:cNvSpPr txBox="1"/>
          <p:nvPr/>
        </p:nvSpPr>
        <p:spPr>
          <a:xfrm>
            <a:off x="112654" y="1359207"/>
            <a:ext cx="6318885" cy="607504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sz="2300" b="1" spc="20" dirty="0">
                <a:solidFill>
                  <a:srgbClr val="231F20"/>
                </a:solidFill>
                <a:latin typeface="Times New Roman"/>
                <a:cs typeface="Times New Roman"/>
              </a:rPr>
              <a:t>Nom</a:t>
            </a:r>
            <a:r>
              <a:rPr sz="230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14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-10" dirty="0">
                <a:solidFill>
                  <a:srgbClr val="231F20"/>
                </a:solidFill>
                <a:latin typeface="Times New Roman"/>
                <a:cs typeface="Times New Roman"/>
              </a:rPr>
              <a:t>invFact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Rôle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 :</a:t>
            </a:r>
            <a:r>
              <a:rPr sz="2300" b="1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Détermine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le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plus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grand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 entier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23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telque</a:t>
            </a:r>
            <a:r>
              <a:rPr sz="2300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e!</a:t>
            </a:r>
            <a:r>
              <a:rPr sz="2300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470" dirty="0">
                <a:solidFill>
                  <a:srgbClr val="231F20"/>
                </a:solidFill>
                <a:latin typeface="Microsoft Sans Serif"/>
                <a:cs typeface="Microsoft Sans Serif"/>
              </a:rPr>
              <a:t>≤</a:t>
            </a:r>
            <a:r>
              <a:rPr sz="2300" spc="-3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endParaRPr sz="2300">
              <a:latin typeface="Times New Roman"/>
              <a:cs typeface="Times New Roman"/>
            </a:endParaRPr>
          </a:p>
          <a:p>
            <a:pPr marL="12700" marR="2899410">
              <a:lnSpc>
                <a:spcPct val="123100"/>
              </a:lnSpc>
              <a:spcBef>
                <a:spcPts val="145"/>
              </a:spcBef>
            </a:pPr>
            <a:r>
              <a:rPr sz="2300" b="1" spc="15" dirty="0">
                <a:solidFill>
                  <a:srgbClr val="231F20"/>
                </a:solidFill>
                <a:latin typeface="Times New Roman"/>
                <a:cs typeface="Times New Roman"/>
              </a:rPr>
              <a:t>Entrée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n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Naturel </a:t>
            </a:r>
            <a:r>
              <a:rPr sz="2300" spc="470" dirty="0">
                <a:solidFill>
                  <a:srgbClr val="231F20"/>
                </a:solidFill>
                <a:latin typeface="Microsoft Sans Serif"/>
                <a:cs typeface="Microsoft Sans Serif"/>
              </a:rPr>
              <a:t>≥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1 </a:t>
            </a:r>
            <a:r>
              <a:rPr sz="2300" spc="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Sortie</a:t>
            </a:r>
            <a:r>
              <a:rPr sz="23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Naturel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 Déclaration</a:t>
            </a:r>
            <a:r>
              <a:rPr sz="230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b="1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fact</a:t>
            </a:r>
            <a:r>
              <a:rPr sz="23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2300" spc="1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Naturel </a:t>
            </a:r>
            <a:r>
              <a:rPr sz="2300" b="1" spc="-5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5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endParaRPr sz="23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565"/>
              </a:spcBef>
            </a:pP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fact</a:t>
            </a:r>
            <a:r>
              <a:rPr sz="2300" spc="-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570"/>
              </a:spcBef>
            </a:pP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23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-6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230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560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tant</a:t>
            </a:r>
            <a:r>
              <a:rPr sz="230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r>
              <a:rPr sz="2300" b="1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fact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470" dirty="0">
                <a:solidFill>
                  <a:srgbClr val="231F20"/>
                </a:solidFill>
                <a:latin typeface="Microsoft Sans Serif"/>
                <a:cs typeface="Microsoft Sans Serif"/>
              </a:rPr>
              <a:t>≤</a:t>
            </a:r>
            <a:r>
              <a:rPr sz="2300" spc="-45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sz="230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dirty="0">
                <a:solidFill>
                  <a:srgbClr val="231F20"/>
                </a:solidFill>
                <a:latin typeface="Times New Roman"/>
                <a:cs typeface="Times New Roman"/>
              </a:rPr>
              <a:t>faire</a:t>
            </a:r>
            <a:endParaRPr sz="2300">
              <a:latin typeface="Times New Roman"/>
              <a:cs typeface="Times New Roman"/>
            </a:endParaRPr>
          </a:p>
          <a:p>
            <a:pPr marL="715645">
              <a:lnSpc>
                <a:spcPct val="100000"/>
              </a:lnSpc>
              <a:spcBef>
                <a:spcPts val="575"/>
              </a:spcBef>
            </a:pP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2300" spc="-3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e+1</a:t>
            </a:r>
            <a:endParaRPr sz="2300">
              <a:latin typeface="Times New Roman"/>
              <a:cs typeface="Times New Roman"/>
            </a:endParaRPr>
          </a:p>
          <a:p>
            <a:pPr marL="715645">
              <a:lnSpc>
                <a:spcPct val="100000"/>
              </a:lnSpc>
              <a:spcBef>
                <a:spcPts val="575"/>
              </a:spcBef>
            </a:pP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fact</a:t>
            </a:r>
            <a:r>
              <a:rPr sz="2300" spc="-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5" dirty="0">
                <a:solidFill>
                  <a:srgbClr val="231F20"/>
                </a:solidFill>
                <a:latin typeface="Times New Roman"/>
                <a:cs typeface="Times New Roman"/>
              </a:rPr>
              <a:t>fact*e</a:t>
            </a:r>
            <a:endParaRPr sz="23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770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r>
              <a:rPr sz="230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tant</a:t>
            </a:r>
            <a:r>
              <a:rPr sz="230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endParaRPr sz="2300">
              <a:latin typeface="Times New Roman"/>
              <a:cs typeface="Times New Roman"/>
            </a:endParaRPr>
          </a:p>
          <a:p>
            <a:pPr marL="364490">
              <a:lnSpc>
                <a:spcPct val="100000"/>
              </a:lnSpc>
              <a:spcBef>
                <a:spcPts val="785"/>
              </a:spcBef>
            </a:pPr>
            <a:r>
              <a:rPr sz="2300" spc="15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2300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2300" spc="30" dirty="0">
                <a:solidFill>
                  <a:srgbClr val="231F20"/>
                </a:solidFill>
                <a:latin typeface="Microsoft Sans Serif"/>
                <a:cs typeface="Microsoft Sans Serif"/>
              </a:rPr>
              <a:t>←</a:t>
            </a:r>
            <a:r>
              <a:rPr sz="2300" spc="-60" dirty="0">
                <a:solidFill>
                  <a:srgbClr val="231F20"/>
                </a:solidFill>
                <a:latin typeface="Microsoft Sans Serif"/>
                <a:cs typeface="Microsoft Sans Serif"/>
              </a:rPr>
              <a:t> </a:t>
            </a:r>
            <a:r>
              <a:rPr sz="2300" spc="10" dirty="0">
                <a:solidFill>
                  <a:srgbClr val="231F20"/>
                </a:solidFill>
                <a:latin typeface="Times New Roman"/>
                <a:cs typeface="Times New Roman"/>
              </a:rPr>
              <a:t>e-1</a:t>
            </a: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2300" b="1" spc="1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2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968" y="578918"/>
            <a:ext cx="4999355" cy="640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pc="5" dirty="0"/>
              <a:t>Explication</a:t>
            </a:r>
            <a:r>
              <a:rPr spc="-25" dirty="0"/>
              <a:t> </a:t>
            </a:r>
            <a:r>
              <a:rPr spc="-20" dirty="0"/>
              <a:t>avec</a:t>
            </a:r>
            <a:r>
              <a:rPr spc="-30" dirty="0"/>
              <a:t> </a:t>
            </a:r>
            <a:r>
              <a:rPr spc="5" dirty="0"/>
              <a:t>n=10...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67143" y="1626387"/>
            <a:ext cx="4224655" cy="39344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Nom</a:t>
            </a:r>
            <a:r>
              <a:rPr sz="1550" b="1" spc="-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b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15" dirty="0">
                <a:solidFill>
                  <a:srgbClr val="231F20"/>
                </a:solidFill>
                <a:latin typeface="Times New Roman"/>
                <a:cs typeface="Times New Roman"/>
              </a:rPr>
              <a:t>invFact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5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Rôle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 :</a:t>
            </a:r>
            <a:r>
              <a:rPr sz="1550" b="1" spc="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Détermine</a:t>
            </a:r>
            <a:r>
              <a:rPr sz="1550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le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plus</a:t>
            </a:r>
            <a:r>
              <a:rPr sz="15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grand entier</a:t>
            </a:r>
            <a:r>
              <a:rPr sz="15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15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telque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e!</a:t>
            </a:r>
            <a:r>
              <a:rPr sz="1550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50" dirty="0">
                <a:solidFill>
                  <a:srgbClr val="231F20"/>
                </a:solidFill>
                <a:latin typeface="Lucida Sans Unicode"/>
                <a:cs typeface="Lucida Sans Unicode"/>
              </a:rPr>
              <a:t>≤</a:t>
            </a:r>
            <a:r>
              <a:rPr sz="1550" spc="-105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endParaRPr sz="1550" dirty="0">
              <a:latin typeface="Times New Roman"/>
              <a:cs typeface="Times New Roman"/>
            </a:endParaRPr>
          </a:p>
          <a:p>
            <a:pPr marL="12700" marR="1941195">
              <a:lnSpc>
                <a:spcPct val="117100"/>
              </a:lnSpc>
            </a:pPr>
            <a:r>
              <a:rPr sz="15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Entrée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: </a:t>
            </a:r>
            <a:r>
              <a:rPr sz="1550" spc="190" dirty="0">
                <a:solidFill>
                  <a:srgbClr val="231F20"/>
                </a:solidFill>
                <a:latin typeface="Times New Roman"/>
                <a:cs typeface="Times New Roman"/>
              </a:rPr>
              <a:t>n: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Naturel</a:t>
            </a:r>
            <a:r>
              <a:rPr sz="1550" dirty="0">
                <a:solidFill>
                  <a:srgbClr val="231F20"/>
                </a:solidFill>
                <a:latin typeface="Lucida Sans Unicode"/>
                <a:cs typeface="Lucida Sans Unicode"/>
              </a:rPr>
              <a:t>≥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1 </a:t>
            </a:r>
            <a:r>
              <a:rPr sz="1550" spc="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Sortie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: </a:t>
            </a:r>
            <a:r>
              <a:rPr sz="1550" spc="190" dirty="0">
                <a:solidFill>
                  <a:srgbClr val="231F20"/>
                </a:solidFill>
                <a:latin typeface="Times New Roman"/>
                <a:cs typeface="Times New Roman"/>
              </a:rPr>
              <a:t>e: </a:t>
            </a:r>
            <a:r>
              <a:rPr sz="1550" b="1" spc="-10" dirty="0">
                <a:solidFill>
                  <a:srgbClr val="231F20"/>
                </a:solidFill>
                <a:latin typeface="Times New Roman"/>
                <a:cs typeface="Times New Roman"/>
              </a:rPr>
              <a:t>Naturel </a:t>
            </a:r>
            <a:r>
              <a:rPr sz="1550" b="1" spc="-5" dirty="0">
                <a:solidFill>
                  <a:srgbClr val="231F20"/>
                </a:solidFill>
                <a:latin typeface="Times New Roman"/>
                <a:cs typeface="Times New Roman"/>
              </a:rPr>
              <a:t> Déclaration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 :</a:t>
            </a:r>
            <a:r>
              <a:rPr sz="1550" b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fact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:</a:t>
            </a:r>
            <a:r>
              <a:rPr sz="1550" spc="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231F20"/>
                </a:solidFill>
                <a:latin typeface="Times New Roman"/>
                <a:cs typeface="Times New Roman"/>
              </a:rPr>
              <a:t>Naturel </a:t>
            </a:r>
            <a:r>
              <a:rPr sz="1550" b="1" spc="-3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231F20"/>
                </a:solidFill>
                <a:latin typeface="Times New Roman"/>
                <a:cs typeface="Times New Roman"/>
              </a:rPr>
              <a:t>début</a:t>
            </a:r>
            <a:endParaRPr sz="1550" dirty="0">
              <a:latin typeface="Times New Roman"/>
              <a:cs typeface="Times New Roman"/>
            </a:endParaRPr>
          </a:p>
          <a:p>
            <a:pPr marL="363220">
              <a:lnSpc>
                <a:spcPct val="100000"/>
              </a:lnSpc>
              <a:spcBef>
                <a:spcPts val="320"/>
              </a:spcBef>
            </a:pP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fac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195" dirty="0">
                <a:solidFill>
                  <a:srgbClr val="231F20"/>
                </a:solidFill>
                <a:latin typeface="Lucida Sans Unicode"/>
                <a:cs typeface="Lucida Sans Unicode"/>
              </a:rPr>
              <a:t>←</a:t>
            </a:r>
            <a:r>
              <a:rPr sz="1550" spc="-105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1550" dirty="0">
              <a:latin typeface="Times New Roman"/>
              <a:cs typeface="Times New Roman"/>
            </a:endParaRPr>
          </a:p>
          <a:p>
            <a:pPr marL="363220">
              <a:lnSpc>
                <a:spcPct val="100000"/>
              </a:lnSpc>
              <a:spcBef>
                <a:spcPts val="315"/>
              </a:spcBef>
            </a:pP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195" dirty="0">
                <a:solidFill>
                  <a:srgbClr val="231F20"/>
                </a:solidFill>
                <a:latin typeface="Lucida Sans Unicode"/>
                <a:cs typeface="Lucida Sans Unicode"/>
              </a:rPr>
              <a:t>←</a:t>
            </a:r>
            <a:r>
              <a:rPr sz="1550" spc="-105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1</a:t>
            </a:r>
            <a:endParaRPr sz="1550" dirty="0">
              <a:latin typeface="Times New Roman"/>
              <a:cs typeface="Times New Roman"/>
            </a:endParaRPr>
          </a:p>
          <a:p>
            <a:pPr marL="363220">
              <a:lnSpc>
                <a:spcPct val="100000"/>
              </a:lnSpc>
              <a:spcBef>
                <a:spcPts val="320"/>
              </a:spcBef>
            </a:pP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tant</a:t>
            </a:r>
            <a:r>
              <a:rPr sz="1550" b="1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r>
              <a:rPr sz="1550" b="1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fact </a:t>
            </a:r>
            <a:r>
              <a:rPr sz="1550" spc="50" dirty="0">
                <a:solidFill>
                  <a:srgbClr val="231F20"/>
                </a:solidFill>
                <a:latin typeface="Lucida Sans Unicode"/>
                <a:cs typeface="Lucida Sans Unicode"/>
              </a:rPr>
              <a:t>≤</a:t>
            </a:r>
            <a:r>
              <a:rPr sz="1550" spc="-110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n</a:t>
            </a:r>
            <a:r>
              <a:rPr sz="1550" spc="-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spc="-10" dirty="0">
                <a:solidFill>
                  <a:srgbClr val="231F20"/>
                </a:solidFill>
                <a:latin typeface="Times New Roman"/>
                <a:cs typeface="Times New Roman"/>
              </a:rPr>
              <a:t>faire</a:t>
            </a:r>
            <a:endParaRPr sz="1550" dirty="0">
              <a:latin typeface="Times New Roman"/>
              <a:cs typeface="Times New Roman"/>
            </a:endParaRPr>
          </a:p>
          <a:p>
            <a:pPr marL="715010">
              <a:lnSpc>
                <a:spcPct val="100000"/>
              </a:lnSpc>
              <a:spcBef>
                <a:spcPts val="320"/>
              </a:spcBef>
            </a:pP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195" dirty="0">
                <a:solidFill>
                  <a:srgbClr val="231F20"/>
                </a:solidFill>
                <a:latin typeface="Lucida Sans Unicode"/>
                <a:cs typeface="Lucida Sans Unicode"/>
              </a:rPr>
              <a:t>←</a:t>
            </a:r>
            <a:r>
              <a:rPr sz="1550" spc="-105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e+1</a:t>
            </a:r>
            <a:endParaRPr sz="1550" dirty="0">
              <a:latin typeface="Times New Roman"/>
              <a:cs typeface="Times New Roman"/>
            </a:endParaRPr>
          </a:p>
          <a:p>
            <a:pPr marL="715010">
              <a:lnSpc>
                <a:spcPct val="100000"/>
              </a:lnSpc>
              <a:spcBef>
                <a:spcPts val="315"/>
              </a:spcBef>
            </a:pP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fac</a:t>
            </a: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t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195" dirty="0">
                <a:solidFill>
                  <a:srgbClr val="231F20"/>
                </a:solidFill>
                <a:latin typeface="Lucida Sans Unicode"/>
                <a:cs typeface="Lucida Sans Unicode"/>
              </a:rPr>
              <a:t>←</a:t>
            </a:r>
            <a:r>
              <a:rPr sz="1550" spc="-105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fact*e</a:t>
            </a:r>
            <a:endParaRPr sz="1550" dirty="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459"/>
              </a:spcBef>
            </a:pPr>
            <a:r>
              <a:rPr sz="1550" b="1" spc="-3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r>
              <a:rPr sz="1550" b="1" spc="-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tant</a:t>
            </a:r>
            <a:r>
              <a:rPr sz="1550" b="1" spc="-2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b="1" dirty="0">
                <a:solidFill>
                  <a:srgbClr val="231F20"/>
                </a:solidFill>
                <a:latin typeface="Times New Roman"/>
                <a:cs typeface="Times New Roman"/>
              </a:rPr>
              <a:t>que</a:t>
            </a:r>
            <a:endParaRPr sz="1550" dirty="0">
              <a:latin typeface="Times New Roman"/>
              <a:cs typeface="Times New Roman"/>
            </a:endParaRPr>
          </a:p>
          <a:p>
            <a:pPr marL="363855">
              <a:lnSpc>
                <a:spcPct val="100000"/>
              </a:lnSpc>
              <a:spcBef>
                <a:spcPts val="459"/>
              </a:spcBef>
            </a:pPr>
            <a:r>
              <a:rPr sz="1550" dirty="0">
                <a:solidFill>
                  <a:srgbClr val="231F20"/>
                </a:solidFill>
                <a:latin typeface="Times New Roman"/>
                <a:cs typeface="Times New Roman"/>
              </a:rPr>
              <a:t>e</a:t>
            </a:r>
            <a:r>
              <a:rPr sz="1550" spc="-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1550" spc="195" dirty="0">
                <a:solidFill>
                  <a:srgbClr val="231F20"/>
                </a:solidFill>
                <a:latin typeface="Lucida Sans Unicode"/>
                <a:cs typeface="Lucida Sans Unicode"/>
              </a:rPr>
              <a:t>←</a:t>
            </a:r>
            <a:r>
              <a:rPr sz="1550" spc="-105" dirty="0">
                <a:solidFill>
                  <a:srgbClr val="231F20"/>
                </a:solidFill>
                <a:latin typeface="Lucida Sans Unicode"/>
                <a:cs typeface="Lucida Sans Unicode"/>
              </a:rPr>
              <a:t> </a:t>
            </a:r>
            <a:r>
              <a:rPr sz="1550" spc="-5" dirty="0">
                <a:solidFill>
                  <a:srgbClr val="231F20"/>
                </a:solidFill>
                <a:latin typeface="Times New Roman"/>
                <a:cs typeface="Times New Roman"/>
              </a:rPr>
              <a:t>e-1</a:t>
            </a:r>
            <a:endParaRPr sz="15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550" b="1" spc="-30" dirty="0">
                <a:solidFill>
                  <a:srgbClr val="231F20"/>
                </a:solidFill>
                <a:latin typeface="Times New Roman"/>
                <a:cs typeface="Times New Roman"/>
              </a:rPr>
              <a:t>fin</a:t>
            </a:r>
            <a:endParaRPr sz="155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405686" y="2805146"/>
          <a:ext cx="3809997" cy="342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04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576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94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4261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fact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fac</a:t>
                      </a: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t </a:t>
                      </a:r>
                      <a:r>
                        <a:rPr sz="1550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≤</a:t>
                      </a:r>
                      <a:r>
                        <a:rPr sz="1550" spc="-105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 </a:t>
                      </a: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405686" y="3206541"/>
          <a:ext cx="3809997" cy="30477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048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0355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576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59943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96075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342619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fact</a:t>
                      </a:r>
                      <a:r>
                        <a:rPr sz="1550" spc="-4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90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←</a:t>
                      </a:r>
                      <a:r>
                        <a:rPr sz="1550" spc="9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?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vrai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1186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55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90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←</a:t>
                      </a:r>
                      <a:r>
                        <a:rPr sz="1550" spc="9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vrai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73771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55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45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←</a:t>
                      </a:r>
                      <a:r>
                        <a:rPr sz="1550" spc="4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e+1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3670">
                        <a:lnSpc>
                          <a:spcPct val="100000"/>
                        </a:lnSpc>
                        <a:spcBef>
                          <a:spcPts val="760"/>
                        </a:spcBef>
                      </a:pPr>
                      <a:r>
                        <a:rPr sz="15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fact</a:t>
                      </a:r>
                      <a:r>
                        <a:rPr sz="155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20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←</a:t>
                      </a:r>
                      <a:r>
                        <a:rPr sz="1550" spc="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fact*e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vrai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75205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55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45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←</a:t>
                      </a:r>
                      <a:r>
                        <a:rPr sz="1550" spc="4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e+1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367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5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fact</a:t>
                      </a:r>
                      <a:r>
                        <a:rPr sz="155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20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←</a:t>
                      </a:r>
                      <a:r>
                        <a:rPr sz="1550" spc="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fact*e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55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vrai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73772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55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45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←</a:t>
                      </a:r>
                      <a:r>
                        <a:rPr sz="1550" spc="4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e+1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5367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155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fact</a:t>
                      </a:r>
                      <a:r>
                        <a:rPr sz="1550" spc="-3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20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←</a:t>
                      </a:r>
                      <a:r>
                        <a:rPr sz="1550" spc="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fact*e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24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faux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41186">
                <a:tc>
                  <a:txBody>
                    <a:bodyPr/>
                    <a:lstStyle/>
                    <a:p>
                      <a:pPr marL="1536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550" spc="-4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50" spc="40" dirty="0">
                          <a:solidFill>
                            <a:srgbClr val="231F20"/>
                          </a:solidFill>
                          <a:latin typeface="Lucida Sans Unicode"/>
                          <a:cs typeface="Lucida Sans Unicode"/>
                        </a:rPr>
                        <a:t>←</a:t>
                      </a:r>
                      <a:r>
                        <a:rPr sz="1550" spc="4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e-1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24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550" spc="-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faux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221E1F"/>
                      </a:solidFill>
                      <a:prstDash val="solid"/>
                    </a:lnL>
                    <a:lnR w="12700">
                      <a:solidFill>
                        <a:srgbClr val="221E1F"/>
                      </a:solidFill>
                      <a:prstDash val="solid"/>
                    </a:lnR>
                    <a:lnT w="12700">
                      <a:solidFill>
                        <a:srgbClr val="221E1F"/>
                      </a:solidFill>
                      <a:prstDash val="solid"/>
                    </a:lnT>
                    <a:lnB w="1270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20</a:t>
            </a:fld>
            <a:endParaRPr sz="155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0"/>
              </a:spcBef>
            </a:pPr>
            <a:r>
              <a:rPr dirty="0"/>
              <a:t>Partie</a:t>
            </a:r>
            <a:r>
              <a:rPr spc="-25" dirty="0"/>
              <a:t> </a:t>
            </a:r>
            <a:r>
              <a:rPr dirty="0"/>
              <a:t>3:</a:t>
            </a: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dirty="0"/>
              <a:t>Pseudo-code</a:t>
            </a:r>
            <a:r>
              <a:rPr spc="-5" dirty="0"/>
              <a:t> </a:t>
            </a:r>
            <a:r>
              <a:rPr dirty="0"/>
              <a:t>schématique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338" y="466598"/>
            <a:ext cx="52355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843025" y="2319782"/>
            <a:ext cx="7943215" cy="9645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9890" marR="5080" indent="-377825">
              <a:lnSpc>
                <a:spcPct val="101000"/>
              </a:lnSpc>
              <a:spcBef>
                <a:spcPts val="90"/>
              </a:spcBef>
              <a:buFont typeface="Wingdings"/>
              <a:buChar char=""/>
              <a:tabLst>
                <a:tab pos="389255" algn="l"/>
                <a:tab pos="390525" algn="l"/>
              </a:tabLst>
            </a:pPr>
            <a:r>
              <a:rPr sz="3050" spc="10" dirty="0">
                <a:latin typeface="Times New Roman"/>
                <a:cs typeface="Times New Roman"/>
              </a:rPr>
              <a:t>Nous </a:t>
            </a:r>
            <a:r>
              <a:rPr sz="3050" spc="5" dirty="0">
                <a:latin typeface="Times New Roman"/>
                <a:cs typeface="Times New Roman"/>
              </a:rPr>
              <a:t>décrirons </a:t>
            </a:r>
            <a:r>
              <a:rPr sz="3050" spc="10" dirty="0">
                <a:latin typeface="Times New Roman"/>
                <a:cs typeface="Times New Roman"/>
              </a:rPr>
              <a:t>les tâches à </a:t>
            </a:r>
            <a:r>
              <a:rPr sz="3050" spc="5" dirty="0">
                <a:latin typeface="Times New Roman"/>
                <a:cs typeface="Times New Roman"/>
              </a:rPr>
              <a:t>partir des opérations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élémentaires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suivantes: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486" y="3577082"/>
            <a:ext cx="5340350" cy="243649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80035" indent="-267970">
              <a:lnSpc>
                <a:spcPct val="100000"/>
              </a:lnSpc>
              <a:spcBef>
                <a:spcPts val="140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15" dirty="0">
                <a:latin typeface="Times New Roman"/>
                <a:cs typeface="Times New Roman"/>
              </a:rPr>
              <a:t>Lire</a:t>
            </a:r>
            <a:endParaRPr sz="2600">
              <a:latin typeface="Times New Roman"/>
              <a:cs typeface="Times New Roman"/>
            </a:endParaRPr>
          </a:p>
          <a:p>
            <a:pPr marL="280035" indent="-267970">
              <a:lnSpc>
                <a:spcPct val="100000"/>
              </a:lnSpc>
              <a:spcBef>
                <a:spcPts val="40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10" dirty="0">
                <a:latin typeface="Times New Roman"/>
                <a:cs typeface="Times New Roman"/>
              </a:rPr>
              <a:t>Écrire</a:t>
            </a:r>
            <a:endParaRPr sz="2600">
              <a:latin typeface="Times New Roman"/>
              <a:cs typeface="Times New Roman"/>
            </a:endParaRPr>
          </a:p>
          <a:p>
            <a:pPr marL="280035" indent="-267970">
              <a:lnSpc>
                <a:spcPct val="100000"/>
              </a:lnSpc>
              <a:spcBef>
                <a:spcPts val="45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25" dirty="0">
                <a:latin typeface="Times New Roman"/>
                <a:cs typeface="Times New Roman"/>
              </a:rPr>
              <a:t>TANT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QUE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condition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FAIRE</a:t>
            </a:r>
            <a:endParaRPr sz="2600">
              <a:latin typeface="Times New Roman"/>
              <a:cs typeface="Times New Roman"/>
            </a:endParaRPr>
          </a:p>
          <a:p>
            <a:pPr marL="280035" indent="-267970">
              <a:lnSpc>
                <a:spcPct val="100000"/>
              </a:lnSpc>
              <a:spcBef>
                <a:spcPts val="40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25" dirty="0">
                <a:latin typeface="Times New Roman"/>
                <a:cs typeface="Times New Roman"/>
              </a:rPr>
              <a:t>POUR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ensemble_de_données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FAIRE</a:t>
            </a:r>
            <a:endParaRPr sz="2600">
              <a:latin typeface="Times New Roman"/>
              <a:cs typeface="Times New Roman"/>
            </a:endParaRPr>
          </a:p>
          <a:p>
            <a:pPr marL="280035" indent="-267970">
              <a:lnSpc>
                <a:spcPct val="100000"/>
              </a:lnSpc>
              <a:spcBef>
                <a:spcPts val="45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15" dirty="0">
                <a:latin typeface="Times New Roman"/>
                <a:cs typeface="Times New Roman"/>
              </a:rPr>
              <a:t>SI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condition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ALORS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---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SINON</a:t>
            </a:r>
            <a:endParaRPr sz="2600">
              <a:latin typeface="Times New Roman"/>
              <a:cs typeface="Times New Roman"/>
            </a:endParaRPr>
          </a:p>
          <a:p>
            <a:pPr marL="280035" indent="-267970">
              <a:lnSpc>
                <a:spcPct val="100000"/>
              </a:lnSpc>
              <a:spcBef>
                <a:spcPts val="40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10" dirty="0">
                <a:latin typeface="Times New Roman"/>
                <a:cs typeface="Times New Roman"/>
              </a:rPr>
              <a:t>Affecter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=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78066" y="3577417"/>
            <a:ext cx="1911350" cy="16332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80035" indent="-267970">
              <a:lnSpc>
                <a:spcPct val="100000"/>
              </a:lnSpc>
              <a:spcBef>
                <a:spcPts val="140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10" dirty="0">
                <a:latin typeface="Times New Roman"/>
                <a:cs typeface="Times New Roman"/>
              </a:rPr>
              <a:t>Additionner</a:t>
            </a:r>
            <a:endParaRPr sz="2600">
              <a:latin typeface="Times New Roman"/>
              <a:cs typeface="Times New Roman"/>
            </a:endParaRPr>
          </a:p>
          <a:p>
            <a:pPr marL="280035" indent="-267970">
              <a:lnSpc>
                <a:spcPct val="100000"/>
              </a:lnSpc>
              <a:spcBef>
                <a:spcPts val="40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10" dirty="0">
                <a:latin typeface="Times New Roman"/>
                <a:cs typeface="Times New Roman"/>
              </a:rPr>
              <a:t>Soustraire</a:t>
            </a:r>
            <a:endParaRPr sz="2600">
              <a:latin typeface="Times New Roman"/>
              <a:cs typeface="Times New Roman"/>
            </a:endParaRPr>
          </a:p>
          <a:p>
            <a:pPr marL="280035" indent="-267970">
              <a:lnSpc>
                <a:spcPct val="100000"/>
              </a:lnSpc>
              <a:spcBef>
                <a:spcPts val="45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10" dirty="0">
                <a:latin typeface="Times New Roman"/>
                <a:cs typeface="Times New Roman"/>
              </a:rPr>
              <a:t>Multiplier</a:t>
            </a:r>
            <a:endParaRPr sz="2600">
              <a:latin typeface="Times New Roman"/>
              <a:cs typeface="Times New Roman"/>
            </a:endParaRPr>
          </a:p>
          <a:p>
            <a:pPr marL="280035" indent="-267970">
              <a:lnSpc>
                <a:spcPct val="100000"/>
              </a:lnSpc>
              <a:spcBef>
                <a:spcPts val="40"/>
              </a:spcBef>
              <a:buSzPct val="96153"/>
              <a:buFont typeface="Wingdings"/>
              <a:buChar char=""/>
              <a:tabLst>
                <a:tab pos="280670" algn="l"/>
              </a:tabLst>
            </a:pPr>
            <a:r>
              <a:rPr sz="2600" spc="10" dirty="0">
                <a:latin typeface="Times New Roman"/>
                <a:cs typeface="Times New Roman"/>
              </a:rPr>
              <a:t>Diviser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05840" y="6034277"/>
            <a:ext cx="7711440" cy="62865"/>
          </a:xfrm>
          <a:custGeom>
            <a:avLst/>
            <a:gdLst/>
            <a:ahLst/>
            <a:cxnLst/>
            <a:rect l="l" t="t" r="r" b="b"/>
            <a:pathLst>
              <a:path w="7711440" h="62864">
                <a:moveTo>
                  <a:pt x="7711440" y="25146"/>
                </a:moveTo>
                <a:lnTo>
                  <a:pt x="0" y="25146"/>
                </a:lnTo>
                <a:lnTo>
                  <a:pt x="0" y="62484"/>
                </a:lnTo>
                <a:lnTo>
                  <a:pt x="7711440" y="62484"/>
                </a:lnTo>
                <a:lnTo>
                  <a:pt x="7711440" y="25146"/>
                </a:lnTo>
                <a:close/>
              </a:path>
              <a:path w="7711440" h="62864">
                <a:moveTo>
                  <a:pt x="7711440" y="0"/>
                </a:moveTo>
                <a:lnTo>
                  <a:pt x="0" y="12"/>
                </a:lnTo>
                <a:lnTo>
                  <a:pt x="0" y="12192"/>
                </a:lnTo>
                <a:lnTo>
                  <a:pt x="7711440" y="12192"/>
                </a:lnTo>
                <a:lnTo>
                  <a:pt x="7711440" y="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05840" y="3352037"/>
            <a:ext cx="7711440" cy="62865"/>
          </a:xfrm>
          <a:custGeom>
            <a:avLst/>
            <a:gdLst/>
            <a:ahLst/>
            <a:cxnLst/>
            <a:rect l="l" t="t" r="r" b="b"/>
            <a:pathLst>
              <a:path w="7711440" h="62864">
                <a:moveTo>
                  <a:pt x="7711440" y="25146"/>
                </a:moveTo>
                <a:lnTo>
                  <a:pt x="0" y="25146"/>
                </a:lnTo>
                <a:lnTo>
                  <a:pt x="0" y="62484"/>
                </a:lnTo>
                <a:lnTo>
                  <a:pt x="7711440" y="62484"/>
                </a:lnTo>
                <a:lnTo>
                  <a:pt x="7711440" y="25146"/>
                </a:lnTo>
                <a:close/>
              </a:path>
              <a:path w="7711440" h="62864">
                <a:moveTo>
                  <a:pt x="7711440" y="0"/>
                </a:moveTo>
                <a:lnTo>
                  <a:pt x="0" y="0"/>
                </a:lnTo>
                <a:lnTo>
                  <a:pt x="0" y="12192"/>
                </a:lnTo>
                <a:lnTo>
                  <a:pt x="7711440" y="12192"/>
                </a:lnTo>
                <a:lnTo>
                  <a:pt x="7711440" y="0"/>
                </a:lnTo>
                <a:close/>
              </a:path>
            </a:pathLst>
          </a:custGeom>
          <a:solidFill>
            <a:srgbClr val="01010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" y="1120139"/>
            <a:ext cx="9471659" cy="8229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21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338" y="273811"/>
            <a:ext cx="766825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schématique:</a:t>
            </a:r>
            <a:r>
              <a:rPr sz="3950" spc="5" dirty="0">
                <a:solidFill>
                  <a:srgbClr val="000000"/>
                </a:solidFill>
              </a:rPr>
              <a:t> Exemple 1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07745" y="1900682"/>
            <a:ext cx="8841105" cy="4982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9890" marR="989330" indent="-377825">
              <a:lnSpc>
                <a:spcPct val="101000"/>
              </a:lnSpc>
              <a:spcBef>
                <a:spcPts val="90"/>
              </a:spcBef>
              <a:buFont typeface="Wingdings"/>
              <a:buChar char=""/>
              <a:tabLst>
                <a:tab pos="389255" algn="l"/>
                <a:tab pos="390525" algn="l"/>
              </a:tabLst>
            </a:pPr>
            <a:r>
              <a:rPr sz="3050" spc="10" dirty="0">
                <a:latin typeface="Times New Roman"/>
                <a:cs typeface="Times New Roman"/>
              </a:rPr>
              <a:t>Lire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un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nombre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et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écrire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la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valeur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absolue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de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ce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nombre</a:t>
            </a:r>
            <a:endParaRPr sz="3050">
              <a:latin typeface="Times New Roman"/>
              <a:cs typeface="Times New Roman"/>
            </a:endParaRPr>
          </a:p>
          <a:p>
            <a:pPr marL="829944" lvl="1" indent="-314960">
              <a:lnSpc>
                <a:spcPct val="100000"/>
              </a:lnSpc>
              <a:spcBef>
                <a:spcPts val="685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Quelles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sont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 entrées?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Un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nombre.</a:t>
            </a:r>
            <a:endParaRPr sz="2600">
              <a:latin typeface="Times New Roman"/>
              <a:cs typeface="Times New Roman"/>
            </a:endParaRPr>
          </a:p>
          <a:p>
            <a:pPr marL="829944" lvl="1" indent="-31559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Quelles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sont 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sorties?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Écriture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d'un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nombre.</a:t>
            </a:r>
            <a:endParaRPr sz="2600">
              <a:latin typeface="Times New Roman"/>
              <a:cs typeface="Times New Roman"/>
            </a:endParaRPr>
          </a:p>
          <a:p>
            <a:pPr marL="830580" marR="965200" lvl="1" indent="-314960">
              <a:lnSpc>
                <a:spcPct val="101400"/>
              </a:lnSpc>
              <a:spcBef>
                <a:spcPts val="635"/>
              </a:spcBef>
              <a:buFont typeface="Wingdings"/>
              <a:buChar char=""/>
              <a:tabLst>
                <a:tab pos="830580" algn="l"/>
                <a:tab pos="831215" algn="l"/>
              </a:tabLst>
            </a:pPr>
            <a:r>
              <a:rPr sz="2600" spc="15" dirty="0">
                <a:latin typeface="Times New Roman"/>
                <a:cs typeface="Times New Roman"/>
              </a:rPr>
              <a:t>Comment </a:t>
            </a:r>
            <a:r>
              <a:rPr sz="2600" spc="10" dirty="0">
                <a:latin typeface="Times New Roman"/>
                <a:cs typeface="Times New Roman"/>
              </a:rPr>
              <a:t>trouvons-nous </a:t>
            </a:r>
            <a:r>
              <a:rPr sz="2600" spc="15" dirty="0">
                <a:latin typeface="Times New Roman"/>
                <a:cs typeface="Times New Roman"/>
              </a:rPr>
              <a:t>une </a:t>
            </a:r>
            <a:r>
              <a:rPr sz="2600" spc="10" dirty="0">
                <a:latin typeface="Times New Roman"/>
                <a:cs typeface="Times New Roman"/>
              </a:rPr>
              <a:t>valeur absolue? </a:t>
            </a:r>
            <a:r>
              <a:rPr sz="2600" b="1" spc="10" dirty="0">
                <a:latin typeface="Times New Roman"/>
                <a:cs typeface="Times New Roman"/>
              </a:rPr>
              <a:t>Il </a:t>
            </a:r>
            <a:r>
              <a:rPr sz="2600" b="1" spc="15" dirty="0">
                <a:latin typeface="Times New Roman"/>
                <a:cs typeface="Times New Roman"/>
              </a:rPr>
              <a:t>faut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changer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le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signe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du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nombre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u="heavy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s'il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est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négatif.</a:t>
            </a:r>
            <a:endParaRPr sz="2600">
              <a:latin typeface="Times New Roman"/>
              <a:cs typeface="Times New Roman"/>
            </a:endParaRPr>
          </a:p>
          <a:p>
            <a:pPr marL="829944" lvl="1" indent="-31559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Est-ce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qu'il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y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répétitions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?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Non.</a:t>
            </a:r>
            <a:endParaRPr sz="2600">
              <a:latin typeface="Times New Roman"/>
              <a:cs typeface="Times New Roman"/>
            </a:endParaRPr>
          </a:p>
          <a:p>
            <a:pPr marL="829944" marR="5080" lvl="1" indent="-314960">
              <a:lnSpc>
                <a:spcPct val="101400"/>
              </a:lnSpc>
              <a:spcBef>
                <a:spcPts val="635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Est-ce </a:t>
            </a:r>
            <a:r>
              <a:rPr sz="2600" spc="15" dirty="0">
                <a:latin typeface="Times New Roman"/>
                <a:cs typeface="Times New Roman"/>
              </a:rPr>
              <a:t>que </a:t>
            </a:r>
            <a:r>
              <a:rPr sz="2600" spc="10" dirty="0">
                <a:latin typeface="Times New Roman"/>
                <a:cs typeface="Times New Roman"/>
              </a:rPr>
              <a:t>des décisions </a:t>
            </a:r>
            <a:r>
              <a:rPr sz="2600" spc="15" dirty="0">
                <a:latin typeface="Times New Roman"/>
                <a:cs typeface="Times New Roman"/>
              </a:rPr>
              <a:t>ou </a:t>
            </a:r>
            <a:r>
              <a:rPr sz="2600" spc="10" dirty="0">
                <a:latin typeface="Times New Roman"/>
                <a:cs typeface="Times New Roman"/>
              </a:rPr>
              <a:t>vérifications sont requises? 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Oui. </a:t>
            </a:r>
            <a:r>
              <a:rPr sz="2600" spc="15" dirty="0">
                <a:latin typeface="Times New Roman"/>
                <a:cs typeface="Times New Roman"/>
              </a:rPr>
              <a:t>Combien? </a:t>
            </a:r>
            <a:r>
              <a:rPr sz="2600" b="1" spc="15" dirty="0">
                <a:latin typeface="Times New Roman"/>
                <a:cs typeface="Times New Roman"/>
              </a:rPr>
              <a:t>1. </a:t>
            </a:r>
            <a:r>
              <a:rPr sz="2600" spc="10" dirty="0">
                <a:latin typeface="Times New Roman"/>
                <a:cs typeface="Times New Roman"/>
              </a:rPr>
              <a:t>Quelles sont les alternatives? </a:t>
            </a:r>
            <a:r>
              <a:rPr sz="2600" b="1" spc="15" dirty="0">
                <a:latin typeface="Times New Roman"/>
                <a:cs typeface="Times New Roman"/>
              </a:rPr>
              <a:t>Inversion </a:t>
            </a:r>
            <a:r>
              <a:rPr sz="2600" b="1" spc="20" dirty="0">
                <a:latin typeface="Times New Roman"/>
                <a:cs typeface="Times New Roman"/>
              </a:rPr>
              <a:t> du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signe</a:t>
            </a:r>
            <a:r>
              <a:rPr sz="2600" b="1" spc="10" dirty="0">
                <a:latin typeface="Times New Roman"/>
                <a:cs typeface="Times New Roman"/>
              </a:rPr>
              <a:t> si le </a:t>
            </a:r>
            <a:r>
              <a:rPr sz="2600" b="1" spc="20" dirty="0">
                <a:latin typeface="Times New Roman"/>
                <a:cs typeface="Times New Roman"/>
              </a:rPr>
              <a:t>nombre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est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négatif,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sinon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on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fait </a:t>
            </a:r>
            <a:r>
              <a:rPr sz="2600" b="1" spc="15" dirty="0">
                <a:latin typeface="Times New Roman"/>
                <a:cs typeface="Times New Roman"/>
              </a:rPr>
              <a:t>rien.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Elles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influencent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quelles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opérations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?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Écriture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du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nombre.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" y="1120139"/>
            <a:ext cx="9471659" cy="822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22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158" y="357632"/>
            <a:ext cx="5235575" cy="11036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</a:t>
            </a:r>
            <a:endParaRPr sz="3950"/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3050" spc="5" dirty="0">
                <a:solidFill>
                  <a:srgbClr val="000000"/>
                </a:solidFill>
              </a:rPr>
              <a:t>Exemple</a:t>
            </a:r>
            <a:r>
              <a:rPr sz="3050" spc="-10" dirty="0">
                <a:solidFill>
                  <a:srgbClr val="000000"/>
                </a:solidFill>
              </a:rPr>
              <a:t> </a:t>
            </a:r>
            <a:r>
              <a:rPr sz="3050" spc="10" dirty="0">
                <a:solidFill>
                  <a:srgbClr val="000000"/>
                </a:solidFill>
              </a:rPr>
              <a:t>1</a:t>
            </a:r>
            <a:r>
              <a:rPr sz="3050" spc="-10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-</a:t>
            </a:r>
            <a:r>
              <a:rPr sz="3050" spc="-5" dirty="0">
                <a:solidFill>
                  <a:srgbClr val="000000"/>
                </a:solidFill>
              </a:rPr>
              <a:t> </a:t>
            </a:r>
            <a:r>
              <a:rPr sz="3050" spc="5" dirty="0">
                <a:solidFill>
                  <a:srgbClr val="000000"/>
                </a:solidFill>
              </a:rPr>
              <a:t>suite</a:t>
            </a:r>
            <a:endParaRPr sz="3050"/>
          </a:p>
        </p:txBody>
      </p:sp>
      <p:sp>
        <p:nvSpPr>
          <p:cNvPr id="3" name="object 3"/>
          <p:cNvSpPr txBox="1"/>
          <p:nvPr/>
        </p:nvSpPr>
        <p:spPr>
          <a:xfrm>
            <a:off x="759418" y="2447221"/>
            <a:ext cx="7856220" cy="96520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9890" marR="5080" indent="-377825">
              <a:lnSpc>
                <a:spcPct val="101200"/>
              </a:lnSpc>
              <a:spcBef>
                <a:spcPts val="85"/>
              </a:spcBef>
              <a:buFont typeface="Wingdings"/>
              <a:buChar char=""/>
              <a:tabLst>
                <a:tab pos="389255" algn="l"/>
                <a:tab pos="390525" algn="l"/>
              </a:tabLst>
            </a:pPr>
            <a:r>
              <a:rPr sz="3050" spc="10" dirty="0">
                <a:latin typeface="Times New Roman"/>
                <a:cs typeface="Times New Roman"/>
              </a:rPr>
              <a:t>Lire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un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nombre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et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écrire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la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valeur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absolue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de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ce </a:t>
            </a:r>
            <a:r>
              <a:rPr sz="3050" spc="-7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nombre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(suite)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9882" y="3386473"/>
            <a:ext cx="3839845" cy="1717039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sz="3050" spc="10" dirty="0">
                <a:latin typeface="Times New Roman"/>
                <a:cs typeface="Times New Roman"/>
              </a:rPr>
              <a:t>Écrire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"Entrer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nombre"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3050" spc="10" dirty="0">
                <a:latin typeface="Times New Roman"/>
                <a:cs typeface="Times New Roman"/>
              </a:rPr>
              <a:t>Lire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le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nombre</a:t>
            </a:r>
            <a:endParaRPr sz="30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3050" spc="10" dirty="0">
                <a:latin typeface="Times New Roman"/>
                <a:cs typeface="Times New Roman"/>
              </a:rPr>
              <a:t>SI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le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nombre&lt;0</a:t>
            </a:r>
            <a:r>
              <a:rPr sz="3050" spc="-15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ALORS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36620" y="5143500"/>
            <a:ext cx="3520440" cy="586740"/>
          </a:xfrm>
          <a:prstGeom prst="rect">
            <a:avLst/>
          </a:prstGeom>
          <a:ln w="10477">
            <a:solidFill>
              <a:srgbClr val="010101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360"/>
              </a:spcBef>
            </a:pPr>
            <a:r>
              <a:rPr sz="3050" spc="10" dirty="0">
                <a:latin typeface="Times New Roman"/>
                <a:cs typeface="Times New Roman"/>
              </a:rPr>
              <a:t>Écrire</a:t>
            </a:r>
            <a:r>
              <a:rPr sz="3050" spc="-2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-1*Nombre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1444" y="5736790"/>
            <a:ext cx="2200275" cy="4946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91235" algn="l"/>
              </a:tabLst>
            </a:pPr>
            <a:r>
              <a:rPr sz="3050" spc="10" dirty="0">
                <a:latin typeface="Times New Roman"/>
                <a:cs typeface="Times New Roman"/>
              </a:rPr>
              <a:t>…..	</a:t>
            </a:r>
            <a:r>
              <a:rPr sz="3050" spc="15" dirty="0">
                <a:latin typeface="Times New Roman"/>
                <a:cs typeface="Times New Roman"/>
              </a:rPr>
              <a:t>SINON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20440" y="6316979"/>
            <a:ext cx="3268979" cy="502920"/>
          </a:xfrm>
          <a:prstGeom prst="rect">
            <a:avLst/>
          </a:prstGeom>
          <a:ln w="10477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540">
              <a:lnSpc>
                <a:spcPts val="3660"/>
              </a:lnSpc>
            </a:pPr>
            <a:r>
              <a:rPr sz="3050" spc="10" dirty="0">
                <a:latin typeface="Times New Roman"/>
                <a:cs typeface="Times New Roman"/>
              </a:rPr>
              <a:t>Écrire</a:t>
            </a:r>
            <a:r>
              <a:rPr sz="3050" spc="-40" dirty="0">
                <a:latin typeface="Times New Roman"/>
                <a:cs typeface="Times New Roman"/>
              </a:rPr>
              <a:t> </a:t>
            </a:r>
            <a:r>
              <a:rPr sz="3050" spc="15" dirty="0">
                <a:latin typeface="Times New Roman"/>
                <a:cs typeface="Times New Roman"/>
              </a:rPr>
              <a:t>Nombre</a:t>
            </a:r>
            <a:endParaRPr sz="305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011679" y="3529965"/>
            <a:ext cx="1026794" cy="3310890"/>
            <a:chOff x="2011679" y="3529965"/>
            <a:chExt cx="1026794" cy="3310890"/>
          </a:xfrm>
        </p:grpSpPr>
        <p:sp>
          <p:nvSpPr>
            <p:cNvPr id="9" name="object 9"/>
            <p:cNvSpPr/>
            <p:nvPr/>
          </p:nvSpPr>
          <p:spPr>
            <a:xfrm>
              <a:off x="2011679" y="3550920"/>
              <a:ext cx="335280" cy="3268979"/>
            </a:xfrm>
            <a:custGeom>
              <a:avLst/>
              <a:gdLst/>
              <a:ahLst/>
              <a:cxnLst/>
              <a:rect l="l" t="t" r="r" b="b"/>
              <a:pathLst>
                <a:path w="335280" h="3268979">
                  <a:moveTo>
                    <a:pt x="167639" y="0"/>
                  </a:moveTo>
                  <a:lnTo>
                    <a:pt x="167640" y="3268979"/>
                  </a:lnTo>
                </a:path>
                <a:path w="335280" h="3268979">
                  <a:moveTo>
                    <a:pt x="0" y="0"/>
                  </a:moveTo>
                  <a:lnTo>
                    <a:pt x="335279" y="0"/>
                  </a:lnTo>
                </a:path>
                <a:path w="335280" h="3268979">
                  <a:moveTo>
                    <a:pt x="0" y="3268979"/>
                  </a:moveTo>
                  <a:lnTo>
                    <a:pt x="335280" y="3268979"/>
                  </a:lnTo>
                </a:path>
              </a:pathLst>
            </a:custGeom>
            <a:ln w="41910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79319" y="4808220"/>
              <a:ext cx="838200" cy="1927860"/>
            </a:xfrm>
            <a:custGeom>
              <a:avLst/>
              <a:gdLst/>
              <a:ahLst/>
              <a:cxnLst/>
              <a:rect l="l" t="t" r="r" b="b"/>
              <a:pathLst>
                <a:path w="838200" h="1927859">
                  <a:moveTo>
                    <a:pt x="0" y="0"/>
                  </a:moveTo>
                  <a:lnTo>
                    <a:pt x="838200" y="0"/>
                  </a:lnTo>
                  <a:lnTo>
                    <a:pt x="838200" y="1927860"/>
                  </a:lnTo>
                </a:path>
                <a:path w="838200" h="1927859">
                  <a:moveTo>
                    <a:pt x="838200" y="1257300"/>
                  </a:moveTo>
                  <a:lnTo>
                    <a:pt x="670560" y="1257300"/>
                  </a:lnTo>
                </a:path>
              </a:pathLst>
            </a:custGeom>
            <a:ln w="41910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005923" y="3713321"/>
            <a:ext cx="2717800" cy="2059305"/>
            <a:chOff x="7005923" y="3713321"/>
            <a:chExt cx="2717800" cy="2059305"/>
          </a:xfrm>
        </p:grpSpPr>
        <p:sp>
          <p:nvSpPr>
            <p:cNvPr id="12" name="object 12"/>
            <p:cNvSpPr/>
            <p:nvPr/>
          </p:nvSpPr>
          <p:spPr>
            <a:xfrm>
              <a:off x="7094982" y="3802380"/>
              <a:ext cx="2628265" cy="1969770"/>
            </a:xfrm>
            <a:custGeom>
              <a:avLst/>
              <a:gdLst/>
              <a:ahLst/>
              <a:cxnLst/>
              <a:rect l="l" t="t" r="r" b="b"/>
              <a:pathLst>
                <a:path w="2628265" h="1969770">
                  <a:moveTo>
                    <a:pt x="2628137" y="1466849"/>
                  </a:moveTo>
                  <a:lnTo>
                    <a:pt x="2628137" y="293369"/>
                  </a:lnTo>
                  <a:lnTo>
                    <a:pt x="2624564" y="253502"/>
                  </a:lnTo>
                  <a:lnTo>
                    <a:pt x="2614157" y="215282"/>
                  </a:lnTo>
                  <a:lnTo>
                    <a:pt x="2597384" y="179058"/>
                  </a:lnTo>
                  <a:lnTo>
                    <a:pt x="2574713" y="145175"/>
                  </a:lnTo>
                  <a:lnTo>
                    <a:pt x="2546613" y="113980"/>
                  </a:lnTo>
                  <a:lnTo>
                    <a:pt x="2513552" y="85820"/>
                  </a:lnTo>
                  <a:lnTo>
                    <a:pt x="2475998" y="61041"/>
                  </a:lnTo>
                  <a:lnTo>
                    <a:pt x="2434420" y="39990"/>
                  </a:lnTo>
                  <a:lnTo>
                    <a:pt x="2389286" y="23014"/>
                  </a:lnTo>
                  <a:lnTo>
                    <a:pt x="2341065" y="10459"/>
                  </a:lnTo>
                  <a:lnTo>
                    <a:pt x="2290224" y="2672"/>
                  </a:lnTo>
                  <a:lnTo>
                    <a:pt x="2237231" y="0"/>
                  </a:lnTo>
                  <a:lnTo>
                    <a:pt x="672083" y="0"/>
                  </a:lnTo>
                  <a:lnTo>
                    <a:pt x="619091" y="2672"/>
                  </a:lnTo>
                  <a:lnTo>
                    <a:pt x="568250" y="10459"/>
                  </a:lnTo>
                  <a:lnTo>
                    <a:pt x="520029" y="23014"/>
                  </a:lnTo>
                  <a:lnTo>
                    <a:pt x="474895" y="39990"/>
                  </a:lnTo>
                  <a:lnTo>
                    <a:pt x="433317" y="61041"/>
                  </a:lnTo>
                  <a:lnTo>
                    <a:pt x="395763" y="85820"/>
                  </a:lnTo>
                  <a:lnTo>
                    <a:pt x="362702" y="113980"/>
                  </a:lnTo>
                  <a:lnTo>
                    <a:pt x="334602" y="145175"/>
                  </a:lnTo>
                  <a:lnTo>
                    <a:pt x="311931" y="179058"/>
                  </a:lnTo>
                  <a:lnTo>
                    <a:pt x="295158" y="215282"/>
                  </a:lnTo>
                  <a:lnTo>
                    <a:pt x="284751" y="253502"/>
                  </a:lnTo>
                  <a:lnTo>
                    <a:pt x="281177" y="293370"/>
                  </a:lnTo>
                  <a:lnTo>
                    <a:pt x="281177" y="1026413"/>
                  </a:lnTo>
                  <a:lnTo>
                    <a:pt x="0" y="1969770"/>
                  </a:lnTo>
                  <a:lnTo>
                    <a:pt x="281177" y="1466850"/>
                  </a:lnTo>
                  <a:lnTo>
                    <a:pt x="284751" y="1506717"/>
                  </a:lnTo>
                  <a:lnTo>
                    <a:pt x="295158" y="1544937"/>
                  </a:lnTo>
                  <a:lnTo>
                    <a:pt x="311931" y="1581161"/>
                  </a:lnTo>
                  <a:lnTo>
                    <a:pt x="334602" y="1615044"/>
                  </a:lnTo>
                  <a:lnTo>
                    <a:pt x="362702" y="1646239"/>
                  </a:lnTo>
                  <a:lnTo>
                    <a:pt x="395763" y="1674399"/>
                  </a:lnTo>
                  <a:lnTo>
                    <a:pt x="433317" y="1699178"/>
                  </a:lnTo>
                  <a:lnTo>
                    <a:pt x="474895" y="1720229"/>
                  </a:lnTo>
                  <a:lnTo>
                    <a:pt x="520029" y="1737205"/>
                  </a:lnTo>
                  <a:lnTo>
                    <a:pt x="568250" y="1749760"/>
                  </a:lnTo>
                  <a:lnTo>
                    <a:pt x="619091" y="1757547"/>
                  </a:lnTo>
                  <a:lnTo>
                    <a:pt x="672083" y="1760220"/>
                  </a:lnTo>
                  <a:lnTo>
                    <a:pt x="2237231" y="1760220"/>
                  </a:lnTo>
                  <a:lnTo>
                    <a:pt x="2290224" y="1757547"/>
                  </a:lnTo>
                  <a:lnTo>
                    <a:pt x="2341065" y="1749760"/>
                  </a:lnTo>
                  <a:lnTo>
                    <a:pt x="2389286" y="1737205"/>
                  </a:lnTo>
                  <a:lnTo>
                    <a:pt x="2434420" y="1720229"/>
                  </a:lnTo>
                  <a:lnTo>
                    <a:pt x="2475998" y="1699178"/>
                  </a:lnTo>
                  <a:lnTo>
                    <a:pt x="2513552" y="1674399"/>
                  </a:lnTo>
                  <a:lnTo>
                    <a:pt x="2546613" y="1646239"/>
                  </a:lnTo>
                  <a:lnTo>
                    <a:pt x="2574713" y="1615044"/>
                  </a:lnTo>
                  <a:lnTo>
                    <a:pt x="2597384" y="1581161"/>
                  </a:lnTo>
                  <a:lnTo>
                    <a:pt x="2614157" y="1544937"/>
                  </a:lnTo>
                  <a:lnTo>
                    <a:pt x="2624564" y="1506717"/>
                  </a:lnTo>
                  <a:lnTo>
                    <a:pt x="2628137" y="1466849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011162" y="3718560"/>
              <a:ext cx="2628265" cy="1969770"/>
            </a:xfrm>
            <a:custGeom>
              <a:avLst/>
              <a:gdLst/>
              <a:ahLst/>
              <a:cxnLst/>
              <a:rect l="l" t="t" r="r" b="b"/>
              <a:pathLst>
                <a:path w="2628265" h="1969770">
                  <a:moveTo>
                    <a:pt x="2628137" y="1466849"/>
                  </a:moveTo>
                  <a:lnTo>
                    <a:pt x="2628137" y="293369"/>
                  </a:lnTo>
                  <a:lnTo>
                    <a:pt x="2624564" y="253502"/>
                  </a:lnTo>
                  <a:lnTo>
                    <a:pt x="2614157" y="215282"/>
                  </a:lnTo>
                  <a:lnTo>
                    <a:pt x="2597384" y="179058"/>
                  </a:lnTo>
                  <a:lnTo>
                    <a:pt x="2574713" y="145175"/>
                  </a:lnTo>
                  <a:lnTo>
                    <a:pt x="2546613" y="113980"/>
                  </a:lnTo>
                  <a:lnTo>
                    <a:pt x="2513552" y="85820"/>
                  </a:lnTo>
                  <a:lnTo>
                    <a:pt x="2475998" y="61041"/>
                  </a:lnTo>
                  <a:lnTo>
                    <a:pt x="2434420" y="39990"/>
                  </a:lnTo>
                  <a:lnTo>
                    <a:pt x="2389286" y="23014"/>
                  </a:lnTo>
                  <a:lnTo>
                    <a:pt x="2341065" y="10459"/>
                  </a:lnTo>
                  <a:lnTo>
                    <a:pt x="2290224" y="2672"/>
                  </a:lnTo>
                  <a:lnTo>
                    <a:pt x="2237231" y="0"/>
                  </a:lnTo>
                  <a:lnTo>
                    <a:pt x="672083" y="0"/>
                  </a:lnTo>
                  <a:lnTo>
                    <a:pt x="619091" y="2672"/>
                  </a:lnTo>
                  <a:lnTo>
                    <a:pt x="568250" y="10459"/>
                  </a:lnTo>
                  <a:lnTo>
                    <a:pt x="520029" y="23014"/>
                  </a:lnTo>
                  <a:lnTo>
                    <a:pt x="474895" y="39990"/>
                  </a:lnTo>
                  <a:lnTo>
                    <a:pt x="433317" y="61041"/>
                  </a:lnTo>
                  <a:lnTo>
                    <a:pt x="395763" y="85820"/>
                  </a:lnTo>
                  <a:lnTo>
                    <a:pt x="362702" y="113980"/>
                  </a:lnTo>
                  <a:lnTo>
                    <a:pt x="334602" y="145175"/>
                  </a:lnTo>
                  <a:lnTo>
                    <a:pt x="311931" y="179058"/>
                  </a:lnTo>
                  <a:lnTo>
                    <a:pt x="295158" y="215282"/>
                  </a:lnTo>
                  <a:lnTo>
                    <a:pt x="284751" y="253502"/>
                  </a:lnTo>
                  <a:lnTo>
                    <a:pt x="281177" y="293370"/>
                  </a:lnTo>
                  <a:lnTo>
                    <a:pt x="281177" y="1026413"/>
                  </a:lnTo>
                  <a:lnTo>
                    <a:pt x="0" y="1969770"/>
                  </a:lnTo>
                  <a:lnTo>
                    <a:pt x="281177" y="1466850"/>
                  </a:lnTo>
                  <a:lnTo>
                    <a:pt x="284751" y="1506717"/>
                  </a:lnTo>
                  <a:lnTo>
                    <a:pt x="295158" y="1544937"/>
                  </a:lnTo>
                  <a:lnTo>
                    <a:pt x="311931" y="1581161"/>
                  </a:lnTo>
                  <a:lnTo>
                    <a:pt x="334602" y="1615044"/>
                  </a:lnTo>
                  <a:lnTo>
                    <a:pt x="362702" y="1646239"/>
                  </a:lnTo>
                  <a:lnTo>
                    <a:pt x="395763" y="1674399"/>
                  </a:lnTo>
                  <a:lnTo>
                    <a:pt x="433317" y="1699178"/>
                  </a:lnTo>
                  <a:lnTo>
                    <a:pt x="474895" y="1720229"/>
                  </a:lnTo>
                  <a:lnTo>
                    <a:pt x="520029" y="1737205"/>
                  </a:lnTo>
                  <a:lnTo>
                    <a:pt x="568250" y="1749760"/>
                  </a:lnTo>
                  <a:lnTo>
                    <a:pt x="619091" y="1757547"/>
                  </a:lnTo>
                  <a:lnTo>
                    <a:pt x="672083" y="1760220"/>
                  </a:lnTo>
                  <a:lnTo>
                    <a:pt x="2237231" y="1760220"/>
                  </a:lnTo>
                  <a:lnTo>
                    <a:pt x="2290224" y="1757547"/>
                  </a:lnTo>
                  <a:lnTo>
                    <a:pt x="2341065" y="1749760"/>
                  </a:lnTo>
                  <a:lnTo>
                    <a:pt x="2389286" y="1737205"/>
                  </a:lnTo>
                  <a:lnTo>
                    <a:pt x="2434420" y="1720229"/>
                  </a:lnTo>
                  <a:lnTo>
                    <a:pt x="2475998" y="1699178"/>
                  </a:lnTo>
                  <a:lnTo>
                    <a:pt x="2513552" y="1674399"/>
                  </a:lnTo>
                  <a:lnTo>
                    <a:pt x="2546613" y="1646239"/>
                  </a:lnTo>
                  <a:lnTo>
                    <a:pt x="2574713" y="1615044"/>
                  </a:lnTo>
                  <a:lnTo>
                    <a:pt x="2597384" y="1581161"/>
                  </a:lnTo>
                  <a:lnTo>
                    <a:pt x="2614157" y="1544937"/>
                  </a:lnTo>
                  <a:lnTo>
                    <a:pt x="2624564" y="1506717"/>
                  </a:lnTo>
                  <a:lnTo>
                    <a:pt x="2628137" y="14668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011162" y="3718560"/>
              <a:ext cx="2628265" cy="1969770"/>
            </a:xfrm>
            <a:custGeom>
              <a:avLst/>
              <a:gdLst/>
              <a:ahLst/>
              <a:cxnLst/>
              <a:rect l="l" t="t" r="r" b="b"/>
              <a:pathLst>
                <a:path w="2628265" h="1969770">
                  <a:moveTo>
                    <a:pt x="672083" y="0"/>
                  </a:moveTo>
                  <a:lnTo>
                    <a:pt x="619091" y="2672"/>
                  </a:lnTo>
                  <a:lnTo>
                    <a:pt x="568250" y="10459"/>
                  </a:lnTo>
                  <a:lnTo>
                    <a:pt x="520029" y="23014"/>
                  </a:lnTo>
                  <a:lnTo>
                    <a:pt x="474895" y="39990"/>
                  </a:lnTo>
                  <a:lnTo>
                    <a:pt x="433317" y="61041"/>
                  </a:lnTo>
                  <a:lnTo>
                    <a:pt x="395763" y="85820"/>
                  </a:lnTo>
                  <a:lnTo>
                    <a:pt x="362702" y="113980"/>
                  </a:lnTo>
                  <a:lnTo>
                    <a:pt x="334602" y="145175"/>
                  </a:lnTo>
                  <a:lnTo>
                    <a:pt x="311931" y="179058"/>
                  </a:lnTo>
                  <a:lnTo>
                    <a:pt x="295158" y="215282"/>
                  </a:lnTo>
                  <a:lnTo>
                    <a:pt x="284751" y="253502"/>
                  </a:lnTo>
                  <a:lnTo>
                    <a:pt x="281177" y="293370"/>
                  </a:lnTo>
                  <a:lnTo>
                    <a:pt x="281177" y="1026413"/>
                  </a:lnTo>
                  <a:lnTo>
                    <a:pt x="0" y="1969770"/>
                  </a:lnTo>
                  <a:lnTo>
                    <a:pt x="281177" y="1466850"/>
                  </a:lnTo>
                  <a:lnTo>
                    <a:pt x="284751" y="1506717"/>
                  </a:lnTo>
                  <a:lnTo>
                    <a:pt x="295158" y="1544937"/>
                  </a:lnTo>
                  <a:lnTo>
                    <a:pt x="311931" y="1581161"/>
                  </a:lnTo>
                  <a:lnTo>
                    <a:pt x="334602" y="1615044"/>
                  </a:lnTo>
                  <a:lnTo>
                    <a:pt x="362702" y="1646239"/>
                  </a:lnTo>
                  <a:lnTo>
                    <a:pt x="395763" y="1674399"/>
                  </a:lnTo>
                  <a:lnTo>
                    <a:pt x="433317" y="1699178"/>
                  </a:lnTo>
                  <a:lnTo>
                    <a:pt x="474895" y="1720229"/>
                  </a:lnTo>
                  <a:lnTo>
                    <a:pt x="520029" y="1737205"/>
                  </a:lnTo>
                  <a:lnTo>
                    <a:pt x="568250" y="1749760"/>
                  </a:lnTo>
                  <a:lnTo>
                    <a:pt x="619091" y="1757547"/>
                  </a:lnTo>
                  <a:lnTo>
                    <a:pt x="672083" y="1760220"/>
                  </a:lnTo>
                  <a:lnTo>
                    <a:pt x="2237231" y="1760220"/>
                  </a:lnTo>
                  <a:lnTo>
                    <a:pt x="2290224" y="1757547"/>
                  </a:lnTo>
                  <a:lnTo>
                    <a:pt x="2341065" y="1749760"/>
                  </a:lnTo>
                  <a:lnTo>
                    <a:pt x="2389286" y="1737205"/>
                  </a:lnTo>
                  <a:lnTo>
                    <a:pt x="2434420" y="1720229"/>
                  </a:lnTo>
                  <a:lnTo>
                    <a:pt x="2475998" y="1699178"/>
                  </a:lnTo>
                  <a:lnTo>
                    <a:pt x="2513552" y="1674399"/>
                  </a:lnTo>
                  <a:lnTo>
                    <a:pt x="2546613" y="1646239"/>
                  </a:lnTo>
                  <a:lnTo>
                    <a:pt x="2574713" y="1615044"/>
                  </a:lnTo>
                  <a:lnTo>
                    <a:pt x="2597384" y="1581161"/>
                  </a:lnTo>
                  <a:lnTo>
                    <a:pt x="2614157" y="1544937"/>
                  </a:lnTo>
                  <a:lnTo>
                    <a:pt x="2624564" y="1506717"/>
                  </a:lnTo>
                  <a:lnTo>
                    <a:pt x="2628137" y="1466849"/>
                  </a:lnTo>
                  <a:lnTo>
                    <a:pt x="2628137" y="293369"/>
                  </a:lnTo>
                  <a:lnTo>
                    <a:pt x="2624564" y="253502"/>
                  </a:lnTo>
                  <a:lnTo>
                    <a:pt x="2614157" y="215282"/>
                  </a:lnTo>
                  <a:lnTo>
                    <a:pt x="2597384" y="179058"/>
                  </a:lnTo>
                  <a:lnTo>
                    <a:pt x="2574713" y="145175"/>
                  </a:lnTo>
                  <a:lnTo>
                    <a:pt x="2546613" y="113980"/>
                  </a:lnTo>
                  <a:lnTo>
                    <a:pt x="2513552" y="85820"/>
                  </a:lnTo>
                  <a:lnTo>
                    <a:pt x="2475998" y="61041"/>
                  </a:lnTo>
                  <a:lnTo>
                    <a:pt x="2434420" y="39990"/>
                  </a:lnTo>
                  <a:lnTo>
                    <a:pt x="2389286" y="23014"/>
                  </a:lnTo>
                  <a:lnTo>
                    <a:pt x="2341065" y="10459"/>
                  </a:lnTo>
                  <a:lnTo>
                    <a:pt x="2290224" y="2672"/>
                  </a:lnTo>
                  <a:lnTo>
                    <a:pt x="2237231" y="0"/>
                  </a:lnTo>
                  <a:lnTo>
                    <a:pt x="672083" y="0"/>
                  </a:lnTo>
                  <a:close/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548626" y="3744722"/>
            <a:ext cx="2025650" cy="1633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400"/>
              </a:lnSpc>
              <a:spcBef>
                <a:spcPts val="95"/>
              </a:spcBef>
            </a:pPr>
            <a:r>
              <a:rPr sz="2600" spc="10" dirty="0">
                <a:latin typeface="Times New Roman"/>
                <a:cs typeface="Times New Roman"/>
              </a:rPr>
              <a:t>Décalage pour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démontrer </a:t>
            </a:r>
            <a:r>
              <a:rPr sz="2600" spc="5" dirty="0">
                <a:latin typeface="Times New Roman"/>
                <a:cs typeface="Times New Roman"/>
              </a:rPr>
              <a:t>la </a:t>
            </a:r>
            <a:r>
              <a:rPr sz="2600" spc="10" dirty="0">
                <a:latin typeface="Times New Roman"/>
                <a:cs typeface="Times New Roman"/>
              </a:rPr>
              <a:t> dépendance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du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test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nombre&lt;0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" y="1623059"/>
            <a:ext cx="9471659" cy="8229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23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9205" y="1812290"/>
            <a:ext cx="2526665" cy="562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9255" indent="-377190">
              <a:lnSpc>
                <a:spcPct val="100000"/>
              </a:lnSpc>
              <a:spcBef>
                <a:spcPts val="120"/>
              </a:spcBef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3500" spc="5" dirty="0">
                <a:latin typeface="Times New Roman"/>
                <a:cs typeface="Times New Roman"/>
              </a:rPr>
              <a:t>Autre</a:t>
            </a:r>
            <a:r>
              <a:rPr sz="3500" spc="-45" dirty="0">
                <a:latin typeface="Times New Roman"/>
                <a:cs typeface="Times New Roman"/>
              </a:rPr>
              <a:t> </a:t>
            </a:r>
            <a:r>
              <a:rPr sz="3500" spc="5" dirty="0">
                <a:latin typeface="Times New Roman"/>
                <a:cs typeface="Times New Roman"/>
              </a:rPr>
              <a:t>façon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00326" y="2400808"/>
            <a:ext cx="4255135" cy="1184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3975" marR="5080" indent="-41910">
              <a:lnSpc>
                <a:spcPct val="124600"/>
              </a:lnSpc>
              <a:spcBef>
                <a:spcPts val="95"/>
              </a:spcBef>
            </a:pPr>
            <a:r>
              <a:rPr sz="3050" spc="10" dirty="0">
                <a:latin typeface="Times New Roman"/>
                <a:cs typeface="Times New Roman"/>
              </a:rPr>
              <a:t>Écrire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"Entrer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un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nombre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" </a:t>
            </a:r>
            <a:r>
              <a:rPr sz="3050" spc="-74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Lire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le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nombre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81125" marR="5080" indent="-391160">
              <a:lnSpc>
                <a:spcPct val="121300"/>
              </a:lnSpc>
              <a:spcBef>
                <a:spcPts val="95"/>
              </a:spcBef>
              <a:tabLst>
                <a:tab pos="4262120" algn="l"/>
              </a:tabLst>
            </a:pPr>
            <a:r>
              <a:rPr u="heavy" spc="10" dirty="0">
                <a:uFill>
                  <a:solidFill>
                    <a:srgbClr val="000000"/>
                  </a:solidFill>
                </a:uFill>
              </a:rPr>
              <a:t>SI le nombre&lt;0 </a:t>
            </a:r>
            <a:r>
              <a:rPr u="heavy" spc="15" dirty="0">
                <a:uFill>
                  <a:solidFill>
                    <a:srgbClr val="000000"/>
                  </a:solidFill>
                </a:uFill>
              </a:rPr>
              <a:t>ALORS </a:t>
            </a:r>
            <a:r>
              <a:rPr spc="20" dirty="0"/>
              <a:t> </a:t>
            </a:r>
            <a:r>
              <a:rPr spc="10" dirty="0"/>
              <a:t>ValeurAbsolue</a:t>
            </a:r>
            <a:r>
              <a:rPr spc="5" dirty="0"/>
              <a:t> </a:t>
            </a:r>
            <a:r>
              <a:rPr spc="15" dirty="0"/>
              <a:t>=</a:t>
            </a:r>
            <a:r>
              <a:rPr dirty="0"/>
              <a:t>	</a:t>
            </a:r>
            <a:r>
              <a:rPr spc="10" dirty="0"/>
              <a:t>-1*Nombre</a:t>
            </a:r>
          </a:p>
          <a:p>
            <a:pPr marL="12700">
              <a:lnSpc>
                <a:spcPct val="100000"/>
              </a:lnSpc>
              <a:spcBef>
                <a:spcPts val="775"/>
              </a:spcBef>
              <a:tabLst>
                <a:tab pos="893444" algn="l"/>
              </a:tabLst>
            </a:pPr>
            <a:r>
              <a:rPr spc="10" dirty="0"/>
              <a:t>…..	</a:t>
            </a:r>
            <a:r>
              <a:rPr spc="15" dirty="0"/>
              <a:t>SINON</a:t>
            </a:r>
          </a:p>
          <a:p>
            <a:pPr marL="845819" algn="ctr">
              <a:lnSpc>
                <a:spcPct val="100000"/>
              </a:lnSpc>
              <a:spcBef>
                <a:spcPts val="780"/>
              </a:spcBef>
              <a:tabLst>
                <a:tab pos="3726815" algn="l"/>
              </a:tabLst>
            </a:pPr>
            <a:r>
              <a:rPr spc="10" dirty="0"/>
              <a:t>ValeurAbsolue</a:t>
            </a:r>
            <a:r>
              <a:rPr spc="15" dirty="0"/>
              <a:t> =	Nombre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142235" y="5815531"/>
            <a:ext cx="6407150" cy="11531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3050" spc="10" dirty="0">
                <a:latin typeface="Times New Roman"/>
                <a:cs typeface="Times New Roman"/>
              </a:rPr>
              <a:t>Écrire</a:t>
            </a:r>
            <a:r>
              <a:rPr sz="3050" spc="-1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"</a:t>
            </a:r>
            <a:r>
              <a:rPr sz="3050" spc="5" dirty="0">
                <a:latin typeface="Times New Roman"/>
                <a:cs typeface="Times New Roman"/>
              </a:rPr>
              <a:t>la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valeur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absolue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du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10" dirty="0">
                <a:latin typeface="Times New Roman"/>
                <a:cs typeface="Times New Roman"/>
              </a:rPr>
              <a:t>nombre</a:t>
            </a:r>
            <a:r>
              <a:rPr sz="3050" spc="-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est</a:t>
            </a:r>
            <a:r>
              <a:rPr sz="305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"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  <a:tabLst>
                <a:tab pos="1162050" algn="l"/>
              </a:tabLst>
            </a:pPr>
            <a:r>
              <a:rPr sz="3050" spc="10" dirty="0">
                <a:latin typeface="Times New Roman"/>
                <a:cs typeface="Times New Roman"/>
              </a:rPr>
              <a:t>Écrire	ValeurAbsolue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75158" y="357632"/>
            <a:ext cx="52355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</a:t>
            </a:r>
            <a:endParaRPr sz="3950"/>
          </a:p>
        </p:txBody>
      </p:sp>
      <p:grpSp>
        <p:nvGrpSpPr>
          <p:cNvPr id="7" name="object 7"/>
          <p:cNvGrpSpPr/>
          <p:nvPr/>
        </p:nvGrpSpPr>
        <p:grpSpPr>
          <a:xfrm>
            <a:off x="1335881" y="2524125"/>
            <a:ext cx="1451610" cy="4484370"/>
            <a:chOff x="1335881" y="2524125"/>
            <a:chExt cx="1451610" cy="4484370"/>
          </a:xfrm>
        </p:grpSpPr>
        <p:sp>
          <p:nvSpPr>
            <p:cNvPr id="8" name="object 8"/>
            <p:cNvSpPr/>
            <p:nvPr/>
          </p:nvSpPr>
          <p:spPr>
            <a:xfrm>
              <a:off x="1760219" y="2545079"/>
              <a:ext cx="1005840" cy="4442460"/>
            </a:xfrm>
            <a:custGeom>
              <a:avLst/>
              <a:gdLst/>
              <a:ahLst/>
              <a:cxnLst/>
              <a:rect l="l" t="t" r="r" b="b"/>
              <a:pathLst>
                <a:path w="1005839" h="4442459">
                  <a:moveTo>
                    <a:pt x="167639" y="0"/>
                  </a:moveTo>
                  <a:lnTo>
                    <a:pt x="167640" y="4442460"/>
                  </a:lnTo>
                </a:path>
                <a:path w="1005839" h="4442459">
                  <a:moveTo>
                    <a:pt x="0" y="0"/>
                  </a:moveTo>
                  <a:lnTo>
                    <a:pt x="335279" y="0"/>
                  </a:lnTo>
                </a:path>
                <a:path w="1005839" h="4442459">
                  <a:moveTo>
                    <a:pt x="0" y="4442460"/>
                  </a:moveTo>
                  <a:lnTo>
                    <a:pt x="335280" y="4442460"/>
                  </a:lnTo>
                </a:path>
                <a:path w="1005839" h="4442459">
                  <a:moveTo>
                    <a:pt x="167639" y="1341120"/>
                  </a:moveTo>
                  <a:lnTo>
                    <a:pt x="1005839" y="1341120"/>
                  </a:lnTo>
                  <a:lnTo>
                    <a:pt x="1005840" y="3185160"/>
                  </a:lnTo>
                </a:path>
                <a:path w="1005839" h="4442459">
                  <a:moveTo>
                    <a:pt x="1005840" y="2598420"/>
                  </a:moveTo>
                  <a:lnTo>
                    <a:pt x="838200" y="2598420"/>
                  </a:lnTo>
                </a:path>
              </a:pathLst>
            </a:custGeom>
            <a:ln w="41910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41119" y="5981700"/>
              <a:ext cx="502920" cy="922019"/>
            </a:xfrm>
            <a:custGeom>
              <a:avLst/>
              <a:gdLst/>
              <a:ahLst/>
              <a:cxnLst/>
              <a:rect l="l" t="t" r="r" b="b"/>
              <a:pathLst>
                <a:path w="502919" h="922020">
                  <a:moveTo>
                    <a:pt x="502920" y="922019"/>
                  </a:moveTo>
                  <a:lnTo>
                    <a:pt x="502919" y="0"/>
                  </a:lnTo>
                  <a:lnTo>
                    <a:pt x="436139" y="2737"/>
                  </a:lnTo>
                  <a:lnTo>
                    <a:pt x="376089" y="10470"/>
                  </a:lnTo>
                  <a:lnTo>
                    <a:pt x="325183" y="22479"/>
                  </a:lnTo>
                  <a:lnTo>
                    <a:pt x="285834" y="38043"/>
                  </a:lnTo>
                  <a:lnTo>
                    <a:pt x="260455" y="56444"/>
                  </a:lnTo>
                  <a:lnTo>
                    <a:pt x="251459" y="76962"/>
                  </a:lnTo>
                  <a:lnTo>
                    <a:pt x="251459" y="397764"/>
                  </a:lnTo>
                  <a:lnTo>
                    <a:pt x="242464" y="417960"/>
                  </a:lnTo>
                  <a:lnTo>
                    <a:pt x="177736" y="451580"/>
                  </a:lnTo>
                  <a:lnTo>
                    <a:pt x="126830" y="463521"/>
                  </a:lnTo>
                  <a:lnTo>
                    <a:pt x="66780" y="471229"/>
                  </a:lnTo>
                  <a:lnTo>
                    <a:pt x="0" y="473964"/>
                  </a:lnTo>
                  <a:lnTo>
                    <a:pt x="66780" y="476754"/>
                  </a:lnTo>
                  <a:lnTo>
                    <a:pt x="126830" y="484603"/>
                  </a:lnTo>
                  <a:lnTo>
                    <a:pt x="177736" y="496728"/>
                  </a:lnTo>
                  <a:lnTo>
                    <a:pt x="217085" y="512346"/>
                  </a:lnTo>
                  <a:lnTo>
                    <a:pt x="251459" y="550926"/>
                  </a:lnTo>
                  <a:lnTo>
                    <a:pt x="251459" y="845058"/>
                  </a:lnTo>
                  <a:lnTo>
                    <a:pt x="260455" y="865575"/>
                  </a:lnTo>
                  <a:lnTo>
                    <a:pt x="285834" y="883976"/>
                  </a:lnTo>
                  <a:lnTo>
                    <a:pt x="325183" y="899541"/>
                  </a:lnTo>
                  <a:lnTo>
                    <a:pt x="376089" y="911549"/>
                  </a:lnTo>
                  <a:lnTo>
                    <a:pt x="436139" y="919282"/>
                  </a:lnTo>
                  <a:lnTo>
                    <a:pt x="502920" y="922019"/>
                  </a:lnTo>
                  <a:close/>
                </a:path>
              </a:pathLst>
            </a:custGeom>
            <a:solidFill>
              <a:srgbClr val="FF99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41119" y="5981700"/>
              <a:ext cx="502920" cy="922019"/>
            </a:xfrm>
            <a:custGeom>
              <a:avLst/>
              <a:gdLst/>
              <a:ahLst/>
              <a:cxnLst/>
              <a:rect l="l" t="t" r="r" b="b"/>
              <a:pathLst>
                <a:path w="502919" h="922020">
                  <a:moveTo>
                    <a:pt x="502919" y="0"/>
                  </a:moveTo>
                  <a:lnTo>
                    <a:pt x="436139" y="2737"/>
                  </a:lnTo>
                  <a:lnTo>
                    <a:pt x="376089" y="10470"/>
                  </a:lnTo>
                  <a:lnTo>
                    <a:pt x="325183" y="22479"/>
                  </a:lnTo>
                  <a:lnTo>
                    <a:pt x="285834" y="38043"/>
                  </a:lnTo>
                  <a:lnTo>
                    <a:pt x="251459" y="76962"/>
                  </a:lnTo>
                  <a:lnTo>
                    <a:pt x="251459" y="397764"/>
                  </a:lnTo>
                  <a:lnTo>
                    <a:pt x="242464" y="417960"/>
                  </a:lnTo>
                  <a:lnTo>
                    <a:pt x="177736" y="451580"/>
                  </a:lnTo>
                  <a:lnTo>
                    <a:pt x="126830" y="463521"/>
                  </a:lnTo>
                  <a:lnTo>
                    <a:pt x="66780" y="471229"/>
                  </a:lnTo>
                  <a:lnTo>
                    <a:pt x="0" y="473964"/>
                  </a:lnTo>
                  <a:lnTo>
                    <a:pt x="66780" y="476754"/>
                  </a:lnTo>
                  <a:lnTo>
                    <a:pt x="126830" y="484603"/>
                  </a:lnTo>
                  <a:lnTo>
                    <a:pt x="177736" y="496728"/>
                  </a:lnTo>
                  <a:lnTo>
                    <a:pt x="217085" y="512346"/>
                  </a:lnTo>
                  <a:lnTo>
                    <a:pt x="251459" y="550926"/>
                  </a:lnTo>
                  <a:lnTo>
                    <a:pt x="251459" y="845058"/>
                  </a:lnTo>
                  <a:lnTo>
                    <a:pt x="260455" y="865575"/>
                  </a:lnTo>
                  <a:lnTo>
                    <a:pt x="285834" y="883976"/>
                  </a:lnTo>
                  <a:lnTo>
                    <a:pt x="325183" y="899541"/>
                  </a:lnTo>
                  <a:lnTo>
                    <a:pt x="376089" y="911549"/>
                  </a:lnTo>
                  <a:lnTo>
                    <a:pt x="436139" y="919282"/>
                  </a:lnTo>
                  <a:lnTo>
                    <a:pt x="502920" y="922019"/>
                  </a:lnTo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6868000" y="2623661"/>
            <a:ext cx="429895" cy="848994"/>
            <a:chOff x="6868000" y="2623661"/>
            <a:chExt cx="429895" cy="848994"/>
          </a:xfrm>
        </p:grpSpPr>
        <p:sp>
          <p:nvSpPr>
            <p:cNvPr id="12" name="object 12"/>
            <p:cNvSpPr/>
            <p:nvPr/>
          </p:nvSpPr>
          <p:spPr>
            <a:xfrm>
              <a:off x="6873239" y="2628899"/>
              <a:ext cx="419100" cy="838200"/>
            </a:xfrm>
            <a:custGeom>
              <a:avLst/>
              <a:gdLst/>
              <a:ahLst/>
              <a:cxnLst/>
              <a:rect l="l" t="t" r="r" b="b"/>
              <a:pathLst>
                <a:path w="419100" h="838200">
                  <a:moveTo>
                    <a:pt x="419100" y="419100"/>
                  </a:moveTo>
                  <a:lnTo>
                    <a:pt x="352830" y="415539"/>
                  </a:lnTo>
                  <a:lnTo>
                    <a:pt x="295302" y="405615"/>
                  </a:lnTo>
                  <a:lnTo>
                    <a:pt x="249954" y="390460"/>
                  </a:lnTo>
                  <a:lnTo>
                    <a:pt x="209550" y="348996"/>
                  </a:lnTo>
                  <a:lnTo>
                    <a:pt x="209550" y="70103"/>
                  </a:lnTo>
                  <a:lnTo>
                    <a:pt x="198875" y="47890"/>
                  </a:lnTo>
                  <a:lnTo>
                    <a:pt x="169145" y="28639"/>
                  </a:lnTo>
                  <a:lnTo>
                    <a:pt x="123797" y="13484"/>
                  </a:lnTo>
                  <a:lnTo>
                    <a:pt x="66269" y="3560"/>
                  </a:lnTo>
                  <a:lnTo>
                    <a:pt x="0" y="0"/>
                  </a:lnTo>
                  <a:lnTo>
                    <a:pt x="0" y="838200"/>
                  </a:lnTo>
                  <a:lnTo>
                    <a:pt x="66269" y="834639"/>
                  </a:lnTo>
                  <a:lnTo>
                    <a:pt x="123797" y="824715"/>
                  </a:lnTo>
                  <a:lnTo>
                    <a:pt x="169145" y="809560"/>
                  </a:lnTo>
                  <a:lnTo>
                    <a:pt x="209550" y="768096"/>
                  </a:lnTo>
                  <a:lnTo>
                    <a:pt x="209550" y="489204"/>
                  </a:lnTo>
                  <a:lnTo>
                    <a:pt x="220224" y="466990"/>
                  </a:lnTo>
                  <a:lnTo>
                    <a:pt x="249954" y="447739"/>
                  </a:lnTo>
                  <a:lnTo>
                    <a:pt x="295302" y="432584"/>
                  </a:lnTo>
                  <a:lnTo>
                    <a:pt x="352830" y="422660"/>
                  </a:lnTo>
                  <a:lnTo>
                    <a:pt x="419100" y="419100"/>
                  </a:lnTo>
                  <a:close/>
                </a:path>
              </a:pathLst>
            </a:custGeom>
            <a:solidFill>
              <a:srgbClr val="01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873239" y="2628899"/>
              <a:ext cx="419100" cy="838200"/>
            </a:xfrm>
            <a:custGeom>
              <a:avLst/>
              <a:gdLst/>
              <a:ahLst/>
              <a:cxnLst/>
              <a:rect l="l" t="t" r="r" b="b"/>
              <a:pathLst>
                <a:path w="419100" h="838200">
                  <a:moveTo>
                    <a:pt x="0" y="0"/>
                  </a:moveTo>
                  <a:lnTo>
                    <a:pt x="66269" y="3560"/>
                  </a:lnTo>
                  <a:lnTo>
                    <a:pt x="123797" y="13484"/>
                  </a:lnTo>
                  <a:lnTo>
                    <a:pt x="169145" y="28639"/>
                  </a:lnTo>
                  <a:lnTo>
                    <a:pt x="209550" y="70103"/>
                  </a:lnTo>
                  <a:lnTo>
                    <a:pt x="209550" y="348996"/>
                  </a:lnTo>
                  <a:lnTo>
                    <a:pt x="220224" y="371209"/>
                  </a:lnTo>
                  <a:lnTo>
                    <a:pt x="249954" y="390460"/>
                  </a:lnTo>
                  <a:lnTo>
                    <a:pt x="295302" y="405615"/>
                  </a:lnTo>
                  <a:lnTo>
                    <a:pt x="352830" y="415539"/>
                  </a:lnTo>
                  <a:lnTo>
                    <a:pt x="419100" y="419100"/>
                  </a:lnTo>
                  <a:lnTo>
                    <a:pt x="352830" y="422660"/>
                  </a:lnTo>
                  <a:lnTo>
                    <a:pt x="295302" y="432584"/>
                  </a:lnTo>
                  <a:lnTo>
                    <a:pt x="249954" y="447739"/>
                  </a:lnTo>
                  <a:lnTo>
                    <a:pt x="220224" y="466990"/>
                  </a:lnTo>
                  <a:lnTo>
                    <a:pt x="209550" y="489204"/>
                  </a:lnTo>
                  <a:lnTo>
                    <a:pt x="209550" y="768096"/>
                  </a:lnTo>
                  <a:lnTo>
                    <a:pt x="198875" y="790309"/>
                  </a:lnTo>
                  <a:lnTo>
                    <a:pt x="169145" y="809560"/>
                  </a:lnTo>
                  <a:lnTo>
                    <a:pt x="123797" y="824715"/>
                  </a:lnTo>
                  <a:lnTo>
                    <a:pt x="66269" y="834639"/>
                  </a:lnTo>
                  <a:lnTo>
                    <a:pt x="0" y="838200"/>
                  </a:lnTo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441183" y="2659633"/>
            <a:ext cx="1127760" cy="562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6850" marR="5080" indent="-184785">
              <a:lnSpc>
                <a:spcPct val="100899"/>
              </a:lnSpc>
              <a:spcBef>
                <a:spcPts val="90"/>
              </a:spcBef>
            </a:pPr>
            <a:r>
              <a:rPr sz="1750" dirty="0">
                <a:latin typeface="Times New Roman"/>
                <a:cs typeface="Times New Roman"/>
              </a:rPr>
              <a:t>Collecte</a:t>
            </a:r>
            <a:r>
              <a:rPr sz="1750" spc="-6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des </a:t>
            </a:r>
            <a:r>
              <a:rPr sz="1750" spc="-42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données</a:t>
            </a:r>
            <a:endParaRPr sz="1750">
              <a:latin typeface="Times New Roman"/>
              <a:cs typeface="Times New Roman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125300" y="3629501"/>
            <a:ext cx="513715" cy="2106295"/>
            <a:chOff x="8125300" y="3629501"/>
            <a:chExt cx="513715" cy="2106295"/>
          </a:xfrm>
        </p:grpSpPr>
        <p:sp>
          <p:nvSpPr>
            <p:cNvPr id="16" name="object 16"/>
            <p:cNvSpPr/>
            <p:nvPr/>
          </p:nvSpPr>
          <p:spPr>
            <a:xfrm>
              <a:off x="8130539" y="3634740"/>
              <a:ext cx="502920" cy="2095500"/>
            </a:xfrm>
            <a:custGeom>
              <a:avLst/>
              <a:gdLst/>
              <a:ahLst/>
              <a:cxnLst/>
              <a:rect l="l" t="t" r="r" b="b"/>
              <a:pathLst>
                <a:path w="502920" h="2095500">
                  <a:moveTo>
                    <a:pt x="502920" y="1047750"/>
                  </a:moveTo>
                  <a:lnTo>
                    <a:pt x="445323" y="1043122"/>
                  </a:lnTo>
                  <a:lnTo>
                    <a:pt x="392418" y="1029950"/>
                  </a:lnTo>
                  <a:lnTo>
                    <a:pt x="345725" y="1009301"/>
                  </a:lnTo>
                  <a:lnTo>
                    <a:pt x="306763" y="982240"/>
                  </a:lnTo>
                  <a:lnTo>
                    <a:pt x="277052" y="949834"/>
                  </a:lnTo>
                  <a:lnTo>
                    <a:pt x="258111" y="913149"/>
                  </a:lnTo>
                  <a:lnTo>
                    <a:pt x="251460" y="873252"/>
                  </a:lnTo>
                  <a:lnTo>
                    <a:pt x="251460" y="174497"/>
                  </a:lnTo>
                  <a:lnTo>
                    <a:pt x="244808" y="134600"/>
                  </a:lnTo>
                  <a:lnTo>
                    <a:pt x="225867" y="97915"/>
                  </a:lnTo>
                  <a:lnTo>
                    <a:pt x="196156" y="65509"/>
                  </a:lnTo>
                  <a:lnTo>
                    <a:pt x="157194" y="38448"/>
                  </a:lnTo>
                  <a:lnTo>
                    <a:pt x="110501" y="17799"/>
                  </a:lnTo>
                  <a:lnTo>
                    <a:pt x="57596" y="4627"/>
                  </a:lnTo>
                  <a:lnTo>
                    <a:pt x="0" y="0"/>
                  </a:lnTo>
                  <a:lnTo>
                    <a:pt x="0" y="2095500"/>
                  </a:lnTo>
                  <a:lnTo>
                    <a:pt x="57596" y="2090872"/>
                  </a:lnTo>
                  <a:lnTo>
                    <a:pt x="110501" y="2077700"/>
                  </a:lnTo>
                  <a:lnTo>
                    <a:pt x="157194" y="2057051"/>
                  </a:lnTo>
                  <a:lnTo>
                    <a:pt x="196156" y="2029990"/>
                  </a:lnTo>
                  <a:lnTo>
                    <a:pt x="225867" y="1997584"/>
                  </a:lnTo>
                  <a:lnTo>
                    <a:pt x="244808" y="1960899"/>
                  </a:lnTo>
                  <a:lnTo>
                    <a:pt x="251460" y="1921002"/>
                  </a:lnTo>
                  <a:lnTo>
                    <a:pt x="251460" y="1222248"/>
                  </a:lnTo>
                  <a:lnTo>
                    <a:pt x="258111" y="1182350"/>
                  </a:lnTo>
                  <a:lnTo>
                    <a:pt x="277052" y="1145665"/>
                  </a:lnTo>
                  <a:lnTo>
                    <a:pt x="306763" y="1113259"/>
                  </a:lnTo>
                  <a:lnTo>
                    <a:pt x="345725" y="1086198"/>
                  </a:lnTo>
                  <a:lnTo>
                    <a:pt x="392418" y="1065549"/>
                  </a:lnTo>
                  <a:lnTo>
                    <a:pt x="445323" y="1052377"/>
                  </a:lnTo>
                  <a:lnTo>
                    <a:pt x="502920" y="1047750"/>
                  </a:lnTo>
                  <a:close/>
                </a:path>
              </a:pathLst>
            </a:custGeom>
            <a:solidFill>
              <a:srgbClr val="FF99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130539" y="3634740"/>
              <a:ext cx="502920" cy="2095500"/>
            </a:xfrm>
            <a:custGeom>
              <a:avLst/>
              <a:gdLst/>
              <a:ahLst/>
              <a:cxnLst/>
              <a:rect l="l" t="t" r="r" b="b"/>
              <a:pathLst>
                <a:path w="502920" h="2095500">
                  <a:moveTo>
                    <a:pt x="0" y="0"/>
                  </a:moveTo>
                  <a:lnTo>
                    <a:pt x="57596" y="4627"/>
                  </a:lnTo>
                  <a:lnTo>
                    <a:pt x="110501" y="17799"/>
                  </a:lnTo>
                  <a:lnTo>
                    <a:pt x="157194" y="38448"/>
                  </a:lnTo>
                  <a:lnTo>
                    <a:pt x="196156" y="65509"/>
                  </a:lnTo>
                  <a:lnTo>
                    <a:pt x="225867" y="97915"/>
                  </a:lnTo>
                  <a:lnTo>
                    <a:pt x="244808" y="134600"/>
                  </a:lnTo>
                  <a:lnTo>
                    <a:pt x="251460" y="174497"/>
                  </a:lnTo>
                  <a:lnTo>
                    <a:pt x="251460" y="873252"/>
                  </a:lnTo>
                  <a:lnTo>
                    <a:pt x="258111" y="913149"/>
                  </a:lnTo>
                  <a:lnTo>
                    <a:pt x="277052" y="949834"/>
                  </a:lnTo>
                  <a:lnTo>
                    <a:pt x="306763" y="982240"/>
                  </a:lnTo>
                  <a:lnTo>
                    <a:pt x="345725" y="1009301"/>
                  </a:lnTo>
                  <a:lnTo>
                    <a:pt x="392418" y="1029950"/>
                  </a:lnTo>
                  <a:lnTo>
                    <a:pt x="445323" y="1043122"/>
                  </a:lnTo>
                  <a:lnTo>
                    <a:pt x="502920" y="1047750"/>
                  </a:lnTo>
                  <a:lnTo>
                    <a:pt x="445323" y="1052377"/>
                  </a:lnTo>
                  <a:lnTo>
                    <a:pt x="392418" y="1065549"/>
                  </a:lnTo>
                  <a:lnTo>
                    <a:pt x="345725" y="1086198"/>
                  </a:lnTo>
                  <a:lnTo>
                    <a:pt x="306763" y="1113259"/>
                  </a:lnTo>
                  <a:lnTo>
                    <a:pt x="277052" y="1145665"/>
                  </a:lnTo>
                  <a:lnTo>
                    <a:pt x="258111" y="1182350"/>
                  </a:lnTo>
                  <a:lnTo>
                    <a:pt x="251460" y="1222248"/>
                  </a:lnTo>
                  <a:lnTo>
                    <a:pt x="251460" y="1921002"/>
                  </a:lnTo>
                  <a:lnTo>
                    <a:pt x="244808" y="1960899"/>
                  </a:lnTo>
                  <a:lnTo>
                    <a:pt x="225867" y="1997584"/>
                  </a:lnTo>
                  <a:lnTo>
                    <a:pt x="196156" y="2029990"/>
                  </a:lnTo>
                  <a:lnTo>
                    <a:pt x="157194" y="2057051"/>
                  </a:lnTo>
                  <a:lnTo>
                    <a:pt x="110501" y="2077700"/>
                  </a:lnTo>
                  <a:lnTo>
                    <a:pt x="57596" y="2090872"/>
                  </a:lnTo>
                  <a:lnTo>
                    <a:pt x="0" y="2095500"/>
                  </a:lnTo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505697" y="4168394"/>
            <a:ext cx="1010285" cy="8318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algn="ctr">
              <a:lnSpc>
                <a:spcPct val="100899"/>
              </a:lnSpc>
              <a:spcBef>
                <a:spcPts val="90"/>
              </a:spcBef>
            </a:pPr>
            <a:r>
              <a:rPr sz="1750" dirty="0">
                <a:latin typeface="Times New Roman"/>
                <a:cs typeface="Times New Roman"/>
              </a:rPr>
              <a:t>Traite</a:t>
            </a:r>
            <a:r>
              <a:rPr sz="1750" spc="15" dirty="0">
                <a:latin typeface="Times New Roman"/>
                <a:cs typeface="Times New Roman"/>
              </a:rPr>
              <a:t>m</a:t>
            </a:r>
            <a:r>
              <a:rPr sz="1750" dirty="0">
                <a:latin typeface="Times New Roman"/>
                <a:cs typeface="Times New Roman"/>
              </a:rPr>
              <a:t>ent  des </a:t>
            </a:r>
            <a:r>
              <a:rPr sz="1750" spc="5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données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40106" y="6096252"/>
            <a:ext cx="1134110" cy="5626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1750" dirty="0">
                <a:latin typeface="Times New Roman"/>
                <a:cs typeface="Times New Roman"/>
              </a:rPr>
              <a:t>Prése</a:t>
            </a:r>
            <a:r>
              <a:rPr sz="1750" spc="5" dirty="0">
                <a:latin typeface="Times New Roman"/>
                <a:cs typeface="Times New Roman"/>
              </a:rPr>
              <a:t>n</a:t>
            </a:r>
            <a:r>
              <a:rPr sz="1750" dirty="0">
                <a:latin typeface="Times New Roman"/>
                <a:cs typeface="Times New Roman"/>
              </a:rPr>
              <a:t>tation  des</a:t>
            </a:r>
            <a:r>
              <a:rPr sz="1750" spc="-50" dirty="0">
                <a:latin typeface="Times New Roman"/>
                <a:cs typeface="Times New Roman"/>
              </a:rPr>
              <a:t> </a:t>
            </a:r>
            <a:r>
              <a:rPr sz="1750" dirty="0">
                <a:latin typeface="Times New Roman"/>
                <a:cs typeface="Times New Roman"/>
              </a:rPr>
              <a:t>résultats</a:t>
            </a:r>
            <a:endParaRPr sz="1750">
              <a:latin typeface="Times New Roman"/>
              <a:cs typeface="Times New Roman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" y="1120139"/>
            <a:ext cx="9471659" cy="8229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24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75386" y="1565402"/>
            <a:ext cx="8293734" cy="5167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marR="5080" indent="-377190" algn="just">
              <a:lnSpc>
                <a:spcPct val="101400"/>
              </a:lnSpc>
              <a:spcBef>
                <a:spcPts val="95"/>
              </a:spcBef>
              <a:buFont typeface="Wingdings"/>
              <a:buChar char=""/>
              <a:tabLst>
                <a:tab pos="389890" algn="l"/>
              </a:tabLst>
            </a:pPr>
            <a:r>
              <a:rPr sz="2600" spc="10" dirty="0">
                <a:latin typeface="Times New Roman"/>
                <a:cs typeface="Times New Roman"/>
              </a:rPr>
              <a:t>Deviner </a:t>
            </a:r>
            <a:r>
              <a:rPr sz="2600" spc="15" dirty="0">
                <a:latin typeface="Times New Roman"/>
                <a:cs typeface="Times New Roman"/>
              </a:rPr>
              <a:t>un nombre </a:t>
            </a:r>
            <a:r>
              <a:rPr sz="2600" spc="10" dirty="0">
                <a:latin typeface="Times New Roman"/>
                <a:cs typeface="Times New Roman"/>
              </a:rPr>
              <a:t>choisi </a:t>
            </a:r>
            <a:r>
              <a:rPr sz="2600" spc="15" dirty="0">
                <a:latin typeface="Times New Roman"/>
                <a:cs typeface="Times New Roman"/>
              </a:rPr>
              <a:t>au </a:t>
            </a:r>
            <a:r>
              <a:rPr sz="2600" spc="10" dirty="0">
                <a:latin typeface="Times New Roman"/>
                <a:cs typeface="Times New Roman"/>
              </a:rPr>
              <a:t>hasard. Indiquer si le </a:t>
            </a:r>
            <a:r>
              <a:rPr sz="2600" spc="15" dirty="0">
                <a:latin typeface="Times New Roman"/>
                <a:cs typeface="Times New Roman"/>
              </a:rPr>
              <a:t>nombre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proposé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inférieur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ou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supérieur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deviner.</a:t>
            </a:r>
            <a:endParaRPr sz="2600">
              <a:latin typeface="Times New Roman"/>
              <a:cs typeface="Times New Roman"/>
            </a:endParaRPr>
          </a:p>
          <a:p>
            <a:pPr marL="829944" marR="80010" lvl="1" indent="-314960" algn="just">
              <a:lnSpc>
                <a:spcPct val="101400"/>
              </a:lnSpc>
              <a:spcBef>
                <a:spcPts val="625"/>
              </a:spcBef>
              <a:buFont typeface="Wingdings"/>
              <a:buChar char=""/>
              <a:tabLst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Quelles sont les entrées? </a:t>
            </a:r>
            <a:r>
              <a:rPr sz="2600" b="1" spc="25" dirty="0">
                <a:latin typeface="Times New Roman"/>
                <a:cs typeface="Times New Roman"/>
              </a:rPr>
              <a:t>Un </a:t>
            </a:r>
            <a:r>
              <a:rPr sz="2600" b="1" spc="20" dirty="0">
                <a:latin typeface="Times New Roman"/>
                <a:cs typeface="Times New Roman"/>
              </a:rPr>
              <a:t>ou </a:t>
            </a:r>
            <a:r>
              <a:rPr sz="2600" b="1" spc="15" dirty="0">
                <a:latin typeface="Times New Roman"/>
                <a:cs typeface="Times New Roman"/>
              </a:rPr>
              <a:t>des </a:t>
            </a:r>
            <a:r>
              <a:rPr sz="2600" b="1" spc="20" dirty="0">
                <a:latin typeface="Times New Roman"/>
                <a:cs typeface="Times New Roman"/>
              </a:rPr>
              <a:t>nombres </a:t>
            </a:r>
            <a:r>
              <a:rPr sz="2600" b="1" spc="15" dirty="0">
                <a:latin typeface="Times New Roman"/>
                <a:cs typeface="Times New Roman"/>
              </a:rPr>
              <a:t>(dépend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si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devine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le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nombre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facilement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ou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non).</a:t>
            </a:r>
            <a:endParaRPr sz="2600">
              <a:latin typeface="Times New Roman"/>
              <a:cs typeface="Times New Roman"/>
            </a:endParaRPr>
          </a:p>
          <a:p>
            <a:pPr marL="829944" marR="257810" lvl="1" indent="-314960" algn="just">
              <a:lnSpc>
                <a:spcPct val="101400"/>
              </a:lnSpc>
              <a:spcBef>
                <a:spcPts val="635"/>
              </a:spcBef>
              <a:buFont typeface="Wingdings"/>
              <a:buChar char=""/>
              <a:tabLst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Quelles sont les sorties? </a:t>
            </a:r>
            <a:r>
              <a:rPr sz="2600" b="1" spc="20" dirty="0">
                <a:latin typeface="Times New Roman"/>
                <a:cs typeface="Times New Roman"/>
              </a:rPr>
              <a:t>Bravo ou </a:t>
            </a:r>
            <a:r>
              <a:rPr sz="2600" b="1" spc="15" dirty="0">
                <a:latin typeface="Times New Roman"/>
                <a:cs typeface="Times New Roman"/>
              </a:rPr>
              <a:t>trop petit </a:t>
            </a:r>
            <a:r>
              <a:rPr sz="2600" b="1" spc="20" dirty="0">
                <a:latin typeface="Times New Roman"/>
                <a:cs typeface="Times New Roman"/>
              </a:rPr>
              <a:t>ou </a:t>
            </a:r>
            <a:r>
              <a:rPr sz="2600" b="1" spc="15" dirty="0">
                <a:latin typeface="Times New Roman"/>
                <a:cs typeface="Times New Roman"/>
              </a:rPr>
              <a:t>trop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grand.</a:t>
            </a:r>
            <a:endParaRPr sz="2600">
              <a:latin typeface="Times New Roman"/>
              <a:cs typeface="Times New Roman"/>
            </a:endParaRPr>
          </a:p>
          <a:p>
            <a:pPr marL="829944" marR="213995" lvl="1" indent="-314960" algn="just">
              <a:lnSpc>
                <a:spcPct val="101299"/>
              </a:lnSpc>
              <a:spcBef>
                <a:spcPts val="635"/>
              </a:spcBef>
              <a:buFont typeface="Wingdings"/>
              <a:buChar char=""/>
              <a:tabLst>
                <a:tab pos="830580" algn="l"/>
              </a:tabLst>
            </a:pPr>
            <a:r>
              <a:rPr sz="2600" spc="15" dirty="0">
                <a:latin typeface="Times New Roman"/>
                <a:cs typeface="Times New Roman"/>
              </a:rPr>
              <a:t>Comment </a:t>
            </a:r>
            <a:r>
              <a:rPr sz="2600" spc="10" dirty="0">
                <a:latin typeface="Times New Roman"/>
                <a:cs typeface="Times New Roman"/>
              </a:rPr>
              <a:t>trouvons-nous </a:t>
            </a:r>
            <a:r>
              <a:rPr sz="2600" spc="15" dirty="0">
                <a:latin typeface="Times New Roman"/>
                <a:cs typeface="Times New Roman"/>
              </a:rPr>
              <a:t>un nombre </a:t>
            </a:r>
            <a:r>
              <a:rPr sz="2600" spc="10" dirty="0">
                <a:latin typeface="Times New Roman"/>
                <a:cs typeface="Times New Roman"/>
              </a:rPr>
              <a:t>choisi </a:t>
            </a:r>
            <a:r>
              <a:rPr sz="2600" spc="15" dirty="0">
                <a:latin typeface="Times New Roman"/>
                <a:cs typeface="Times New Roman"/>
              </a:rPr>
              <a:t>au </a:t>
            </a:r>
            <a:r>
              <a:rPr sz="2600" spc="10" dirty="0">
                <a:latin typeface="Times New Roman"/>
                <a:cs typeface="Times New Roman"/>
              </a:rPr>
              <a:t>hasard?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b="1" spc="25" dirty="0">
                <a:latin typeface="Times New Roman"/>
                <a:cs typeface="Times New Roman"/>
              </a:rPr>
              <a:t>On </a:t>
            </a:r>
            <a:r>
              <a:rPr sz="2600" b="1" spc="15" dirty="0">
                <a:latin typeface="Times New Roman"/>
                <a:cs typeface="Times New Roman"/>
              </a:rPr>
              <a:t>propose des </a:t>
            </a:r>
            <a:r>
              <a:rPr sz="2600" b="1" spc="20" dirty="0">
                <a:latin typeface="Times New Roman"/>
                <a:cs typeface="Times New Roman"/>
              </a:rPr>
              <a:t>nombres </a:t>
            </a:r>
            <a:r>
              <a:rPr sz="2600" b="1" u="heavy" spc="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tant qu'on</a:t>
            </a:r>
            <a:r>
              <a:rPr sz="2600" b="1" spc="15" dirty="0">
                <a:latin typeface="Times New Roman"/>
                <a:cs typeface="Times New Roman"/>
              </a:rPr>
              <a:t> n'a pas trouvé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le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bon.</a:t>
            </a:r>
            <a:endParaRPr sz="2600">
              <a:latin typeface="Times New Roman"/>
              <a:cs typeface="Times New Roman"/>
            </a:endParaRPr>
          </a:p>
          <a:p>
            <a:pPr marL="829944" marR="215265" lvl="1" indent="-314960">
              <a:lnSpc>
                <a:spcPct val="101400"/>
              </a:lnSpc>
              <a:spcBef>
                <a:spcPts val="635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Est-ce </a:t>
            </a:r>
            <a:r>
              <a:rPr sz="2600" spc="5" dirty="0">
                <a:latin typeface="Times New Roman"/>
                <a:cs typeface="Times New Roman"/>
              </a:rPr>
              <a:t>qu'il </a:t>
            </a:r>
            <a:r>
              <a:rPr sz="2600" spc="20" dirty="0">
                <a:latin typeface="Times New Roman"/>
                <a:cs typeface="Times New Roman"/>
              </a:rPr>
              <a:t>y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10" dirty="0">
                <a:latin typeface="Times New Roman"/>
                <a:cs typeface="Times New Roman"/>
              </a:rPr>
              <a:t>des répétitions </a:t>
            </a:r>
            <a:r>
              <a:rPr sz="2600" spc="15" dirty="0">
                <a:latin typeface="Times New Roman"/>
                <a:cs typeface="Times New Roman"/>
              </a:rPr>
              <a:t>? </a:t>
            </a:r>
            <a:r>
              <a:rPr sz="2600" b="1" spc="10" dirty="0">
                <a:latin typeface="Times New Roman"/>
                <a:cs typeface="Times New Roman"/>
              </a:rPr>
              <a:t>Oui. </a:t>
            </a:r>
            <a:r>
              <a:rPr sz="2600" spc="15" dirty="0">
                <a:latin typeface="Times New Roman"/>
                <a:cs typeface="Times New Roman"/>
              </a:rPr>
              <a:t>Combien ? </a:t>
            </a:r>
            <a:r>
              <a:rPr sz="2600" b="1" spc="15" dirty="0">
                <a:latin typeface="Times New Roman"/>
                <a:cs typeface="Times New Roman"/>
              </a:rPr>
              <a:t>Une.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Et </a:t>
            </a:r>
            <a:r>
              <a:rPr sz="2600" spc="10" dirty="0">
                <a:latin typeface="Times New Roman"/>
                <a:cs typeface="Times New Roman"/>
              </a:rPr>
              <a:t>elles répètent quelles opérations? </a:t>
            </a:r>
            <a:r>
              <a:rPr sz="2600" b="1" spc="20" dirty="0">
                <a:latin typeface="Times New Roman"/>
                <a:cs typeface="Times New Roman"/>
              </a:rPr>
              <a:t>Demande un 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nombre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à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l'utilisateur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et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vérifie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ce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nombre.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0437" y="357632"/>
            <a:ext cx="7553959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 schématique</a:t>
            </a:r>
            <a:r>
              <a:rPr sz="3950" spc="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: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500" spc="10" dirty="0">
                <a:solidFill>
                  <a:srgbClr val="000000"/>
                </a:solidFill>
              </a:rPr>
              <a:t>Exemple 2</a:t>
            </a:r>
            <a:endParaRPr sz="35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" y="1121663"/>
            <a:ext cx="9471659" cy="822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25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3025" y="1397761"/>
            <a:ext cx="8293734" cy="55689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marR="5080" indent="-377190">
              <a:lnSpc>
                <a:spcPct val="101400"/>
              </a:lnSpc>
              <a:spcBef>
                <a:spcPts val="95"/>
              </a:spcBef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2600" spc="10" dirty="0">
                <a:latin typeface="Times New Roman"/>
                <a:cs typeface="Times New Roman"/>
              </a:rPr>
              <a:t>Deviner </a:t>
            </a:r>
            <a:r>
              <a:rPr sz="2600" spc="15" dirty="0">
                <a:latin typeface="Times New Roman"/>
                <a:cs typeface="Times New Roman"/>
              </a:rPr>
              <a:t>un nombre </a:t>
            </a:r>
            <a:r>
              <a:rPr sz="2600" spc="10" dirty="0">
                <a:latin typeface="Times New Roman"/>
                <a:cs typeface="Times New Roman"/>
              </a:rPr>
              <a:t>choisi </a:t>
            </a:r>
            <a:r>
              <a:rPr sz="2600" spc="15" dirty="0">
                <a:latin typeface="Times New Roman"/>
                <a:cs typeface="Times New Roman"/>
              </a:rPr>
              <a:t>au </a:t>
            </a:r>
            <a:r>
              <a:rPr sz="2600" spc="10" dirty="0">
                <a:latin typeface="Times New Roman"/>
                <a:cs typeface="Times New Roman"/>
              </a:rPr>
              <a:t>hasard. Indiquer si le </a:t>
            </a:r>
            <a:r>
              <a:rPr sz="2600" spc="15" dirty="0">
                <a:latin typeface="Times New Roman"/>
                <a:cs typeface="Times New Roman"/>
              </a:rPr>
              <a:t>nombre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proposé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est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inférieur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ou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supérieur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deviner.</a:t>
            </a:r>
            <a:endParaRPr sz="2600">
              <a:latin typeface="Times New Roman"/>
              <a:cs typeface="Times New Roman"/>
            </a:endParaRPr>
          </a:p>
          <a:p>
            <a:pPr marL="829944" lvl="1" indent="-315595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Est-ce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que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décisions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ou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vérifications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sont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requises?</a:t>
            </a:r>
            <a:endParaRPr sz="2600">
              <a:latin typeface="Times New Roman"/>
              <a:cs typeface="Times New Roman"/>
            </a:endParaRPr>
          </a:p>
          <a:p>
            <a:pPr marL="829944">
              <a:lnSpc>
                <a:spcPct val="100000"/>
              </a:lnSpc>
              <a:spcBef>
                <a:spcPts val="45"/>
              </a:spcBef>
            </a:pPr>
            <a:r>
              <a:rPr sz="2600" b="1" spc="10" dirty="0">
                <a:latin typeface="Times New Roman"/>
                <a:cs typeface="Times New Roman"/>
              </a:rPr>
              <a:t>Oui.</a:t>
            </a:r>
            <a:endParaRPr sz="2600">
              <a:latin typeface="Times New Roman"/>
              <a:cs typeface="Times New Roman"/>
            </a:endParaRPr>
          </a:p>
          <a:p>
            <a:pPr marL="829944" lvl="1" indent="-314960" algn="just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830580" algn="l"/>
              </a:tabLst>
            </a:pPr>
            <a:r>
              <a:rPr sz="2600" spc="15" dirty="0">
                <a:latin typeface="Times New Roman"/>
                <a:cs typeface="Times New Roman"/>
              </a:rPr>
              <a:t>Combien?</a:t>
            </a:r>
            <a:r>
              <a:rPr sz="2600" spc="-2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Deux.</a:t>
            </a:r>
            <a:endParaRPr sz="2600">
              <a:latin typeface="Times New Roman"/>
              <a:cs typeface="Times New Roman"/>
            </a:endParaRPr>
          </a:p>
          <a:p>
            <a:pPr marL="829944" marR="372110" lvl="1" indent="-314960" algn="just">
              <a:lnSpc>
                <a:spcPct val="101400"/>
              </a:lnSpc>
              <a:spcBef>
                <a:spcPts val="625"/>
              </a:spcBef>
              <a:buFont typeface="Wingdings"/>
              <a:buChar char=""/>
              <a:tabLst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Quelles sont les alternatives?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Si le </a:t>
            </a:r>
            <a:r>
              <a:rPr sz="2600" b="1" spc="15" dirty="0">
                <a:latin typeface="Times New Roman"/>
                <a:cs typeface="Times New Roman"/>
              </a:rPr>
              <a:t>nombre est </a:t>
            </a:r>
            <a:r>
              <a:rPr sz="2600" b="1" spc="10" dirty="0">
                <a:latin typeface="Times New Roman"/>
                <a:cs typeface="Times New Roman"/>
              </a:rPr>
              <a:t>bien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deviné, terminer le </a:t>
            </a:r>
            <a:r>
              <a:rPr sz="2600" b="1" spc="15" dirty="0">
                <a:latin typeface="Times New Roman"/>
                <a:cs typeface="Times New Roman"/>
              </a:rPr>
              <a:t>programme </a:t>
            </a:r>
            <a:r>
              <a:rPr sz="2600" b="1" spc="10" dirty="0">
                <a:latin typeface="Times New Roman"/>
                <a:cs typeface="Times New Roman"/>
              </a:rPr>
              <a:t>et écrire </a:t>
            </a:r>
            <a:r>
              <a:rPr sz="2600" b="1" spc="20" dirty="0">
                <a:latin typeface="Times New Roman"/>
                <a:cs typeface="Times New Roman"/>
              </a:rPr>
              <a:t>à </a:t>
            </a:r>
            <a:r>
              <a:rPr sz="2600" b="1" spc="10" dirty="0">
                <a:latin typeface="Times New Roman"/>
                <a:cs typeface="Times New Roman"/>
              </a:rPr>
              <a:t>l'écran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bravo, </a:t>
            </a:r>
            <a:r>
              <a:rPr sz="2600" b="1" spc="15" dirty="0">
                <a:latin typeface="Times New Roman"/>
                <a:cs typeface="Times New Roman"/>
              </a:rPr>
              <a:t>ou </a:t>
            </a:r>
            <a:r>
              <a:rPr sz="2600" b="1" spc="10" dirty="0">
                <a:latin typeface="Times New Roman"/>
                <a:cs typeface="Times New Roman"/>
              </a:rPr>
              <a:t>si le </a:t>
            </a:r>
            <a:r>
              <a:rPr sz="2600" b="1" spc="15" dirty="0">
                <a:latin typeface="Times New Roman"/>
                <a:cs typeface="Times New Roman"/>
              </a:rPr>
              <a:t>nombre </a:t>
            </a:r>
            <a:r>
              <a:rPr sz="2600" b="1" spc="10" dirty="0">
                <a:latin typeface="Times New Roman"/>
                <a:cs typeface="Times New Roman"/>
              </a:rPr>
              <a:t>n'est </a:t>
            </a:r>
            <a:r>
              <a:rPr sz="2600" b="1" spc="15" dirty="0">
                <a:latin typeface="Times New Roman"/>
                <a:cs typeface="Times New Roman"/>
              </a:rPr>
              <a:t>pas </a:t>
            </a:r>
            <a:r>
              <a:rPr sz="2600" b="1" spc="10" dirty="0">
                <a:latin typeface="Times New Roman"/>
                <a:cs typeface="Times New Roman"/>
              </a:rPr>
              <a:t>deviné, vérifier </a:t>
            </a:r>
            <a:r>
              <a:rPr sz="2600" b="1" spc="5" dirty="0">
                <a:latin typeface="Times New Roman"/>
                <a:cs typeface="Times New Roman"/>
              </a:rPr>
              <a:t>le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sens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de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l'erreur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et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écrire</a:t>
            </a:r>
            <a:r>
              <a:rPr sz="2600" b="1" spc="10" dirty="0">
                <a:latin typeface="Times New Roman"/>
                <a:cs typeface="Times New Roman"/>
              </a:rPr>
              <a:t> trop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petit,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trop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grand.</a:t>
            </a:r>
            <a:endParaRPr sz="2600">
              <a:latin typeface="Times New Roman"/>
              <a:cs typeface="Times New Roman"/>
            </a:endParaRPr>
          </a:p>
          <a:p>
            <a:pPr marL="829944" marR="215265" lvl="1" indent="-314960">
              <a:lnSpc>
                <a:spcPct val="101400"/>
              </a:lnSpc>
              <a:spcBef>
                <a:spcPts val="635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Elles influencent quelles opérations </a:t>
            </a:r>
            <a:r>
              <a:rPr sz="2600" spc="15" dirty="0">
                <a:latin typeface="Times New Roman"/>
                <a:cs typeface="Times New Roman"/>
              </a:rPr>
              <a:t>? </a:t>
            </a:r>
            <a:r>
              <a:rPr sz="2600" b="1" spc="20" dirty="0">
                <a:latin typeface="Times New Roman"/>
                <a:cs typeface="Times New Roman"/>
              </a:rPr>
              <a:t>La </a:t>
            </a:r>
            <a:r>
              <a:rPr sz="2600" b="1" spc="10" dirty="0">
                <a:latin typeface="Times New Roman"/>
                <a:cs typeface="Times New Roman"/>
              </a:rPr>
              <a:t>répétition, </a:t>
            </a:r>
            <a:r>
              <a:rPr sz="2600" b="1" spc="15" dirty="0">
                <a:latin typeface="Times New Roman"/>
                <a:cs typeface="Times New Roman"/>
              </a:rPr>
              <a:t> car recommence </a:t>
            </a:r>
            <a:r>
              <a:rPr sz="2600" b="1" spc="10" dirty="0">
                <a:latin typeface="Times New Roman"/>
                <a:cs typeface="Times New Roman"/>
              </a:rPr>
              <a:t>tant </a:t>
            </a:r>
            <a:r>
              <a:rPr sz="2600" b="1" spc="15" dirty="0">
                <a:latin typeface="Times New Roman"/>
                <a:cs typeface="Times New Roman"/>
              </a:rPr>
              <a:t>que </a:t>
            </a:r>
            <a:r>
              <a:rPr sz="2600" b="1" spc="10" dirty="0">
                <a:latin typeface="Times New Roman"/>
                <a:cs typeface="Times New Roman"/>
              </a:rPr>
              <a:t>le </a:t>
            </a:r>
            <a:r>
              <a:rPr sz="2600" b="1" spc="15" dirty="0">
                <a:latin typeface="Times New Roman"/>
                <a:cs typeface="Times New Roman"/>
              </a:rPr>
              <a:t>nombre </a:t>
            </a:r>
            <a:r>
              <a:rPr sz="2600" b="1" spc="10" dirty="0">
                <a:latin typeface="Times New Roman"/>
                <a:cs typeface="Times New Roman"/>
              </a:rPr>
              <a:t>n'est pas </a:t>
            </a:r>
            <a:r>
              <a:rPr sz="2600" b="1" spc="1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deviné, et aussi </a:t>
            </a:r>
            <a:r>
              <a:rPr sz="2600" b="1" spc="15" dirty="0">
                <a:latin typeface="Times New Roman"/>
                <a:cs typeface="Times New Roman"/>
              </a:rPr>
              <a:t>ce </a:t>
            </a:r>
            <a:r>
              <a:rPr sz="2600" b="1" spc="10" dirty="0">
                <a:latin typeface="Times New Roman"/>
                <a:cs typeface="Times New Roman"/>
              </a:rPr>
              <a:t>qui est écrit </a:t>
            </a:r>
            <a:r>
              <a:rPr sz="2600" b="1" spc="20" dirty="0">
                <a:latin typeface="Times New Roman"/>
                <a:cs typeface="Times New Roman"/>
              </a:rPr>
              <a:t>à </a:t>
            </a:r>
            <a:r>
              <a:rPr sz="2600" b="1" spc="10" dirty="0">
                <a:latin typeface="Times New Roman"/>
                <a:cs typeface="Times New Roman"/>
              </a:rPr>
              <a:t>l'écran (trop </a:t>
            </a:r>
            <a:r>
              <a:rPr sz="2600" b="1" spc="5" dirty="0">
                <a:latin typeface="Times New Roman"/>
                <a:cs typeface="Times New Roman"/>
              </a:rPr>
              <a:t>petit,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trop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grand).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8977" y="357632"/>
            <a:ext cx="52355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</a:t>
            </a:r>
            <a:endParaRPr sz="3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" y="1120139"/>
            <a:ext cx="9471659" cy="822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26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3025" y="1146302"/>
            <a:ext cx="6870700" cy="292544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40"/>
              </a:spcBef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2600" spc="10" dirty="0">
                <a:latin typeface="Times New Roman"/>
                <a:cs typeface="Times New Roman"/>
              </a:rPr>
              <a:t>Deviner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choisi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hasard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(Version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1)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>
              <a:latin typeface="Times New Roman"/>
              <a:cs typeface="Times New Roman"/>
            </a:endParaRPr>
          </a:p>
          <a:p>
            <a:pPr marL="1521460" marR="1324610">
              <a:lnSpc>
                <a:spcPct val="119800"/>
              </a:lnSpc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"</a:t>
            </a:r>
            <a:r>
              <a:rPr sz="1950" spc="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Entrer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deviner</a:t>
            </a:r>
            <a:r>
              <a:rPr sz="1950" spc="-5" dirty="0">
                <a:latin typeface="Times New Roman"/>
                <a:cs typeface="Times New Roman"/>
              </a:rPr>
              <a:t>" </a:t>
            </a:r>
            <a:r>
              <a:rPr sz="1950" spc="-47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deviner</a:t>
            </a:r>
            <a:endParaRPr sz="2200">
              <a:latin typeface="Times New Roman"/>
              <a:cs typeface="Times New Roman"/>
            </a:endParaRPr>
          </a:p>
          <a:p>
            <a:pPr marL="1521460">
              <a:lnSpc>
                <a:spcPct val="100000"/>
              </a:lnSpc>
              <a:spcBef>
                <a:spcPts val="525"/>
              </a:spcBef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"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Entrer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1950" spc="10" dirty="0">
                <a:latin typeface="Times New Roman"/>
                <a:cs typeface="Times New Roman"/>
              </a:rPr>
              <a:t>"</a:t>
            </a:r>
            <a:endParaRPr sz="1950">
              <a:latin typeface="Times New Roman"/>
              <a:cs typeface="Times New Roman"/>
            </a:endParaRPr>
          </a:p>
          <a:p>
            <a:pPr marL="1521460">
              <a:lnSpc>
                <a:spcPct val="100000"/>
              </a:lnSpc>
              <a:spcBef>
                <a:spcPts val="520"/>
              </a:spcBef>
            </a:pPr>
            <a:r>
              <a:rPr sz="2200" spc="-5" dirty="0">
                <a:latin typeface="Times New Roman"/>
                <a:cs typeface="Times New Roman"/>
              </a:rPr>
              <a:t>Lire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endParaRPr sz="2200">
              <a:latin typeface="Times New Roman"/>
              <a:cs typeface="Times New Roman"/>
            </a:endParaRPr>
          </a:p>
          <a:p>
            <a:pPr marL="1521460">
              <a:lnSpc>
                <a:spcPct val="100000"/>
              </a:lnSpc>
              <a:spcBef>
                <a:spcPts val="575"/>
              </a:spcBef>
            </a:pPr>
            <a:r>
              <a:rPr sz="2200" dirty="0">
                <a:latin typeface="Times New Roman"/>
                <a:cs typeface="Times New Roman"/>
              </a:rPr>
              <a:t>TANT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 </a:t>
            </a:r>
            <a:r>
              <a:rPr sz="2200" spc="-5" dirty="0">
                <a:latin typeface="Times New Roman"/>
                <a:cs typeface="Times New Roman"/>
              </a:rPr>
              <a:t>nombre </a:t>
            </a:r>
            <a:r>
              <a:rPr sz="2200" dirty="0">
                <a:latin typeface="Symbol"/>
                <a:cs typeface="Symbol"/>
              </a:rPr>
              <a:t>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deviner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49879" y="4137659"/>
            <a:ext cx="3771900" cy="2346960"/>
          </a:xfrm>
          <a:prstGeom prst="rect">
            <a:avLst/>
          </a:prstGeom>
          <a:ln w="10477">
            <a:solidFill>
              <a:srgbClr val="01010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81940">
              <a:lnSpc>
                <a:spcPts val="2490"/>
              </a:lnSpc>
            </a:pPr>
            <a:r>
              <a:rPr sz="2200" spc="-5" dirty="0">
                <a:latin typeface="Times New Roman"/>
                <a:cs typeface="Times New Roman"/>
              </a:rPr>
              <a:t>SI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&lt;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deviner</a:t>
            </a:r>
            <a:endParaRPr sz="2200">
              <a:latin typeface="Times New Roman"/>
              <a:cs typeface="Times New Roman"/>
            </a:endParaRPr>
          </a:p>
          <a:p>
            <a:pPr marL="282575" marR="1067435" indent="349250">
              <a:lnSpc>
                <a:spcPct val="119800"/>
              </a:lnSpc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"</a:t>
            </a:r>
            <a:r>
              <a:rPr sz="2200" dirty="0">
                <a:latin typeface="Times New Roman"/>
                <a:cs typeface="Times New Roman"/>
              </a:rPr>
              <a:t>Trop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petit</a:t>
            </a:r>
            <a:r>
              <a:rPr sz="1950" spc="-5" dirty="0">
                <a:latin typeface="Times New Roman"/>
                <a:cs typeface="Times New Roman"/>
              </a:rPr>
              <a:t>" </a:t>
            </a:r>
            <a:r>
              <a:rPr sz="1950" spc="-4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SINON</a:t>
            </a:r>
            <a:endParaRPr sz="2200">
              <a:latin typeface="Times New Roman"/>
              <a:cs typeface="Times New Roman"/>
            </a:endParaRPr>
          </a:p>
          <a:p>
            <a:pPr marL="282575" marR="292100" indent="349250">
              <a:lnSpc>
                <a:spcPct val="119800"/>
              </a:lnSpc>
            </a:pPr>
            <a:r>
              <a:rPr sz="2200" spc="-5" dirty="0">
                <a:latin typeface="Times New Roman"/>
                <a:cs typeface="Times New Roman"/>
              </a:rPr>
              <a:t>Écrire </a:t>
            </a:r>
            <a:r>
              <a:rPr sz="1950" dirty="0">
                <a:latin typeface="Times New Roman"/>
                <a:cs typeface="Times New Roman"/>
              </a:rPr>
              <a:t>"</a:t>
            </a:r>
            <a:r>
              <a:rPr sz="2200" dirty="0">
                <a:latin typeface="Times New Roman"/>
                <a:cs typeface="Times New Roman"/>
              </a:rPr>
              <a:t>Trop </a:t>
            </a:r>
            <a:r>
              <a:rPr sz="2200" spc="-5" dirty="0">
                <a:latin typeface="Times New Roman"/>
                <a:cs typeface="Times New Roman"/>
              </a:rPr>
              <a:t>grand</a:t>
            </a:r>
            <a:r>
              <a:rPr sz="1950" spc="-5" dirty="0">
                <a:latin typeface="Times New Roman"/>
                <a:cs typeface="Times New Roman"/>
              </a:rPr>
              <a:t>" </a:t>
            </a:r>
            <a:r>
              <a:rPr sz="19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Afficher </a:t>
            </a:r>
            <a:r>
              <a:rPr sz="1950" spc="-5" dirty="0">
                <a:latin typeface="Times New Roman"/>
                <a:cs typeface="Times New Roman"/>
              </a:rPr>
              <a:t>"</a:t>
            </a:r>
            <a:r>
              <a:rPr sz="2200" spc="-5" dirty="0">
                <a:latin typeface="Times New Roman"/>
                <a:cs typeface="Times New Roman"/>
              </a:rPr>
              <a:t>Entrer un nombre</a:t>
            </a:r>
            <a:r>
              <a:rPr sz="1950" spc="-5" dirty="0">
                <a:latin typeface="Times New Roman"/>
                <a:cs typeface="Times New Roman"/>
              </a:rPr>
              <a:t>" </a:t>
            </a:r>
            <a:r>
              <a:rPr sz="1950" spc="-47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51672" y="6515362"/>
            <a:ext cx="224091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"</a:t>
            </a:r>
            <a:r>
              <a:rPr sz="2200" dirty="0">
                <a:latin typeface="Times New Roman"/>
                <a:cs typeface="Times New Roman"/>
              </a:rPr>
              <a:t>BRAVO!!!</a:t>
            </a:r>
            <a:r>
              <a:rPr sz="1950" dirty="0">
                <a:latin typeface="Times New Roman"/>
                <a:cs typeface="Times New Roman"/>
              </a:rPr>
              <a:t>"</a:t>
            </a:r>
            <a:endParaRPr sz="19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75158" y="273811"/>
            <a:ext cx="52355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</a:t>
            </a:r>
            <a:endParaRPr sz="3950"/>
          </a:p>
        </p:txBody>
      </p:sp>
      <p:sp>
        <p:nvSpPr>
          <p:cNvPr id="6" name="object 6"/>
          <p:cNvSpPr/>
          <p:nvPr/>
        </p:nvSpPr>
        <p:spPr>
          <a:xfrm>
            <a:off x="1844039" y="2042160"/>
            <a:ext cx="335280" cy="4861560"/>
          </a:xfrm>
          <a:custGeom>
            <a:avLst/>
            <a:gdLst/>
            <a:ahLst/>
            <a:cxnLst/>
            <a:rect l="l" t="t" r="r" b="b"/>
            <a:pathLst>
              <a:path w="335280" h="4861559">
                <a:moveTo>
                  <a:pt x="167639" y="0"/>
                </a:moveTo>
                <a:lnTo>
                  <a:pt x="167640" y="4861560"/>
                </a:lnTo>
              </a:path>
              <a:path w="335280" h="4861559">
                <a:moveTo>
                  <a:pt x="0" y="0"/>
                </a:moveTo>
                <a:lnTo>
                  <a:pt x="335279" y="0"/>
                </a:lnTo>
              </a:path>
              <a:path w="335280" h="4861559">
                <a:moveTo>
                  <a:pt x="0" y="4861560"/>
                </a:moveTo>
                <a:lnTo>
                  <a:pt x="335280" y="4861560"/>
                </a:lnTo>
              </a:path>
            </a:pathLst>
          </a:custGeom>
          <a:ln w="4191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" y="952499"/>
            <a:ext cx="9471659" cy="8229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27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6736" y="1146302"/>
            <a:ext cx="7109459" cy="412432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75920" indent="-363855">
              <a:lnSpc>
                <a:spcPct val="100000"/>
              </a:lnSpc>
              <a:spcBef>
                <a:spcPts val="140"/>
              </a:spcBef>
              <a:buFont typeface="Wingdings"/>
              <a:buChar char=""/>
              <a:tabLst>
                <a:tab pos="375920" algn="l"/>
                <a:tab pos="376555" algn="l"/>
              </a:tabLst>
            </a:pPr>
            <a:r>
              <a:rPr sz="2600" spc="10" dirty="0">
                <a:latin typeface="Times New Roman"/>
                <a:cs typeface="Times New Roman"/>
              </a:rPr>
              <a:t>Ajout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du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schéma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répétitif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300">
              <a:latin typeface="Times New Roman"/>
              <a:cs typeface="Times New Roman"/>
            </a:endParaRPr>
          </a:p>
          <a:p>
            <a:pPr marL="1150620" marR="1842135">
              <a:lnSpc>
                <a:spcPct val="119800"/>
              </a:lnSpc>
              <a:tabLst>
                <a:tab pos="1971675" algn="l"/>
              </a:tabLst>
            </a:pPr>
            <a:r>
              <a:rPr sz="2200" spc="-5" dirty="0">
                <a:latin typeface="Times New Roman"/>
                <a:cs typeface="Times New Roman"/>
              </a:rPr>
              <a:t>Écrire	"Entrer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deviner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deviner</a:t>
            </a:r>
            <a:endParaRPr sz="2200">
              <a:latin typeface="Times New Roman"/>
              <a:cs typeface="Times New Roman"/>
            </a:endParaRPr>
          </a:p>
          <a:p>
            <a:pPr marL="1150620" marR="3002915">
              <a:lnSpc>
                <a:spcPct val="119800"/>
              </a:lnSpc>
            </a:pPr>
            <a:r>
              <a:rPr sz="2200" spc="-5" dirty="0">
                <a:latin typeface="Times New Roman"/>
                <a:cs typeface="Times New Roman"/>
              </a:rPr>
              <a:t>Écrire "Entrer un nombre" </a:t>
            </a:r>
            <a:r>
              <a:rPr sz="2200" spc="-54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endParaRPr sz="2200">
              <a:latin typeface="Times New Roman"/>
              <a:cs typeface="Times New Roman"/>
            </a:endParaRPr>
          </a:p>
          <a:p>
            <a:pPr marL="2757170" marR="400050" indent="-1256665">
              <a:lnSpc>
                <a:spcPct val="118000"/>
              </a:lnSpc>
              <a:spcBef>
                <a:spcPts val="100"/>
              </a:spcBef>
              <a:tabLst>
                <a:tab pos="1850389" algn="l"/>
              </a:tabLst>
            </a:pPr>
            <a:r>
              <a:rPr sz="2200" dirty="0">
                <a:latin typeface="Times New Roman"/>
                <a:cs typeface="Times New Roman"/>
              </a:rPr>
              <a:t>*	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TANT QUE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nombre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lu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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nombre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à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deviner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2200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nombre</a:t>
            </a:r>
            <a:r>
              <a:rPr sz="2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lu</a:t>
            </a:r>
            <a:r>
              <a:rPr sz="2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&lt;</a:t>
            </a:r>
            <a:r>
              <a:rPr sz="2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nombre</a:t>
            </a:r>
            <a:r>
              <a:rPr sz="2200" u="heavy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à</a:t>
            </a:r>
            <a:r>
              <a:rPr sz="2200" u="heavy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deviner</a:t>
            </a:r>
            <a:endParaRPr sz="2200">
              <a:latin typeface="Times New Roman"/>
              <a:cs typeface="Times New Roman"/>
            </a:endParaRPr>
          </a:p>
          <a:p>
            <a:pPr marL="2757170" marR="5080" indent="349250">
              <a:lnSpc>
                <a:spcPct val="119800"/>
              </a:lnSpc>
            </a:pPr>
            <a:r>
              <a:rPr sz="2200" spc="-5" dirty="0">
                <a:latin typeface="Times New Roman"/>
                <a:cs typeface="Times New Roman"/>
              </a:rPr>
              <a:t>Écrire </a:t>
            </a:r>
            <a:r>
              <a:rPr sz="2200" dirty="0">
                <a:latin typeface="Times New Roman"/>
                <a:cs typeface="Times New Roman"/>
              </a:rPr>
              <a:t>" </a:t>
            </a:r>
            <a:r>
              <a:rPr sz="2200" spc="-5" dirty="0">
                <a:latin typeface="Times New Roman"/>
                <a:cs typeface="Times New Roman"/>
              </a:rPr>
              <a:t>le nombre lu est trop petit </a:t>
            </a:r>
            <a:r>
              <a:rPr sz="2200" dirty="0">
                <a:latin typeface="Times New Roman"/>
                <a:cs typeface="Times New Roman"/>
              </a:rPr>
              <a:t>"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SINON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01670" y="5310650"/>
            <a:ext cx="415607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lu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est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trop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grand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3247" y="5646234"/>
            <a:ext cx="2972435" cy="828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9800"/>
              </a:lnSpc>
              <a:spcBef>
                <a:spcPts val="95"/>
              </a:spcBef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"Entrer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nombre"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5038" y="6515399"/>
            <a:ext cx="60369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</a:t>
            </a:r>
            <a:r>
              <a:rPr sz="2200" spc="-5" dirty="0">
                <a:latin typeface="Times New Roman"/>
                <a:cs typeface="Times New Roman"/>
              </a:rPr>
              <a:t> BRAVO!!!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Vous avez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trouvé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 bon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nombre"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91338" y="189991"/>
            <a:ext cx="52355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</a:t>
            </a:r>
            <a:endParaRPr sz="3950"/>
          </a:p>
        </p:txBody>
      </p:sp>
      <p:sp>
        <p:nvSpPr>
          <p:cNvPr id="7" name="object 7"/>
          <p:cNvSpPr/>
          <p:nvPr/>
        </p:nvSpPr>
        <p:spPr>
          <a:xfrm>
            <a:off x="670559" y="2042160"/>
            <a:ext cx="2011680" cy="4861560"/>
          </a:xfrm>
          <a:custGeom>
            <a:avLst/>
            <a:gdLst/>
            <a:ahLst/>
            <a:cxnLst/>
            <a:rect l="l" t="t" r="r" b="b"/>
            <a:pathLst>
              <a:path w="2011680" h="4861559">
                <a:moveTo>
                  <a:pt x="167640" y="0"/>
                </a:moveTo>
                <a:lnTo>
                  <a:pt x="167640" y="4861560"/>
                </a:lnTo>
              </a:path>
              <a:path w="2011680" h="4861559">
                <a:moveTo>
                  <a:pt x="0" y="0"/>
                </a:moveTo>
                <a:lnTo>
                  <a:pt x="335280" y="0"/>
                </a:lnTo>
              </a:path>
              <a:path w="2011680" h="4861559">
                <a:moveTo>
                  <a:pt x="0" y="4861560"/>
                </a:moveTo>
                <a:lnTo>
                  <a:pt x="335280" y="4861560"/>
                </a:lnTo>
              </a:path>
              <a:path w="2011680" h="4861559">
                <a:moveTo>
                  <a:pt x="167640" y="1676400"/>
                </a:moveTo>
                <a:lnTo>
                  <a:pt x="1089660" y="1676400"/>
                </a:lnTo>
              </a:path>
              <a:path w="2011680" h="4861559">
                <a:moveTo>
                  <a:pt x="838200" y="1676400"/>
                </a:moveTo>
                <a:lnTo>
                  <a:pt x="838200" y="4358640"/>
                </a:lnTo>
              </a:path>
              <a:path w="2011680" h="4861559">
                <a:moveTo>
                  <a:pt x="1089660" y="1676400"/>
                </a:moveTo>
                <a:lnTo>
                  <a:pt x="1089660" y="4358640"/>
                </a:lnTo>
              </a:path>
              <a:path w="2011680" h="4861559">
                <a:moveTo>
                  <a:pt x="1089660" y="2263140"/>
                </a:moveTo>
                <a:lnTo>
                  <a:pt x="2011679" y="2263140"/>
                </a:lnTo>
                <a:lnTo>
                  <a:pt x="2011680" y="3771900"/>
                </a:lnTo>
              </a:path>
            </a:pathLst>
          </a:custGeom>
          <a:ln w="4191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" y="868679"/>
            <a:ext cx="9471659" cy="8229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7145369" y="4868513"/>
            <a:ext cx="2840355" cy="2503170"/>
            <a:chOff x="7145369" y="4868513"/>
            <a:chExt cx="2840355" cy="2503170"/>
          </a:xfrm>
        </p:grpSpPr>
        <p:sp>
          <p:nvSpPr>
            <p:cNvPr id="10" name="object 10"/>
            <p:cNvSpPr/>
            <p:nvPr/>
          </p:nvSpPr>
          <p:spPr>
            <a:xfrm>
              <a:off x="7234428" y="4957572"/>
              <a:ext cx="2750820" cy="2414270"/>
            </a:xfrm>
            <a:custGeom>
              <a:avLst/>
              <a:gdLst/>
              <a:ahLst/>
              <a:cxnLst/>
              <a:rect l="l" t="t" r="r" b="b"/>
              <a:pathLst>
                <a:path w="2750820" h="2414270">
                  <a:moveTo>
                    <a:pt x="2750819" y="2112264"/>
                  </a:moveTo>
                  <a:lnTo>
                    <a:pt x="2750819" y="906779"/>
                  </a:lnTo>
                  <a:lnTo>
                    <a:pt x="2747230" y="865786"/>
                  </a:lnTo>
                  <a:lnTo>
                    <a:pt x="2736775" y="826484"/>
                  </a:lnTo>
                  <a:lnTo>
                    <a:pt x="2719923" y="789229"/>
                  </a:lnTo>
                  <a:lnTo>
                    <a:pt x="2697141" y="754379"/>
                  </a:lnTo>
                  <a:lnTo>
                    <a:pt x="2668898" y="722292"/>
                  </a:lnTo>
                  <a:lnTo>
                    <a:pt x="2635662" y="693324"/>
                  </a:lnTo>
                  <a:lnTo>
                    <a:pt x="2597902" y="667833"/>
                  </a:lnTo>
                  <a:lnTo>
                    <a:pt x="2556086" y="646175"/>
                  </a:lnTo>
                  <a:lnTo>
                    <a:pt x="2510682" y="628709"/>
                  </a:lnTo>
                  <a:lnTo>
                    <a:pt x="2462159" y="615791"/>
                  </a:lnTo>
                  <a:lnTo>
                    <a:pt x="2410985" y="607778"/>
                  </a:lnTo>
                  <a:lnTo>
                    <a:pt x="2357627" y="605027"/>
                  </a:lnTo>
                  <a:lnTo>
                    <a:pt x="1375409" y="605027"/>
                  </a:lnTo>
                  <a:lnTo>
                    <a:pt x="0" y="0"/>
                  </a:lnTo>
                  <a:lnTo>
                    <a:pt x="786383" y="605027"/>
                  </a:lnTo>
                  <a:lnTo>
                    <a:pt x="733026" y="607778"/>
                  </a:lnTo>
                  <a:lnTo>
                    <a:pt x="681852" y="615791"/>
                  </a:lnTo>
                  <a:lnTo>
                    <a:pt x="633329" y="628709"/>
                  </a:lnTo>
                  <a:lnTo>
                    <a:pt x="587925" y="646175"/>
                  </a:lnTo>
                  <a:lnTo>
                    <a:pt x="546109" y="667833"/>
                  </a:lnTo>
                  <a:lnTo>
                    <a:pt x="508349" y="693324"/>
                  </a:lnTo>
                  <a:lnTo>
                    <a:pt x="475113" y="722292"/>
                  </a:lnTo>
                  <a:lnTo>
                    <a:pt x="446870" y="754379"/>
                  </a:lnTo>
                  <a:lnTo>
                    <a:pt x="424088" y="789229"/>
                  </a:lnTo>
                  <a:lnTo>
                    <a:pt x="407236" y="826484"/>
                  </a:lnTo>
                  <a:lnTo>
                    <a:pt x="396781" y="865786"/>
                  </a:lnTo>
                  <a:lnTo>
                    <a:pt x="393191" y="906779"/>
                  </a:lnTo>
                  <a:lnTo>
                    <a:pt x="393191" y="2112264"/>
                  </a:lnTo>
                  <a:lnTo>
                    <a:pt x="396781" y="2153257"/>
                  </a:lnTo>
                  <a:lnTo>
                    <a:pt x="407236" y="2192559"/>
                  </a:lnTo>
                  <a:lnTo>
                    <a:pt x="424088" y="2229814"/>
                  </a:lnTo>
                  <a:lnTo>
                    <a:pt x="446870" y="2264664"/>
                  </a:lnTo>
                  <a:lnTo>
                    <a:pt x="475113" y="2296751"/>
                  </a:lnTo>
                  <a:lnTo>
                    <a:pt x="508349" y="2325719"/>
                  </a:lnTo>
                  <a:lnTo>
                    <a:pt x="546109" y="2351210"/>
                  </a:lnTo>
                  <a:lnTo>
                    <a:pt x="587925" y="2372867"/>
                  </a:lnTo>
                  <a:lnTo>
                    <a:pt x="633329" y="2390334"/>
                  </a:lnTo>
                  <a:lnTo>
                    <a:pt x="681852" y="2403252"/>
                  </a:lnTo>
                  <a:lnTo>
                    <a:pt x="733026" y="2411265"/>
                  </a:lnTo>
                  <a:lnTo>
                    <a:pt x="786383" y="2414016"/>
                  </a:lnTo>
                  <a:lnTo>
                    <a:pt x="2357628" y="2414016"/>
                  </a:lnTo>
                  <a:lnTo>
                    <a:pt x="2410985" y="2411265"/>
                  </a:lnTo>
                  <a:lnTo>
                    <a:pt x="2462159" y="2403252"/>
                  </a:lnTo>
                  <a:lnTo>
                    <a:pt x="2510682" y="2390334"/>
                  </a:lnTo>
                  <a:lnTo>
                    <a:pt x="2556086" y="2372867"/>
                  </a:lnTo>
                  <a:lnTo>
                    <a:pt x="2597902" y="2351210"/>
                  </a:lnTo>
                  <a:lnTo>
                    <a:pt x="2635662" y="2325719"/>
                  </a:lnTo>
                  <a:lnTo>
                    <a:pt x="2668898" y="2296751"/>
                  </a:lnTo>
                  <a:lnTo>
                    <a:pt x="2697141" y="2264664"/>
                  </a:lnTo>
                  <a:lnTo>
                    <a:pt x="2719923" y="2229814"/>
                  </a:lnTo>
                  <a:lnTo>
                    <a:pt x="2736775" y="2192559"/>
                  </a:lnTo>
                  <a:lnTo>
                    <a:pt x="2747230" y="2153257"/>
                  </a:lnTo>
                  <a:lnTo>
                    <a:pt x="2750819" y="2112264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50608" y="4873752"/>
              <a:ext cx="2750820" cy="2414270"/>
            </a:xfrm>
            <a:custGeom>
              <a:avLst/>
              <a:gdLst/>
              <a:ahLst/>
              <a:cxnLst/>
              <a:rect l="l" t="t" r="r" b="b"/>
              <a:pathLst>
                <a:path w="2750820" h="2414270">
                  <a:moveTo>
                    <a:pt x="2750819" y="2112264"/>
                  </a:moveTo>
                  <a:lnTo>
                    <a:pt x="2750819" y="906779"/>
                  </a:lnTo>
                  <a:lnTo>
                    <a:pt x="2747230" y="865786"/>
                  </a:lnTo>
                  <a:lnTo>
                    <a:pt x="2736775" y="826484"/>
                  </a:lnTo>
                  <a:lnTo>
                    <a:pt x="2719923" y="789229"/>
                  </a:lnTo>
                  <a:lnTo>
                    <a:pt x="2697141" y="754379"/>
                  </a:lnTo>
                  <a:lnTo>
                    <a:pt x="2668898" y="722292"/>
                  </a:lnTo>
                  <a:lnTo>
                    <a:pt x="2635662" y="693324"/>
                  </a:lnTo>
                  <a:lnTo>
                    <a:pt x="2597902" y="667833"/>
                  </a:lnTo>
                  <a:lnTo>
                    <a:pt x="2556086" y="646175"/>
                  </a:lnTo>
                  <a:lnTo>
                    <a:pt x="2510682" y="628709"/>
                  </a:lnTo>
                  <a:lnTo>
                    <a:pt x="2462159" y="615791"/>
                  </a:lnTo>
                  <a:lnTo>
                    <a:pt x="2410985" y="607778"/>
                  </a:lnTo>
                  <a:lnTo>
                    <a:pt x="2357627" y="605027"/>
                  </a:lnTo>
                  <a:lnTo>
                    <a:pt x="1375409" y="605027"/>
                  </a:lnTo>
                  <a:lnTo>
                    <a:pt x="0" y="0"/>
                  </a:lnTo>
                  <a:lnTo>
                    <a:pt x="786383" y="605027"/>
                  </a:lnTo>
                  <a:lnTo>
                    <a:pt x="733026" y="607778"/>
                  </a:lnTo>
                  <a:lnTo>
                    <a:pt x="681852" y="615791"/>
                  </a:lnTo>
                  <a:lnTo>
                    <a:pt x="633329" y="628709"/>
                  </a:lnTo>
                  <a:lnTo>
                    <a:pt x="587925" y="646175"/>
                  </a:lnTo>
                  <a:lnTo>
                    <a:pt x="546109" y="667833"/>
                  </a:lnTo>
                  <a:lnTo>
                    <a:pt x="508349" y="693324"/>
                  </a:lnTo>
                  <a:lnTo>
                    <a:pt x="475113" y="722292"/>
                  </a:lnTo>
                  <a:lnTo>
                    <a:pt x="446870" y="754379"/>
                  </a:lnTo>
                  <a:lnTo>
                    <a:pt x="424088" y="789229"/>
                  </a:lnTo>
                  <a:lnTo>
                    <a:pt x="407236" y="826484"/>
                  </a:lnTo>
                  <a:lnTo>
                    <a:pt x="396781" y="865786"/>
                  </a:lnTo>
                  <a:lnTo>
                    <a:pt x="393191" y="906779"/>
                  </a:lnTo>
                  <a:lnTo>
                    <a:pt x="393191" y="2112264"/>
                  </a:lnTo>
                  <a:lnTo>
                    <a:pt x="396781" y="2153257"/>
                  </a:lnTo>
                  <a:lnTo>
                    <a:pt x="407236" y="2192559"/>
                  </a:lnTo>
                  <a:lnTo>
                    <a:pt x="424088" y="2229814"/>
                  </a:lnTo>
                  <a:lnTo>
                    <a:pt x="446870" y="2264664"/>
                  </a:lnTo>
                  <a:lnTo>
                    <a:pt x="475113" y="2296751"/>
                  </a:lnTo>
                  <a:lnTo>
                    <a:pt x="508349" y="2325719"/>
                  </a:lnTo>
                  <a:lnTo>
                    <a:pt x="546109" y="2351210"/>
                  </a:lnTo>
                  <a:lnTo>
                    <a:pt x="587925" y="2372867"/>
                  </a:lnTo>
                  <a:lnTo>
                    <a:pt x="633329" y="2390334"/>
                  </a:lnTo>
                  <a:lnTo>
                    <a:pt x="681852" y="2403252"/>
                  </a:lnTo>
                  <a:lnTo>
                    <a:pt x="733026" y="2411265"/>
                  </a:lnTo>
                  <a:lnTo>
                    <a:pt x="786383" y="2414016"/>
                  </a:lnTo>
                  <a:lnTo>
                    <a:pt x="2357628" y="2414016"/>
                  </a:lnTo>
                  <a:lnTo>
                    <a:pt x="2410985" y="2411265"/>
                  </a:lnTo>
                  <a:lnTo>
                    <a:pt x="2462159" y="2403252"/>
                  </a:lnTo>
                  <a:lnTo>
                    <a:pt x="2510682" y="2390334"/>
                  </a:lnTo>
                  <a:lnTo>
                    <a:pt x="2556086" y="2372867"/>
                  </a:lnTo>
                  <a:lnTo>
                    <a:pt x="2597902" y="2351210"/>
                  </a:lnTo>
                  <a:lnTo>
                    <a:pt x="2635662" y="2325719"/>
                  </a:lnTo>
                  <a:lnTo>
                    <a:pt x="2668898" y="2296751"/>
                  </a:lnTo>
                  <a:lnTo>
                    <a:pt x="2697141" y="2264664"/>
                  </a:lnTo>
                  <a:lnTo>
                    <a:pt x="2719923" y="2229814"/>
                  </a:lnTo>
                  <a:lnTo>
                    <a:pt x="2736775" y="2192559"/>
                  </a:lnTo>
                  <a:lnTo>
                    <a:pt x="2747230" y="2153257"/>
                  </a:lnTo>
                  <a:lnTo>
                    <a:pt x="2750819" y="21122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50608" y="4873752"/>
              <a:ext cx="2750820" cy="2414270"/>
            </a:xfrm>
            <a:custGeom>
              <a:avLst/>
              <a:gdLst/>
              <a:ahLst/>
              <a:cxnLst/>
              <a:rect l="l" t="t" r="r" b="b"/>
              <a:pathLst>
                <a:path w="2750820" h="2414270">
                  <a:moveTo>
                    <a:pt x="786383" y="605027"/>
                  </a:moveTo>
                  <a:lnTo>
                    <a:pt x="733026" y="607778"/>
                  </a:lnTo>
                  <a:lnTo>
                    <a:pt x="681852" y="615791"/>
                  </a:lnTo>
                  <a:lnTo>
                    <a:pt x="633329" y="628709"/>
                  </a:lnTo>
                  <a:lnTo>
                    <a:pt x="587925" y="646175"/>
                  </a:lnTo>
                  <a:lnTo>
                    <a:pt x="546109" y="667833"/>
                  </a:lnTo>
                  <a:lnTo>
                    <a:pt x="508349" y="693324"/>
                  </a:lnTo>
                  <a:lnTo>
                    <a:pt x="475113" y="722292"/>
                  </a:lnTo>
                  <a:lnTo>
                    <a:pt x="446870" y="754379"/>
                  </a:lnTo>
                  <a:lnTo>
                    <a:pt x="424088" y="789229"/>
                  </a:lnTo>
                  <a:lnTo>
                    <a:pt x="407236" y="826484"/>
                  </a:lnTo>
                  <a:lnTo>
                    <a:pt x="396781" y="865786"/>
                  </a:lnTo>
                  <a:lnTo>
                    <a:pt x="393191" y="906779"/>
                  </a:lnTo>
                  <a:lnTo>
                    <a:pt x="393191" y="2112264"/>
                  </a:lnTo>
                  <a:lnTo>
                    <a:pt x="396781" y="2153257"/>
                  </a:lnTo>
                  <a:lnTo>
                    <a:pt x="407236" y="2192559"/>
                  </a:lnTo>
                  <a:lnTo>
                    <a:pt x="424088" y="2229814"/>
                  </a:lnTo>
                  <a:lnTo>
                    <a:pt x="446870" y="2264664"/>
                  </a:lnTo>
                  <a:lnTo>
                    <a:pt x="475113" y="2296751"/>
                  </a:lnTo>
                  <a:lnTo>
                    <a:pt x="508349" y="2325719"/>
                  </a:lnTo>
                  <a:lnTo>
                    <a:pt x="546109" y="2351210"/>
                  </a:lnTo>
                  <a:lnTo>
                    <a:pt x="587925" y="2372867"/>
                  </a:lnTo>
                  <a:lnTo>
                    <a:pt x="633329" y="2390334"/>
                  </a:lnTo>
                  <a:lnTo>
                    <a:pt x="681852" y="2403252"/>
                  </a:lnTo>
                  <a:lnTo>
                    <a:pt x="733026" y="2411265"/>
                  </a:lnTo>
                  <a:lnTo>
                    <a:pt x="786383" y="2414016"/>
                  </a:lnTo>
                  <a:lnTo>
                    <a:pt x="2357628" y="2414016"/>
                  </a:lnTo>
                  <a:lnTo>
                    <a:pt x="2410985" y="2411265"/>
                  </a:lnTo>
                  <a:lnTo>
                    <a:pt x="2462159" y="2403252"/>
                  </a:lnTo>
                  <a:lnTo>
                    <a:pt x="2510682" y="2390334"/>
                  </a:lnTo>
                  <a:lnTo>
                    <a:pt x="2556086" y="2372867"/>
                  </a:lnTo>
                  <a:lnTo>
                    <a:pt x="2597902" y="2351210"/>
                  </a:lnTo>
                  <a:lnTo>
                    <a:pt x="2635662" y="2325719"/>
                  </a:lnTo>
                  <a:lnTo>
                    <a:pt x="2668898" y="2296751"/>
                  </a:lnTo>
                  <a:lnTo>
                    <a:pt x="2697141" y="2264664"/>
                  </a:lnTo>
                  <a:lnTo>
                    <a:pt x="2719923" y="2229814"/>
                  </a:lnTo>
                  <a:lnTo>
                    <a:pt x="2736775" y="2192559"/>
                  </a:lnTo>
                  <a:lnTo>
                    <a:pt x="2747230" y="2153257"/>
                  </a:lnTo>
                  <a:lnTo>
                    <a:pt x="2750819" y="2112264"/>
                  </a:lnTo>
                  <a:lnTo>
                    <a:pt x="2750819" y="906779"/>
                  </a:lnTo>
                  <a:lnTo>
                    <a:pt x="2747230" y="865786"/>
                  </a:lnTo>
                  <a:lnTo>
                    <a:pt x="2736775" y="826484"/>
                  </a:lnTo>
                  <a:lnTo>
                    <a:pt x="2719923" y="789229"/>
                  </a:lnTo>
                  <a:lnTo>
                    <a:pt x="2697141" y="754379"/>
                  </a:lnTo>
                  <a:lnTo>
                    <a:pt x="2668898" y="722292"/>
                  </a:lnTo>
                  <a:lnTo>
                    <a:pt x="2635662" y="693324"/>
                  </a:lnTo>
                  <a:lnTo>
                    <a:pt x="2597902" y="667833"/>
                  </a:lnTo>
                  <a:lnTo>
                    <a:pt x="2556086" y="646175"/>
                  </a:lnTo>
                  <a:lnTo>
                    <a:pt x="2510682" y="628709"/>
                  </a:lnTo>
                  <a:lnTo>
                    <a:pt x="2462159" y="615791"/>
                  </a:lnTo>
                  <a:lnTo>
                    <a:pt x="2410985" y="607778"/>
                  </a:lnTo>
                  <a:lnTo>
                    <a:pt x="2357627" y="605027"/>
                  </a:lnTo>
                  <a:lnTo>
                    <a:pt x="1375409" y="605027"/>
                  </a:lnTo>
                  <a:lnTo>
                    <a:pt x="0" y="0"/>
                  </a:lnTo>
                  <a:lnTo>
                    <a:pt x="786383" y="605027"/>
                  </a:lnTo>
                  <a:close/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712456" y="5505703"/>
            <a:ext cx="2148205" cy="1367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latin typeface="Times New Roman"/>
                <a:cs typeface="Times New Roman"/>
              </a:rPr>
              <a:t>Décalage pour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démontrer la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dépendance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du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test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du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TANT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QUE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28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1338" y="187706"/>
            <a:ext cx="5815330" cy="695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spc="-5" dirty="0">
                <a:solidFill>
                  <a:srgbClr val="000000"/>
                </a:solidFill>
              </a:rPr>
              <a:t>Pseudo-code</a:t>
            </a:r>
            <a:r>
              <a:rPr sz="4400" spc="-10" dirty="0">
                <a:solidFill>
                  <a:srgbClr val="000000"/>
                </a:solidFill>
              </a:rPr>
              <a:t> </a:t>
            </a:r>
            <a:r>
              <a:rPr sz="4400" spc="-5" dirty="0">
                <a:solidFill>
                  <a:srgbClr val="000000"/>
                </a:solidFill>
              </a:rPr>
              <a:t>schématique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754380" y="1539239"/>
            <a:ext cx="2682240" cy="5699760"/>
          </a:xfrm>
          <a:custGeom>
            <a:avLst/>
            <a:gdLst/>
            <a:ahLst/>
            <a:cxnLst/>
            <a:rect l="l" t="t" r="r" b="b"/>
            <a:pathLst>
              <a:path w="2682240" h="5699759">
                <a:moveTo>
                  <a:pt x="167640" y="0"/>
                </a:moveTo>
                <a:lnTo>
                  <a:pt x="167640" y="5699760"/>
                </a:lnTo>
              </a:path>
              <a:path w="2682240" h="5699759">
                <a:moveTo>
                  <a:pt x="0" y="0"/>
                </a:moveTo>
                <a:lnTo>
                  <a:pt x="335280" y="0"/>
                </a:lnTo>
              </a:path>
              <a:path w="2682240" h="5699759">
                <a:moveTo>
                  <a:pt x="0" y="5699760"/>
                </a:moveTo>
                <a:lnTo>
                  <a:pt x="335280" y="5699760"/>
                </a:lnTo>
              </a:path>
              <a:path w="2682240" h="5699759">
                <a:moveTo>
                  <a:pt x="167640" y="1424940"/>
                </a:moveTo>
                <a:lnTo>
                  <a:pt x="1173480" y="1424940"/>
                </a:lnTo>
              </a:path>
              <a:path w="2682240" h="5699759">
                <a:moveTo>
                  <a:pt x="1173480" y="2682240"/>
                </a:moveTo>
                <a:lnTo>
                  <a:pt x="1927860" y="2682240"/>
                </a:lnTo>
              </a:path>
              <a:path w="2682240" h="5699759">
                <a:moveTo>
                  <a:pt x="1927860" y="3939540"/>
                </a:moveTo>
                <a:lnTo>
                  <a:pt x="2682240" y="3939540"/>
                </a:lnTo>
              </a:path>
              <a:path w="2682240" h="5699759">
                <a:moveTo>
                  <a:pt x="1173480" y="1424940"/>
                </a:moveTo>
                <a:lnTo>
                  <a:pt x="1173480" y="5364480"/>
                </a:lnTo>
              </a:path>
              <a:path w="2682240" h="5699759">
                <a:moveTo>
                  <a:pt x="838200" y="1424940"/>
                </a:moveTo>
                <a:lnTo>
                  <a:pt x="838200" y="5364480"/>
                </a:lnTo>
              </a:path>
              <a:path w="2682240" h="5699759">
                <a:moveTo>
                  <a:pt x="1927860" y="2682240"/>
                </a:moveTo>
                <a:lnTo>
                  <a:pt x="1927860" y="5364480"/>
                </a:lnTo>
              </a:path>
              <a:path w="2682240" h="5699759">
                <a:moveTo>
                  <a:pt x="2682240" y="3939540"/>
                </a:moveTo>
                <a:lnTo>
                  <a:pt x="2682240" y="5448300"/>
                </a:lnTo>
              </a:path>
              <a:path w="2682240" h="5699759">
                <a:moveTo>
                  <a:pt x="1927860" y="3688079"/>
                </a:moveTo>
                <a:lnTo>
                  <a:pt x="1760220" y="3688079"/>
                </a:lnTo>
              </a:path>
              <a:path w="2682240" h="5699759">
                <a:moveTo>
                  <a:pt x="2682240" y="4945380"/>
                </a:moveTo>
                <a:lnTo>
                  <a:pt x="2514600" y="4945380"/>
                </a:lnTo>
              </a:path>
            </a:pathLst>
          </a:custGeom>
          <a:ln w="4191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6826" y="1065908"/>
            <a:ext cx="7228840" cy="621220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66090" indent="-377190">
              <a:lnSpc>
                <a:spcPct val="100000"/>
              </a:lnSpc>
              <a:spcBef>
                <a:spcPts val="770"/>
              </a:spcBef>
              <a:buFont typeface="Wingdings"/>
              <a:buChar char=""/>
              <a:tabLst>
                <a:tab pos="465455" algn="l"/>
                <a:tab pos="466090" algn="l"/>
              </a:tabLst>
            </a:pPr>
            <a:r>
              <a:rPr sz="2600" spc="10" dirty="0">
                <a:latin typeface="Times New Roman"/>
                <a:cs typeface="Times New Roman"/>
              </a:rPr>
              <a:t>Deviner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nombre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choisi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au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hasard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(Version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2)</a:t>
            </a:r>
            <a:endParaRPr sz="2600">
              <a:latin typeface="Times New Roman"/>
              <a:cs typeface="Times New Roman"/>
            </a:endParaRPr>
          </a:p>
          <a:p>
            <a:pPr marL="299085" marR="2884805">
              <a:lnSpc>
                <a:spcPct val="119800"/>
              </a:lnSpc>
              <a:spcBef>
                <a:spcPts val="15"/>
              </a:spcBef>
            </a:pPr>
            <a:r>
              <a:rPr sz="2200" spc="-5" dirty="0">
                <a:latin typeface="Times New Roman"/>
                <a:cs typeface="Times New Roman"/>
              </a:rPr>
              <a:t>Écrire "Entrer le nombre </a:t>
            </a:r>
            <a:r>
              <a:rPr sz="2200" dirty="0">
                <a:latin typeface="Times New Roman"/>
                <a:cs typeface="Times New Roman"/>
              </a:rPr>
              <a:t>à </a:t>
            </a:r>
            <a:r>
              <a:rPr sz="2200" spc="-5" dirty="0">
                <a:latin typeface="Times New Roman"/>
                <a:cs typeface="Times New Roman"/>
              </a:rPr>
              <a:t>deviner </a:t>
            </a:r>
            <a:r>
              <a:rPr sz="2200" dirty="0">
                <a:latin typeface="Times New Roman"/>
                <a:cs typeface="Times New Roman"/>
              </a:rPr>
              <a:t>"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deviner</a:t>
            </a:r>
            <a:endParaRPr sz="2200">
              <a:latin typeface="Times New Roman"/>
              <a:cs typeface="Times New Roman"/>
            </a:endParaRPr>
          </a:p>
          <a:p>
            <a:pPr marL="299085">
              <a:lnSpc>
                <a:spcPct val="100000"/>
              </a:lnSpc>
              <a:spcBef>
                <a:spcPts val="525"/>
              </a:spcBef>
            </a:pPr>
            <a:r>
              <a:rPr sz="2200" spc="-5" dirty="0">
                <a:latin typeface="Times New Roman"/>
                <a:cs typeface="Times New Roman"/>
              </a:rPr>
              <a:t>Devinée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Faux</a:t>
            </a:r>
            <a:endParaRPr sz="2200">
              <a:latin typeface="Times New Roman"/>
              <a:cs typeface="Times New Roman"/>
            </a:endParaRPr>
          </a:p>
          <a:p>
            <a:pPr marL="1416050" marR="1663064" indent="-489584">
              <a:lnSpc>
                <a:spcPts val="3160"/>
              </a:lnSpc>
              <a:spcBef>
                <a:spcPts val="195"/>
              </a:spcBef>
              <a:tabLst>
                <a:tab pos="1276350" algn="l"/>
              </a:tabLst>
            </a:pPr>
            <a:r>
              <a:rPr sz="3900" spc="30" baseline="-23504" dirty="0">
                <a:latin typeface="Times New Roman"/>
                <a:cs typeface="Times New Roman"/>
              </a:rPr>
              <a:t>*	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TANT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QUE Devinée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est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Faux FAIRE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"Entrer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un</a:t>
            </a:r>
            <a:r>
              <a:rPr sz="2200" spc="-5" dirty="0">
                <a:latin typeface="Times New Roman"/>
                <a:cs typeface="Times New Roman"/>
              </a:rPr>
              <a:t> nombre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</a:t>
            </a:r>
            <a:endParaRPr sz="2200">
              <a:latin typeface="Times New Roman"/>
              <a:cs typeface="Times New Roman"/>
            </a:endParaRPr>
          </a:p>
          <a:p>
            <a:pPr marL="1416050">
              <a:lnSpc>
                <a:spcPct val="100000"/>
              </a:lnSpc>
              <a:spcBef>
                <a:spcPts val="330"/>
              </a:spcBef>
            </a:pPr>
            <a:r>
              <a:rPr sz="2200" spc="-5" dirty="0">
                <a:latin typeface="Times New Roman"/>
                <a:cs typeface="Times New Roman"/>
              </a:rPr>
              <a:t>Lire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un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endParaRPr sz="2200">
              <a:latin typeface="Times New Roman"/>
              <a:cs typeface="Times New Roman"/>
            </a:endParaRPr>
          </a:p>
          <a:p>
            <a:pPr marL="2855595" marR="510540" indent="-838200">
              <a:lnSpc>
                <a:spcPct val="119800"/>
              </a:lnSpc>
            </a:pP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 nombre lu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=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nombre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à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deviner ALORS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Devinée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Vrai</a:t>
            </a:r>
            <a:endParaRPr sz="2200">
              <a:latin typeface="Times New Roman"/>
              <a:cs typeface="Times New Roman"/>
            </a:endParaRPr>
          </a:p>
          <a:p>
            <a:pPr marL="1178560">
              <a:lnSpc>
                <a:spcPct val="100000"/>
              </a:lnSpc>
              <a:spcBef>
                <a:spcPts val="660"/>
              </a:spcBef>
              <a:tabLst>
                <a:tab pos="2016125" algn="l"/>
              </a:tabLst>
            </a:pPr>
            <a:r>
              <a:rPr sz="2600" spc="20" dirty="0">
                <a:latin typeface="Times New Roman"/>
                <a:cs typeface="Times New Roman"/>
              </a:rPr>
              <a:t>…..	</a:t>
            </a:r>
            <a:r>
              <a:rPr sz="2200" dirty="0">
                <a:latin typeface="Times New Roman"/>
                <a:cs typeface="Times New Roman"/>
              </a:rPr>
              <a:t>SINON</a:t>
            </a:r>
            <a:endParaRPr sz="2200">
              <a:latin typeface="Times New Roman"/>
              <a:cs typeface="Times New Roman"/>
            </a:endParaRPr>
          </a:p>
          <a:p>
            <a:pPr marL="3064510" marR="30480" indent="-279400">
              <a:lnSpc>
                <a:spcPct val="119700"/>
              </a:lnSpc>
              <a:spcBef>
                <a:spcPts val="20"/>
              </a:spcBef>
            </a:pP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 nombre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&lt;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nombre </a:t>
            </a:r>
            <a:r>
              <a:rPr sz="22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à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deviner ALORS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"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 nombre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est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trop petit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"</a:t>
            </a:r>
            <a:endParaRPr sz="1550">
              <a:latin typeface="Times New Roman"/>
              <a:cs typeface="Times New Roman"/>
            </a:endParaRPr>
          </a:p>
          <a:p>
            <a:pPr marL="1946910">
              <a:lnSpc>
                <a:spcPct val="100000"/>
              </a:lnSpc>
              <a:spcBef>
                <a:spcPts val="520"/>
              </a:spcBef>
              <a:tabLst>
                <a:tab pos="2715895" algn="l"/>
              </a:tabLst>
            </a:pPr>
            <a:r>
              <a:rPr sz="2200" spc="-5" dirty="0">
                <a:latin typeface="Times New Roman"/>
                <a:cs typeface="Times New Roman"/>
              </a:rPr>
              <a:t>…..	SINON</a:t>
            </a:r>
            <a:endParaRPr sz="2200">
              <a:latin typeface="Times New Roman"/>
              <a:cs typeface="Times New Roman"/>
            </a:endParaRPr>
          </a:p>
          <a:p>
            <a:pPr marL="3133090">
              <a:lnSpc>
                <a:spcPct val="100000"/>
              </a:lnSpc>
              <a:spcBef>
                <a:spcPts val="525"/>
              </a:spcBef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"</a:t>
            </a:r>
            <a:r>
              <a:rPr sz="1550" spc="16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est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trop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grand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"</a:t>
            </a:r>
            <a:endParaRPr sz="1550">
              <a:latin typeface="Times New Roman"/>
              <a:cs typeface="Times New Roman"/>
            </a:endParaRPr>
          </a:p>
          <a:p>
            <a:pPr marL="368935">
              <a:lnSpc>
                <a:spcPct val="100000"/>
              </a:lnSpc>
              <a:spcBef>
                <a:spcPts val="520"/>
              </a:spcBef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</a:t>
            </a:r>
            <a:r>
              <a:rPr sz="2200" spc="-5" dirty="0">
                <a:latin typeface="Times New Roman"/>
                <a:cs typeface="Times New Roman"/>
              </a:rPr>
              <a:t> BRAVO,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vous avez trouvé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 nombre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5" dirty="0">
                <a:latin typeface="Times New Roman"/>
                <a:cs typeface="Times New Roman"/>
              </a:rPr>
              <a:t> deviner </a:t>
            </a:r>
            <a:r>
              <a:rPr sz="2200" dirty="0">
                <a:latin typeface="Times New Roman"/>
                <a:cs typeface="Times New Roman"/>
              </a:rPr>
              <a:t>"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" y="870203"/>
            <a:ext cx="9471659" cy="822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29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977" y="273811"/>
            <a:ext cx="414591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Pensée</a:t>
            </a:r>
            <a:r>
              <a:rPr sz="3950" spc="-20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informatique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843025" y="2084883"/>
            <a:ext cx="8129270" cy="4747895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3050" spc="5" dirty="0">
                <a:latin typeface="Times New Roman"/>
                <a:cs typeface="Times New Roman"/>
              </a:rPr>
              <a:t>Raffinement</a:t>
            </a:r>
            <a:r>
              <a:rPr sz="3050" spc="-25" dirty="0">
                <a:latin typeface="Times New Roman"/>
                <a:cs typeface="Times New Roman"/>
              </a:rPr>
              <a:t> </a:t>
            </a:r>
            <a:r>
              <a:rPr sz="3050" spc="5" dirty="0">
                <a:latin typeface="Times New Roman"/>
                <a:cs typeface="Times New Roman"/>
              </a:rPr>
              <a:t>graduel</a:t>
            </a:r>
            <a:endParaRPr sz="3050">
              <a:latin typeface="Times New Roman"/>
              <a:cs typeface="Times New Roman"/>
            </a:endParaRPr>
          </a:p>
          <a:p>
            <a:pPr marL="12700" marR="349250">
              <a:lnSpc>
                <a:spcPct val="101400"/>
              </a:lnSpc>
              <a:spcBef>
                <a:spcPts val="1590"/>
              </a:spcBef>
              <a:buSzPct val="96153"/>
              <a:buFont typeface="Wingdings"/>
              <a:buChar char=""/>
              <a:tabLst>
                <a:tab pos="312420" algn="l"/>
              </a:tabLst>
            </a:pPr>
            <a:r>
              <a:rPr sz="2600" spc="10" dirty="0">
                <a:latin typeface="Times New Roman"/>
                <a:cs typeface="Times New Roman"/>
              </a:rPr>
              <a:t>Lors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l’élaboration d’un algorithme </a:t>
            </a: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0" dirty="0">
                <a:latin typeface="Times New Roman"/>
                <a:cs typeface="Times New Roman"/>
              </a:rPr>
              <a:t>est parfois </a:t>
            </a:r>
            <a:r>
              <a:rPr sz="2600" spc="5" dirty="0">
                <a:latin typeface="Times New Roman"/>
                <a:cs typeface="Times New Roman"/>
              </a:rPr>
              <a:t>utile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d’envisager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un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processus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raffinement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graduel.</a:t>
            </a:r>
            <a:endParaRPr sz="2600">
              <a:latin typeface="Times New Roman"/>
              <a:cs typeface="Times New Roman"/>
            </a:endParaRPr>
          </a:p>
          <a:p>
            <a:pPr marL="394970" indent="-382905">
              <a:lnSpc>
                <a:spcPct val="100000"/>
              </a:lnSpc>
              <a:spcBef>
                <a:spcPts val="1620"/>
              </a:spcBef>
              <a:buSzPct val="96153"/>
              <a:buFont typeface="Wingdings"/>
              <a:buChar char=""/>
              <a:tabLst>
                <a:tab pos="395605" algn="l"/>
              </a:tabLst>
            </a:pPr>
            <a:r>
              <a:rPr sz="2600" spc="5" dirty="0">
                <a:latin typeface="Times New Roman"/>
                <a:cs typeface="Times New Roman"/>
              </a:rPr>
              <a:t>Il </a:t>
            </a:r>
            <a:r>
              <a:rPr sz="2600" spc="10" dirty="0">
                <a:latin typeface="Times New Roman"/>
                <a:cs typeface="Times New Roman"/>
              </a:rPr>
              <a:t>s’agit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dans </a:t>
            </a:r>
            <a:r>
              <a:rPr sz="2600" spc="15" dirty="0">
                <a:latin typeface="Times New Roman"/>
                <a:cs typeface="Times New Roman"/>
              </a:rPr>
              <a:t>un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premier </a:t>
            </a:r>
            <a:r>
              <a:rPr sz="2600" spc="15" dirty="0">
                <a:latin typeface="Times New Roman"/>
                <a:cs typeface="Times New Roman"/>
              </a:rPr>
              <a:t>temps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d’énumérer 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opérations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2600" spc="20" dirty="0">
                <a:latin typeface="Times New Roman"/>
                <a:cs typeface="Times New Roman"/>
              </a:rPr>
              <a:t>«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évidentes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»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qui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réalisent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l’application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désirée.</a:t>
            </a:r>
            <a:endParaRPr sz="2600">
              <a:latin typeface="Times New Roman"/>
              <a:cs typeface="Times New Roman"/>
            </a:endParaRPr>
          </a:p>
          <a:p>
            <a:pPr marL="12700" marR="246379">
              <a:lnSpc>
                <a:spcPct val="101400"/>
              </a:lnSpc>
              <a:spcBef>
                <a:spcPts val="1580"/>
              </a:spcBef>
              <a:buSzPct val="96153"/>
              <a:buFont typeface="Wingdings"/>
              <a:buChar char=""/>
              <a:tabLst>
                <a:tab pos="312420" algn="l"/>
              </a:tabLst>
            </a:pPr>
            <a:r>
              <a:rPr sz="2600" spc="15" dirty="0">
                <a:latin typeface="Times New Roman"/>
                <a:cs typeface="Times New Roman"/>
              </a:rPr>
              <a:t>Ces </a:t>
            </a:r>
            <a:r>
              <a:rPr sz="2600" spc="10" dirty="0">
                <a:latin typeface="Times New Roman"/>
                <a:cs typeface="Times New Roman"/>
              </a:rPr>
              <a:t>opérations évidentes </a:t>
            </a:r>
            <a:r>
              <a:rPr sz="2600" spc="15" dirty="0">
                <a:latin typeface="Times New Roman"/>
                <a:cs typeface="Times New Roman"/>
              </a:rPr>
              <a:t>ne </a:t>
            </a:r>
            <a:r>
              <a:rPr sz="2600" spc="10" dirty="0">
                <a:latin typeface="Times New Roman"/>
                <a:cs typeface="Times New Roman"/>
              </a:rPr>
              <a:t>sont pas nécessairement des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opérations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élémentaires.</a:t>
            </a:r>
            <a:endParaRPr sz="2600">
              <a:latin typeface="Times New Roman"/>
              <a:cs typeface="Times New Roman"/>
            </a:endParaRPr>
          </a:p>
          <a:p>
            <a:pPr marL="12700" marR="1076325">
              <a:lnSpc>
                <a:spcPct val="101400"/>
              </a:lnSpc>
              <a:spcBef>
                <a:spcPts val="1585"/>
              </a:spcBef>
              <a:buSzPct val="96153"/>
              <a:buFont typeface="Wingdings"/>
              <a:buChar char=""/>
              <a:tabLst>
                <a:tab pos="395605" algn="l"/>
              </a:tabLst>
            </a:pPr>
            <a:r>
              <a:rPr sz="2600" spc="10" dirty="0">
                <a:latin typeface="Times New Roman"/>
                <a:cs typeface="Times New Roman"/>
              </a:rPr>
              <a:t>Par la suite </a:t>
            </a:r>
            <a:r>
              <a:rPr sz="2600" spc="5" dirty="0">
                <a:latin typeface="Times New Roman"/>
                <a:cs typeface="Times New Roman"/>
              </a:rPr>
              <a:t>il suffit </a:t>
            </a:r>
            <a:r>
              <a:rPr sz="2600" spc="15" dirty="0">
                <a:latin typeface="Times New Roman"/>
                <a:cs typeface="Times New Roman"/>
              </a:rPr>
              <a:t>de </a:t>
            </a:r>
            <a:r>
              <a:rPr sz="2600" spc="10" dirty="0">
                <a:latin typeface="Times New Roman"/>
                <a:cs typeface="Times New Roman"/>
              </a:rPr>
              <a:t>détailler les opérations </a:t>
            </a:r>
            <a:r>
              <a:rPr sz="2600" spc="15" dirty="0">
                <a:latin typeface="Times New Roman"/>
                <a:cs typeface="Times New Roman"/>
              </a:rPr>
              <a:t>non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élémentaires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à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l’aide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d’opérations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élémentaires.</a:t>
            </a:r>
            <a:endParaRPr sz="26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04861" y="1953101"/>
            <a:ext cx="1100455" cy="765175"/>
            <a:chOff x="4604861" y="1953101"/>
            <a:chExt cx="1100455" cy="765175"/>
          </a:xfrm>
        </p:grpSpPr>
        <p:sp>
          <p:nvSpPr>
            <p:cNvPr id="5" name="object 5"/>
            <p:cNvSpPr/>
            <p:nvPr/>
          </p:nvSpPr>
          <p:spPr>
            <a:xfrm>
              <a:off x="4610099" y="1958340"/>
              <a:ext cx="1089660" cy="754380"/>
            </a:xfrm>
            <a:custGeom>
              <a:avLst/>
              <a:gdLst/>
              <a:ahLst/>
              <a:cxnLst/>
              <a:rect l="l" t="t" r="r" b="b"/>
              <a:pathLst>
                <a:path w="1089660" h="754380">
                  <a:moveTo>
                    <a:pt x="1089660" y="377190"/>
                  </a:moveTo>
                  <a:lnTo>
                    <a:pt x="816863" y="0"/>
                  </a:lnTo>
                  <a:lnTo>
                    <a:pt x="816863" y="188214"/>
                  </a:lnTo>
                  <a:lnTo>
                    <a:pt x="0" y="188214"/>
                  </a:lnTo>
                  <a:lnTo>
                    <a:pt x="0" y="565404"/>
                  </a:lnTo>
                  <a:lnTo>
                    <a:pt x="816863" y="565404"/>
                  </a:lnTo>
                  <a:lnTo>
                    <a:pt x="816863" y="754380"/>
                  </a:lnTo>
                  <a:lnTo>
                    <a:pt x="1089660" y="377190"/>
                  </a:lnTo>
                  <a:close/>
                </a:path>
              </a:pathLst>
            </a:custGeom>
            <a:solidFill>
              <a:srgbClr val="01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0099" y="1958340"/>
              <a:ext cx="1089660" cy="754380"/>
            </a:xfrm>
            <a:custGeom>
              <a:avLst/>
              <a:gdLst/>
              <a:ahLst/>
              <a:cxnLst/>
              <a:rect l="l" t="t" r="r" b="b"/>
              <a:pathLst>
                <a:path w="1089660" h="754380">
                  <a:moveTo>
                    <a:pt x="816863" y="0"/>
                  </a:moveTo>
                  <a:lnTo>
                    <a:pt x="816863" y="188214"/>
                  </a:lnTo>
                  <a:lnTo>
                    <a:pt x="0" y="188214"/>
                  </a:lnTo>
                  <a:lnTo>
                    <a:pt x="0" y="565404"/>
                  </a:lnTo>
                  <a:lnTo>
                    <a:pt x="816863" y="565404"/>
                  </a:lnTo>
                  <a:lnTo>
                    <a:pt x="816863" y="754380"/>
                  </a:lnTo>
                  <a:lnTo>
                    <a:pt x="1089660" y="377190"/>
                  </a:lnTo>
                  <a:lnTo>
                    <a:pt x="816863" y="0"/>
                  </a:lnTo>
                  <a:close/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862161" y="2036921"/>
            <a:ext cx="932815" cy="513715"/>
            <a:chOff x="5862161" y="2036921"/>
            <a:chExt cx="932815" cy="513715"/>
          </a:xfrm>
        </p:grpSpPr>
        <p:sp>
          <p:nvSpPr>
            <p:cNvPr id="8" name="object 8"/>
            <p:cNvSpPr/>
            <p:nvPr/>
          </p:nvSpPr>
          <p:spPr>
            <a:xfrm>
              <a:off x="5867399" y="2042159"/>
              <a:ext cx="922019" cy="502920"/>
            </a:xfrm>
            <a:custGeom>
              <a:avLst/>
              <a:gdLst/>
              <a:ahLst/>
              <a:cxnLst/>
              <a:rect l="l" t="t" r="r" b="b"/>
              <a:pathLst>
                <a:path w="922020" h="502919">
                  <a:moveTo>
                    <a:pt x="922020" y="251460"/>
                  </a:moveTo>
                  <a:lnTo>
                    <a:pt x="691134" y="0"/>
                  </a:lnTo>
                  <a:lnTo>
                    <a:pt x="691134" y="125730"/>
                  </a:lnTo>
                  <a:lnTo>
                    <a:pt x="0" y="125730"/>
                  </a:lnTo>
                  <a:lnTo>
                    <a:pt x="0" y="377190"/>
                  </a:lnTo>
                  <a:lnTo>
                    <a:pt x="691134" y="377190"/>
                  </a:lnTo>
                  <a:lnTo>
                    <a:pt x="691134" y="502920"/>
                  </a:lnTo>
                  <a:lnTo>
                    <a:pt x="922020" y="251460"/>
                  </a:lnTo>
                  <a:close/>
                </a:path>
              </a:pathLst>
            </a:custGeom>
            <a:solidFill>
              <a:srgbClr val="01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67399" y="2042159"/>
              <a:ext cx="922019" cy="502920"/>
            </a:xfrm>
            <a:custGeom>
              <a:avLst/>
              <a:gdLst/>
              <a:ahLst/>
              <a:cxnLst/>
              <a:rect l="l" t="t" r="r" b="b"/>
              <a:pathLst>
                <a:path w="922020" h="502919">
                  <a:moveTo>
                    <a:pt x="691134" y="0"/>
                  </a:moveTo>
                  <a:lnTo>
                    <a:pt x="691134" y="125730"/>
                  </a:lnTo>
                  <a:lnTo>
                    <a:pt x="0" y="125730"/>
                  </a:lnTo>
                  <a:lnTo>
                    <a:pt x="0" y="377190"/>
                  </a:lnTo>
                  <a:lnTo>
                    <a:pt x="691134" y="377190"/>
                  </a:lnTo>
                  <a:lnTo>
                    <a:pt x="691134" y="502920"/>
                  </a:lnTo>
                  <a:lnTo>
                    <a:pt x="922020" y="251460"/>
                  </a:lnTo>
                  <a:lnTo>
                    <a:pt x="691134" y="0"/>
                  </a:lnTo>
                  <a:close/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951821" y="2204561"/>
            <a:ext cx="765175" cy="262255"/>
            <a:chOff x="6951821" y="2204561"/>
            <a:chExt cx="765175" cy="262255"/>
          </a:xfrm>
        </p:grpSpPr>
        <p:sp>
          <p:nvSpPr>
            <p:cNvPr id="11" name="object 11"/>
            <p:cNvSpPr/>
            <p:nvPr/>
          </p:nvSpPr>
          <p:spPr>
            <a:xfrm>
              <a:off x="6957060" y="2209799"/>
              <a:ext cx="754380" cy="251460"/>
            </a:xfrm>
            <a:custGeom>
              <a:avLst/>
              <a:gdLst/>
              <a:ahLst/>
              <a:cxnLst/>
              <a:rect l="l" t="t" r="r" b="b"/>
              <a:pathLst>
                <a:path w="754379" h="251460">
                  <a:moveTo>
                    <a:pt x="754379" y="125729"/>
                  </a:moveTo>
                  <a:lnTo>
                    <a:pt x="565403" y="0"/>
                  </a:lnTo>
                  <a:lnTo>
                    <a:pt x="565403" y="62484"/>
                  </a:lnTo>
                  <a:lnTo>
                    <a:pt x="0" y="62484"/>
                  </a:lnTo>
                  <a:lnTo>
                    <a:pt x="0" y="188214"/>
                  </a:lnTo>
                  <a:lnTo>
                    <a:pt x="565403" y="188214"/>
                  </a:lnTo>
                  <a:lnTo>
                    <a:pt x="565403" y="251460"/>
                  </a:lnTo>
                  <a:lnTo>
                    <a:pt x="754379" y="125729"/>
                  </a:lnTo>
                  <a:close/>
                </a:path>
              </a:pathLst>
            </a:custGeom>
            <a:solidFill>
              <a:srgbClr val="01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57060" y="2209799"/>
              <a:ext cx="754380" cy="251460"/>
            </a:xfrm>
            <a:custGeom>
              <a:avLst/>
              <a:gdLst/>
              <a:ahLst/>
              <a:cxnLst/>
              <a:rect l="l" t="t" r="r" b="b"/>
              <a:pathLst>
                <a:path w="754379" h="251460">
                  <a:moveTo>
                    <a:pt x="565403" y="0"/>
                  </a:moveTo>
                  <a:lnTo>
                    <a:pt x="565403" y="62484"/>
                  </a:lnTo>
                  <a:lnTo>
                    <a:pt x="0" y="62484"/>
                  </a:lnTo>
                  <a:lnTo>
                    <a:pt x="0" y="188214"/>
                  </a:lnTo>
                  <a:lnTo>
                    <a:pt x="565403" y="188214"/>
                  </a:lnTo>
                  <a:lnTo>
                    <a:pt x="565403" y="251460"/>
                  </a:lnTo>
                  <a:lnTo>
                    <a:pt x="754379" y="125729"/>
                  </a:lnTo>
                  <a:lnTo>
                    <a:pt x="565403" y="0"/>
                  </a:lnTo>
                  <a:close/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7873841" y="2204561"/>
            <a:ext cx="513715" cy="192405"/>
            <a:chOff x="7873841" y="2204561"/>
            <a:chExt cx="513715" cy="192405"/>
          </a:xfrm>
        </p:grpSpPr>
        <p:sp>
          <p:nvSpPr>
            <p:cNvPr id="14" name="object 14"/>
            <p:cNvSpPr/>
            <p:nvPr/>
          </p:nvSpPr>
          <p:spPr>
            <a:xfrm>
              <a:off x="7879079" y="2209799"/>
              <a:ext cx="502920" cy="181610"/>
            </a:xfrm>
            <a:custGeom>
              <a:avLst/>
              <a:gdLst/>
              <a:ahLst/>
              <a:cxnLst/>
              <a:rect l="l" t="t" r="r" b="b"/>
              <a:pathLst>
                <a:path w="502920" h="181610">
                  <a:moveTo>
                    <a:pt x="502920" y="90677"/>
                  </a:moveTo>
                  <a:lnTo>
                    <a:pt x="377190" y="0"/>
                  </a:lnTo>
                  <a:lnTo>
                    <a:pt x="377190" y="45720"/>
                  </a:lnTo>
                  <a:lnTo>
                    <a:pt x="0" y="45720"/>
                  </a:lnTo>
                  <a:lnTo>
                    <a:pt x="0" y="136398"/>
                  </a:lnTo>
                  <a:lnTo>
                    <a:pt x="377190" y="136398"/>
                  </a:lnTo>
                  <a:lnTo>
                    <a:pt x="377190" y="181356"/>
                  </a:lnTo>
                  <a:lnTo>
                    <a:pt x="502920" y="90677"/>
                  </a:lnTo>
                  <a:close/>
                </a:path>
              </a:pathLst>
            </a:custGeom>
            <a:solidFill>
              <a:srgbClr val="01CC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879079" y="2209799"/>
              <a:ext cx="502920" cy="181610"/>
            </a:xfrm>
            <a:custGeom>
              <a:avLst/>
              <a:gdLst/>
              <a:ahLst/>
              <a:cxnLst/>
              <a:rect l="l" t="t" r="r" b="b"/>
              <a:pathLst>
                <a:path w="502920" h="181610">
                  <a:moveTo>
                    <a:pt x="377190" y="0"/>
                  </a:moveTo>
                  <a:lnTo>
                    <a:pt x="377190" y="45720"/>
                  </a:lnTo>
                  <a:lnTo>
                    <a:pt x="0" y="45720"/>
                  </a:lnTo>
                  <a:lnTo>
                    <a:pt x="0" y="136398"/>
                  </a:lnTo>
                  <a:lnTo>
                    <a:pt x="377190" y="136398"/>
                  </a:lnTo>
                  <a:lnTo>
                    <a:pt x="377190" y="181356"/>
                  </a:lnTo>
                  <a:lnTo>
                    <a:pt x="502920" y="90677"/>
                  </a:lnTo>
                  <a:lnTo>
                    <a:pt x="377190" y="0"/>
                  </a:lnTo>
                  <a:close/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" y="952499"/>
            <a:ext cx="9471659" cy="82295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30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1566" y="1649222"/>
            <a:ext cx="8338184" cy="51676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marR="5080" indent="-377190">
              <a:lnSpc>
                <a:spcPct val="101400"/>
              </a:lnSpc>
              <a:spcBef>
                <a:spcPts val="95"/>
              </a:spcBef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2600" spc="10" dirty="0">
                <a:latin typeface="Times New Roman"/>
                <a:cs typeface="Times New Roman"/>
              </a:rPr>
              <a:t>Lire trois </a:t>
            </a:r>
            <a:r>
              <a:rPr sz="2600" spc="15" dirty="0">
                <a:latin typeface="Times New Roman"/>
                <a:cs typeface="Times New Roman"/>
              </a:rPr>
              <a:t>nombres </a:t>
            </a:r>
            <a:r>
              <a:rPr sz="2600" spc="10" dirty="0">
                <a:latin typeface="Times New Roman"/>
                <a:cs typeface="Times New Roman"/>
              </a:rPr>
              <a:t>entiers quelconques et vérifier si l’un 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ces nombres </a:t>
            </a:r>
            <a:r>
              <a:rPr sz="2600" spc="10" dirty="0">
                <a:latin typeface="Times New Roman"/>
                <a:cs typeface="Times New Roman"/>
              </a:rPr>
              <a:t>est le produit des </a:t>
            </a:r>
            <a:r>
              <a:rPr sz="2600" spc="20" dirty="0">
                <a:latin typeface="Times New Roman"/>
                <a:cs typeface="Times New Roman"/>
              </a:rPr>
              <a:t>2 </a:t>
            </a:r>
            <a:r>
              <a:rPr sz="2600" spc="15" dirty="0">
                <a:latin typeface="Times New Roman"/>
                <a:cs typeface="Times New Roman"/>
              </a:rPr>
              <a:t>autres. </a:t>
            </a:r>
            <a:r>
              <a:rPr sz="2600" spc="10" dirty="0">
                <a:latin typeface="Times New Roman"/>
                <a:cs typeface="Times New Roman"/>
              </a:rPr>
              <a:t>Par </a:t>
            </a:r>
            <a:r>
              <a:rPr sz="2600" spc="15" dirty="0">
                <a:latin typeface="Times New Roman"/>
                <a:cs typeface="Times New Roman"/>
              </a:rPr>
              <a:t>exemple, </a:t>
            </a:r>
            <a:r>
              <a:rPr sz="2600" spc="10" dirty="0">
                <a:latin typeface="Times New Roman"/>
                <a:cs typeface="Times New Roman"/>
              </a:rPr>
              <a:t>si 2, </a:t>
            </a:r>
            <a:r>
              <a:rPr sz="2600" spc="15" dirty="0">
                <a:latin typeface="Times New Roman"/>
                <a:cs typeface="Times New Roman"/>
              </a:rPr>
              <a:t> 10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20" dirty="0">
                <a:latin typeface="Times New Roman"/>
                <a:cs typeface="Times New Roman"/>
              </a:rPr>
              <a:t>5 </a:t>
            </a:r>
            <a:r>
              <a:rPr sz="2600" spc="10" dirty="0">
                <a:latin typeface="Times New Roman"/>
                <a:cs typeface="Times New Roman"/>
              </a:rPr>
              <a:t>sont lus alors le </a:t>
            </a:r>
            <a:r>
              <a:rPr sz="2600" spc="15" dirty="0">
                <a:latin typeface="Times New Roman"/>
                <a:cs typeface="Times New Roman"/>
              </a:rPr>
              <a:t>deuxième nombre </a:t>
            </a:r>
            <a:r>
              <a:rPr sz="2600" spc="10" dirty="0">
                <a:latin typeface="Times New Roman"/>
                <a:cs typeface="Times New Roman"/>
              </a:rPr>
              <a:t>est le résultat de 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multiplication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autres.</a:t>
            </a:r>
            <a:endParaRPr sz="2600">
              <a:latin typeface="Times New Roman"/>
              <a:cs typeface="Times New Roman"/>
            </a:endParaRPr>
          </a:p>
          <a:p>
            <a:pPr marL="829944" lvl="1" indent="-31496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Quelles sont les entrées?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Trois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nombres.</a:t>
            </a:r>
            <a:endParaRPr sz="2600">
              <a:latin typeface="Times New Roman"/>
              <a:cs typeface="Times New Roman"/>
            </a:endParaRPr>
          </a:p>
          <a:p>
            <a:pPr marL="829944" lvl="1" indent="-314960">
              <a:lnSpc>
                <a:spcPct val="100000"/>
              </a:lnSpc>
              <a:spcBef>
                <a:spcPts val="680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Quelles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sont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sorties?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Oui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ou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non.</a:t>
            </a:r>
            <a:endParaRPr sz="2600">
              <a:latin typeface="Times New Roman"/>
              <a:cs typeface="Times New Roman"/>
            </a:endParaRPr>
          </a:p>
          <a:p>
            <a:pPr marL="830580" marR="467359" lvl="1" indent="-314960" algn="just">
              <a:lnSpc>
                <a:spcPct val="101400"/>
              </a:lnSpc>
              <a:spcBef>
                <a:spcPts val="625"/>
              </a:spcBef>
              <a:buFont typeface="Wingdings"/>
              <a:buChar char=""/>
              <a:tabLst>
                <a:tab pos="831215" algn="l"/>
              </a:tabLst>
            </a:pPr>
            <a:r>
              <a:rPr sz="2600" spc="15" dirty="0">
                <a:latin typeface="Times New Roman"/>
                <a:cs typeface="Times New Roman"/>
              </a:rPr>
              <a:t>Comment </a:t>
            </a:r>
            <a:r>
              <a:rPr sz="2600" spc="10" dirty="0">
                <a:latin typeface="Times New Roman"/>
                <a:cs typeface="Times New Roman"/>
              </a:rPr>
              <a:t>vérifie-t'on qu'un </a:t>
            </a:r>
            <a:r>
              <a:rPr sz="2600" spc="15" dirty="0">
                <a:latin typeface="Times New Roman"/>
                <a:cs typeface="Times New Roman"/>
              </a:rPr>
              <a:t>nombre </a:t>
            </a:r>
            <a:r>
              <a:rPr sz="2600" spc="10" dirty="0">
                <a:latin typeface="Times New Roman"/>
                <a:cs typeface="Times New Roman"/>
              </a:rPr>
              <a:t>est le produit 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 </a:t>
            </a:r>
            <a:r>
              <a:rPr sz="2600" spc="10" dirty="0">
                <a:latin typeface="Times New Roman"/>
                <a:cs typeface="Times New Roman"/>
              </a:rPr>
              <a:t>autres? </a:t>
            </a:r>
            <a:r>
              <a:rPr sz="2600" b="1" spc="25" dirty="0">
                <a:latin typeface="Times New Roman"/>
                <a:cs typeface="Times New Roman"/>
              </a:rPr>
              <a:t>On </a:t>
            </a:r>
            <a:r>
              <a:rPr sz="2600" b="1" spc="10" dirty="0">
                <a:latin typeface="Times New Roman"/>
                <a:cs typeface="Times New Roman"/>
              </a:rPr>
              <a:t>vérifie si </a:t>
            </a:r>
            <a:r>
              <a:rPr sz="2600" b="1" spc="15" dirty="0">
                <a:latin typeface="Times New Roman"/>
                <a:cs typeface="Times New Roman"/>
              </a:rPr>
              <a:t>en </a:t>
            </a:r>
            <a:r>
              <a:rPr sz="2600" b="1" spc="10" dirty="0">
                <a:latin typeface="Times New Roman"/>
                <a:cs typeface="Times New Roman"/>
              </a:rPr>
              <a:t>multipliant </a:t>
            </a:r>
            <a:r>
              <a:rPr sz="2600" b="1" spc="15" dirty="0">
                <a:latin typeface="Times New Roman"/>
                <a:cs typeface="Times New Roman"/>
              </a:rPr>
              <a:t>deux </a:t>
            </a:r>
            <a:r>
              <a:rPr sz="2600" b="1" spc="10" dirty="0">
                <a:latin typeface="Times New Roman"/>
                <a:cs typeface="Times New Roman"/>
              </a:rPr>
              <a:t>des </a:t>
            </a:r>
            <a:r>
              <a:rPr sz="2600" b="1" spc="15" dirty="0">
                <a:latin typeface="Times New Roman"/>
                <a:cs typeface="Times New Roman"/>
              </a:rPr>
              <a:t> nombres,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on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obtient</a:t>
            </a:r>
            <a:r>
              <a:rPr sz="2600" b="1" spc="10" dirty="0">
                <a:latin typeface="Times New Roman"/>
                <a:cs typeface="Times New Roman"/>
              </a:rPr>
              <a:t> le </a:t>
            </a:r>
            <a:r>
              <a:rPr sz="2600" b="1" spc="15" dirty="0">
                <a:latin typeface="Times New Roman"/>
                <a:cs typeface="Times New Roman"/>
              </a:rPr>
              <a:t>troisième.</a:t>
            </a:r>
            <a:endParaRPr sz="2600">
              <a:latin typeface="Times New Roman"/>
              <a:cs typeface="Times New Roman"/>
            </a:endParaRPr>
          </a:p>
          <a:p>
            <a:pPr marL="829944" marR="33020" lvl="1" indent="-314960">
              <a:lnSpc>
                <a:spcPct val="101400"/>
              </a:lnSpc>
              <a:spcBef>
                <a:spcPts val="635"/>
              </a:spcBef>
              <a:buFont typeface="Wingdings"/>
              <a:buChar char=""/>
              <a:tabLst>
                <a:tab pos="830580" algn="l"/>
                <a:tab pos="831215" algn="l"/>
              </a:tabLst>
            </a:pPr>
            <a:r>
              <a:rPr sz="2600" spc="10" dirty="0">
                <a:latin typeface="Times New Roman"/>
                <a:cs typeface="Times New Roman"/>
              </a:rPr>
              <a:t>Est-ce </a:t>
            </a:r>
            <a:r>
              <a:rPr sz="2600" spc="5" dirty="0">
                <a:latin typeface="Times New Roman"/>
                <a:cs typeface="Times New Roman"/>
              </a:rPr>
              <a:t>qu'il </a:t>
            </a:r>
            <a:r>
              <a:rPr sz="2600" spc="20" dirty="0">
                <a:latin typeface="Times New Roman"/>
                <a:cs typeface="Times New Roman"/>
              </a:rPr>
              <a:t>y </a:t>
            </a:r>
            <a:r>
              <a:rPr sz="2600" spc="15" dirty="0">
                <a:latin typeface="Times New Roman"/>
                <a:cs typeface="Times New Roman"/>
              </a:rPr>
              <a:t>a </a:t>
            </a:r>
            <a:r>
              <a:rPr sz="2600" spc="10" dirty="0">
                <a:latin typeface="Times New Roman"/>
                <a:cs typeface="Times New Roman"/>
              </a:rPr>
              <a:t>des répétitions </a:t>
            </a:r>
            <a:r>
              <a:rPr sz="2600" spc="15" dirty="0">
                <a:latin typeface="Times New Roman"/>
                <a:cs typeface="Times New Roman"/>
              </a:rPr>
              <a:t>? </a:t>
            </a:r>
            <a:r>
              <a:rPr sz="2600" b="1" spc="10" dirty="0">
                <a:latin typeface="Times New Roman"/>
                <a:cs typeface="Times New Roman"/>
              </a:rPr>
              <a:t>Oui. </a:t>
            </a:r>
            <a:r>
              <a:rPr sz="2600" spc="15" dirty="0">
                <a:latin typeface="Times New Roman"/>
                <a:cs typeface="Times New Roman"/>
              </a:rPr>
              <a:t>Combien ? </a:t>
            </a:r>
            <a:r>
              <a:rPr sz="2600" b="1" spc="15" dirty="0">
                <a:latin typeface="Times New Roman"/>
                <a:cs typeface="Times New Roman"/>
              </a:rPr>
              <a:t>Une. </a:t>
            </a:r>
            <a:r>
              <a:rPr sz="2600" b="1" spc="2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Et </a:t>
            </a:r>
            <a:r>
              <a:rPr sz="2600" spc="10" dirty="0">
                <a:latin typeface="Times New Roman"/>
                <a:cs typeface="Times New Roman"/>
              </a:rPr>
              <a:t>elles répètent quelles opérations? </a:t>
            </a:r>
            <a:r>
              <a:rPr sz="2600" b="1" spc="20" dirty="0">
                <a:latin typeface="Times New Roman"/>
                <a:cs typeface="Times New Roman"/>
              </a:rPr>
              <a:t>La </a:t>
            </a:r>
            <a:r>
              <a:rPr sz="2600" b="1" spc="10" dirty="0">
                <a:latin typeface="Times New Roman"/>
                <a:cs typeface="Times New Roman"/>
              </a:rPr>
              <a:t>vérification </a:t>
            </a:r>
            <a:r>
              <a:rPr sz="2600" b="1" spc="15" dirty="0">
                <a:latin typeface="Times New Roman"/>
                <a:cs typeface="Times New Roman"/>
              </a:rPr>
              <a:t>du </a:t>
            </a:r>
            <a:r>
              <a:rPr sz="2600" b="1" spc="-63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produit</a:t>
            </a:r>
            <a:r>
              <a:rPr sz="2600" b="1" spc="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pour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chaque</a:t>
            </a:r>
            <a:r>
              <a:rPr sz="2600" b="1" spc="10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combinaison.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1338" y="273811"/>
            <a:ext cx="52355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</a:t>
            </a:r>
            <a:endParaRPr sz="3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" y="1037843"/>
            <a:ext cx="9471659" cy="822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31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07745" y="1565402"/>
            <a:ext cx="8338184" cy="4123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marR="5080" indent="-377190">
              <a:lnSpc>
                <a:spcPct val="101400"/>
              </a:lnSpc>
              <a:spcBef>
                <a:spcPts val="95"/>
              </a:spcBef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2600" spc="10" dirty="0">
                <a:latin typeface="Times New Roman"/>
                <a:cs typeface="Times New Roman"/>
              </a:rPr>
              <a:t>Lire trois </a:t>
            </a:r>
            <a:r>
              <a:rPr sz="2600" spc="15" dirty="0">
                <a:latin typeface="Times New Roman"/>
                <a:cs typeface="Times New Roman"/>
              </a:rPr>
              <a:t>nombres </a:t>
            </a:r>
            <a:r>
              <a:rPr sz="2600" spc="10" dirty="0">
                <a:latin typeface="Times New Roman"/>
                <a:cs typeface="Times New Roman"/>
              </a:rPr>
              <a:t>entiers quelconques et vérifier si l’un 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ces nombres </a:t>
            </a:r>
            <a:r>
              <a:rPr sz="2600" spc="10" dirty="0">
                <a:latin typeface="Times New Roman"/>
                <a:cs typeface="Times New Roman"/>
              </a:rPr>
              <a:t>est le produit des </a:t>
            </a:r>
            <a:r>
              <a:rPr sz="2600" spc="20" dirty="0">
                <a:latin typeface="Times New Roman"/>
                <a:cs typeface="Times New Roman"/>
              </a:rPr>
              <a:t>2 </a:t>
            </a:r>
            <a:r>
              <a:rPr sz="2600" spc="15" dirty="0">
                <a:latin typeface="Times New Roman"/>
                <a:cs typeface="Times New Roman"/>
              </a:rPr>
              <a:t>autres. </a:t>
            </a:r>
            <a:r>
              <a:rPr sz="2600" spc="10" dirty="0">
                <a:latin typeface="Times New Roman"/>
                <a:cs typeface="Times New Roman"/>
              </a:rPr>
              <a:t>Par </a:t>
            </a:r>
            <a:r>
              <a:rPr sz="2600" spc="15" dirty="0">
                <a:latin typeface="Times New Roman"/>
                <a:cs typeface="Times New Roman"/>
              </a:rPr>
              <a:t>exemple, </a:t>
            </a:r>
            <a:r>
              <a:rPr sz="2600" spc="10" dirty="0">
                <a:latin typeface="Times New Roman"/>
                <a:cs typeface="Times New Roman"/>
              </a:rPr>
              <a:t>si 2, </a:t>
            </a:r>
            <a:r>
              <a:rPr sz="2600" spc="15" dirty="0">
                <a:latin typeface="Times New Roman"/>
                <a:cs typeface="Times New Roman"/>
              </a:rPr>
              <a:t> 10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20" dirty="0">
                <a:latin typeface="Times New Roman"/>
                <a:cs typeface="Times New Roman"/>
              </a:rPr>
              <a:t>5 </a:t>
            </a:r>
            <a:r>
              <a:rPr sz="2600" spc="10" dirty="0">
                <a:latin typeface="Times New Roman"/>
                <a:cs typeface="Times New Roman"/>
              </a:rPr>
              <a:t>sont lus alors le </a:t>
            </a:r>
            <a:r>
              <a:rPr sz="2600" spc="15" dirty="0">
                <a:latin typeface="Times New Roman"/>
                <a:cs typeface="Times New Roman"/>
              </a:rPr>
              <a:t>deuxième nombre </a:t>
            </a:r>
            <a:r>
              <a:rPr sz="2600" spc="10" dirty="0">
                <a:latin typeface="Times New Roman"/>
                <a:cs typeface="Times New Roman"/>
              </a:rPr>
              <a:t>est le résultat de 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multiplication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autres.</a:t>
            </a:r>
            <a:endParaRPr sz="2600">
              <a:latin typeface="Times New Roman"/>
              <a:cs typeface="Times New Roman"/>
            </a:endParaRPr>
          </a:p>
          <a:p>
            <a:pPr marL="829944" marR="84455" lvl="1" indent="-314960">
              <a:lnSpc>
                <a:spcPct val="101400"/>
              </a:lnSpc>
              <a:spcBef>
                <a:spcPts val="625"/>
              </a:spcBef>
              <a:buFont typeface="Wingdings"/>
              <a:buChar char=""/>
              <a:tabLst>
                <a:tab pos="829944" algn="l"/>
                <a:tab pos="830580" algn="l"/>
              </a:tabLst>
            </a:pPr>
            <a:r>
              <a:rPr sz="2600" spc="10" dirty="0">
                <a:latin typeface="Times New Roman"/>
                <a:cs typeface="Times New Roman"/>
              </a:rPr>
              <a:t>Est-ce </a:t>
            </a:r>
            <a:r>
              <a:rPr sz="2600" spc="15" dirty="0">
                <a:latin typeface="Times New Roman"/>
                <a:cs typeface="Times New Roman"/>
              </a:rPr>
              <a:t>que </a:t>
            </a:r>
            <a:r>
              <a:rPr sz="2600" spc="10" dirty="0">
                <a:latin typeface="Times New Roman"/>
                <a:cs typeface="Times New Roman"/>
              </a:rPr>
              <a:t>des décisions </a:t>
            </a:r>
            <a:r>
              <a:rPr sz="2600" spc="15" dirty="0">
                <a:latin typeface="Times New Roman"/>
                <a:cs typeface="Times New Roman"/>
              </a:rPr>
              <a:t>ou </a:t>
            </a:r>
            <a:r>
              <a:rPr sz="2600" spc="10" dirty="0">
                <a:latin typeface="Times New Roman"/>
                <a:cs typeface="Times New Roman"/>
              </a:rPr>
              <a:t>vérifications sont requises?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b="1" spc="10" dirty="0">
                <a:latin typeface="Times New Roman"/>
                <a:cs typeface="Times New Roman"/>
              </a:rPr>
              <a:t>Oui. </a:t>
            </a:r>
            <a:r>
              <a:rPr sz="2600" spc="15" dirty="0">
                <a:latin typeface="Times New Roman"/>
                <a:cs typeface="Times New Roman"/>
              </a:rPr>
              <a:t>Combien? </a:t>
            </a:r>
            <a:r>
              <a:rPr sz="2600" b="1" spc="20" dirty="0">
                <a:latin typeface="Times New Roman"/>
                <a:cs typeface="Times New Roman"/>
              </a:rPr>
              <a:t>Une </a:t>
            </a:r>
            <a:r>
              <a:rPr sz="2600" b="1" spc="15" dirty="0">
                <a:latin typeface="Times New Roman"/>
                <a:cs typeface="Times New Roman"/>
              </a:rPr>
              <a:t>par combinaison de nombres. </a:t>
            </a:r>
            <a:r>
              <a:rPr sz="2600" b="1" spc="2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Quelles sont les alternatives? </a:t>
            </a:r>
            <a:r>
              <a:rPr sz="2600" b="1" spc="20" dirty="0">
                <a:latin typeface="Times New Roman"/>
                <a:cs typeface="Times New Roman"/>
              </a:rPr>
              <a:t>Pour chaque </a:t>
            </a:r>
            <a:r>
              <a:rPr sz="2600" b="1" spc="25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combinaison de nombres </a:t>
            </a:r>
            <a:r>
              <a:rPr sz="2600" b="1" spc="10" dirty="0">
                <a:latin typeface="Times New Roman"/>
                <a:cs typeface="Times New Roman"/>
              </a:rPr>
              <a:t>(3), il faut vérifier si </a:t>
            </a:r>
            <a:r>
              <a:rPr sz="2600" b="1" spc="15" dirty="0">
                <a:latin typeface="Times New Roman"/>
                <a:cs typeface="Times New Roman"/>
              </a:rPr>
              <a:t>un </a:t>
            </a:r>
            <a:r>
              <a:rPr sz="2600" b="1" spc="20" dirty="0">
                <a:latin typeface="Times New Roman"/>
                <a:cs typeface="Times New Roman"/>
              </a:rPr>
              <a:t> nombre </a:t>
            </a:r>
            <a:r>
              <a:rPr sz="2600" b="1" spc="15" dirty="0">
                <a:latin typeface="Times New Roman"/>
                <a:cs typeface="Times New Roman"/>
              </a:rPr>
              <a:t>égal </a:t>
            </a:r>
            <a:r>
              <a:rPr sz="2600" b="1" spc="10" dirty="0">
                <a:latin typeface="Times New Roman"/>
                <a:cs typeface="Times New Roman"/>
              </a:rPr>
              <a:t>le </a:t>
            </a:r>
            <a:r>
              <a:rPr sz="2600" b="1" spc="15" dirty="0">
                <a:latin typeface="Times New Roman"/>
                <a:cs typeface="Times New Roman"/>
              </a:rPr>
              <a:t>produit des </a:t>
            </a:r>
            <a:r>
              <a:rPr sz="2600" b="1" spc="20" dirty="0">
                <a:latin typeface="Times New Roman"/>
                <a:cs typeface="Times New Roman"/>
              </a:rPr>
              <a:t>deux </a:t>
            </a:r>
            <a:r>
              <a:rPr sz="2600" b="1" spc="15" dirty="0">
                <a:latin typeface="Times New Roman"/>
                <a:cs typeface="Times New Roman"/>
              </a:rPr>
              <a:t>autres. </a:t>
            </a:r>
            <a:r>
              <a:rPr sz="2600" spc="10" dirty="0">
                <a:latin typeface="Times New Roman"/>
                <a:cs typeface="Times New Roman"/>
              </a:rPr>
              <a:t>Elles 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influencent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quelles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opérations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?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b="1" spc="20" dirty="0">
                <a:latin typeface="Times New Roman"/>
                <a:cs typeface="Times New Roman"/>
              </a:rPr>
              <a:t>La</a:t>
            </a:r>
            <a:r>
              <a:rPr sz="2600" b="1" dirty="0">
                <a:latin typeface="Times New Roman"/>
                <a:cs typeface="Times New Roman"/>
              </a:rPr>
              <a:t> </a:t>
            </a:r>
            <a:r>
              <a:rPr sz="2600" b="1" spc="15" dirty="0">
                <a:latin typeface="Times New Roman"/>
                <a:cs typeface="Times New Roman"/>
              </a:rPr>
              <a:t>réponse</a:t>
            </a:r>
            <a:r>
              <a:rPr sz="2600" b="1" spc="10" dirty="0">
                <a:latin typeface="Times New Roman"/>
                <a:cs typeface="Times New Roman"/>
              </a:rPr>
              <a:t> finale.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5158" y="273811"/>
            <a:ext cx="52355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</a:t>
            </a:r>
            <a:endParaRPr sz="39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" y="952499"/>
            <a:ext cx="9471659" cy="822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32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77001" y="5305901"/>
            <a:ext cx="6464935" cy="1682114"/>
            <a:chOff x="2677001" y="5305901"/>
            <a:chExt cx="6464935" cy="1682114"/>
          </a:xfrm>
        </p:grpSpPr>
        <p:sp>
          <p:nvSpPr>
            <p:cNvPr id="3" name="object 3"/>
            <p:cNvSpPr/>
            <p:nvPr/>
          </p:nvSpPr>
          <p:spPr>
            <a:xfrm>
              <a:off x="5029200" y="5817870"/>
              <a:ext cx="2682240" cy="1169670"/>
            </a:xfrm>
            <a:custGeom>
              <a:avLst/>
              <a:gdLst/>
              <a:ahLst/>
              <a:cxnLst/>
              <a:rect l="l" t="t" r="r" b="b"/>
              <a:pathLst>
                <a:path w="2682240" h="1169670">
                  <a:moveTo>
                    <a:pt x="2682239" y="1072133"/>
                  </a:moveTo>
                  <a:lnTo>
                    <a:pt x="2682239" y="680465"/>
                  </a:lnTo>
                  <a:lnTo>
                    <a:pt x="2676381" y="664588"/>
                  </a:lnTo>
                  <a:lnTo>
                    <a:pt x="2632286" y="635539"/>
                  </a:lnTo>
                  <a:lnTo>
                    <a:pt x="2595896" y="622761"/>
                  </a:lnTo>
                  <a:lnTo>
                    <a:pt x="2551175" y="611409"/>
                  </a:lnTo>
                  <a:lnTo>
                    <a:pt x="2499049" y="601681"/>
                  </a:lnTo>
                  <a:lnTo>
                    <a:pt x="2440439" y="593772"/>
                  </a:lnTo>
                  <a:lnTo>
                    <a:pt x="2376269" y="587879"/>
                  </a:lnTo>
                  <a:lnTo>
                    <a:pt x="2307464" y="584200"/>
                  </a:lnTo>
                  <a:lnTo>
                    <a:pt x="2234945" y="582929"/>
                  </a:lnTo>
                  <a:lnTo>
                    <a:pt x="2612135" y="0"/>
                  </a:lnTo>
                  <a:lnTo>
                    <a:pt x="1564385" y="582929"/>
                  </a:lnTo>
                  <a:lnTo>
                    <a:pt x="447293" y="582929"/>
                  </a:lnTo>
                  <a:lnTo>
                    <a:pt x="374775" y="584200"/>
                  </a:lnTo>
                  <a:lnTo>
                    <a:pt x="305970" y="587879"/>
                  </a:lnTo>
                  <a:lnTo>
                    <a:pt x="241800" y="593772"/>
                  </a:lnTo>
                  <a:lnTo>
                    <a:pt x="183190" y="601681"/>
                  </a:lnTo>
                  <a:lnTo>
                    <a:pt x="131063" y="611409"/>
                  </a:lnTo>
                  <a:lnTo>
                    <a:pt x="86343" y="622761"/>
                  </a:lnTo>
                  <a:lnTo>
                    <a:pt x="49953" y="635539"/>
                  </a:lnTo>
                  <a:lnTo>
                    <a:pt x="5858" y="664588"/>
                  </a:lnTo>
                  <a:lnTo>
                    <a:pt x="0" y="680465"/>
                  </a:lnTo>
                  <a:lnTo>
                    <a:pt x="0" y="1072133"/>
                  </a:lnTo>
                  <a:lnTo>
                    <a:pt x="22817" y="1103052"/>
                  </a:lnTo>
                  <a:lnTo>
                    <a:pt x="86343" y="1129838"/>
                  </a:lnTo>
                  <a:lnTo>
                    <a:pt x="131063" y="1141190"/>
                  </a:lnTo>
                  <a:lnTo>
                    <a:pt x="183190" y="1150918"/>
                  </a:lnTo>
                  <a:lnTo>
                    <a:pt x="241800" y="1158827"/>
                  </a:lnTo>
                  <a:lnTo>
                    <a:pt x="305970" y="1164720"/>
                  </a:lnTo>
                  <a:lnTo>
                    <a:pt x="374775" y="1168399"/>
                  </a:lnTo>
                  <a:lnTo>
                    <a:pt x="447293" y="1169669"/>
                  </a:lnTo>
                  <a:lnTo>
                    <a:pt x="2234945" y="1169669"/>
                  </a:lnTo>
                  <a:lnTo>
                    <a:pt x="2307464" y="1168399"/>
                  </a:lnTo>
                  <a:lnTo>
                    <a:pt x="2376269" y="1164720"/>
                  </a:lnTo>
                  <a:lnTo>
                    <a:pt x="2440439" y="1158827"/>
                  </a:lnTo>
                  <a:lnTo>
                    <a:pt x="2499049" y="1150918"/>
                  </a:lnTo>
                  <a:lnTo>
                    <a:pt x="2551175" y="1141190"/>
                  </a:lnTo>
                  <a:lnTo>
                    <a:pt x="2595896" y="1129838"/>
                  </a:lnTo>
                  <a:lnTo>
                    <a:pt x="2632286" y="1117060"/>
                  </a:lnTo>
                  <a:lnTo>
                    <a:pt x="2676381" y="1088011"/>
                  </a:lnTo>
                  <a:lnTo>
                    <a:pt x="2682239" y="1072133"/>
                  </a:lnTo>
                  <a:close/>
                </a:path>
              </a:pathLst>
            </a:custGeom>
            <a:solidFill>
              <a:srgbClr val="96969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945380" y="5734050"/>
              <a:ext cx="2682240" cy="1169670"/>
            </a:xfrm>
            <a:custGeom>
              <a:avLst/>
              <a:gdLst/>
              <a:ahLst/>
              <a:cxnLst/>
              <a:rect l="l" t="t" r="r" b="b"/>
              <a:pathLst>
                <a:path w="2682240" h="1169670">
                  <a:moveTo>
                    <a:pt x="2682239" y="1072133"/>
                  </a:moveTo>
                  <a:lnTo>
                    <a:pt x="2682239" y="680465"/>
                  </a:lnTo>
                  <a:lnTo>
                    <a:pt x="2676381" y="664588"/>
                  </a:lnTo>
                  <a:lnTo>
                    <a:pt x="2632286" y="635539"/>
                  </a:lnTo>
                  <a:lnTo>
                    <a:pt x="2595896" y="622761"/>
                  </a:lnTo>
                  <a:lnTo>
                    <a:pt x="2551175" y="611409"/>
                  </a:lnTo>
                  <a:lnTo>
                    <a:pt x="2499049" y="601681"/>
                  </a:lnTo>
                  <a:lnTo>
                    <a:pt x="2440439" y="593772"/>
                  </a:lnTo>
                  <a:lnTo>
                    <a:pt x="2376269" y="587879"/>
                  </a:lnTo>
                  <a:lnTo>
                    <a:pt x="2307464" y="584200"/>
                  </a:lnTo>
                  <a:lnTo>
                    <a:pt x="2234945" y="582929"/>
                  </a:lnTo>
                  <a:lnTo>
                    <a:pt x="2612135" y="0"/>
                  </a:lnTo>
                  <a:lnTo>
                    <a:pt x="1564385" y="582929"/>
                  </a:lnTo>
                  <a:lnTo>
                    <a:pt x="447293" y="582929"/>
                  </a:lnTo>
                  <a:lnTo>
                    <a:pt x="374775" y="584200"/>
                  </a:lnTo>
                  <a:lnTo>
                    <a:pt x="305970" y="587879"/>
                  </a:lnTo>
                  <a:lnTo>
                    <a:pt x="241800" y="593772"/>
                  </a:lnTo>
                  <a:lnTo>
                    <a:pt x="183190" y="601681"/>
                  </a:lnTo>
                  <a:lnTo>
                    <a:pt x="131063" y="611409"/>
                  </a:lnTo>
                  <a:lnTo>
                    <a:pt x="86343" y="622761"/>
                  </a:lnTo>
                  <a:lnTo>
                    <a:pt x="49953" y="635539"/>
                  </a:lnTo>
                  <a:lnTo>
                    <a:pt x="5858" y="664588"/>
                  </a:lnTo>
                  <a:lnTo>
                    <a:pt x="0" y="680465"/>
                  </a:lnTo>
                  <a:lnTo>
                    <a:pt x="0" y="1072133"/>
                  </a:lnTo>
                  <a:lnTo>
                    <a:pt x="22817" y="1103052"/>
                  </a:lnTo>
                  <a:lnTo>
                    <a:pt x="86343" y="1129838"/>
                  </a:lnTo>
                  <a:lnTo>
                    <a:pt x="131063" y="1141190"/>
                  </a:lnTo>
                  <a:lnTo>
                    <a:pt x="183190" y="1150918"/>
                  </a:lnTo>
                  <a:lnTo>
                    <a:pt x="241800" y="1158827"/>
                  </a:lnTo>
                  <a:lnTo>
                    <a:pt x="305970" y="1164720"/>
                  </a:lnTo>
                  <a:lnTo>
                    <a:pt x="374775" y="1168399"/>
                  </a:lnTo>
                  <a:lnTo>
                    <a:pt x="447293" y="1169669"/>
                  </a:lnTo>
                  <a:lnTo>
                    <a:pt x="2234945" y="1169669"/>
                  </a:lnTo>
                  <a:lnTo>
                    <a:pt x="2307464" y="1168399"/>
                  </a:lnTo>
                  <a:lnTo>
                    <a:pt x="2376269" y="1164720"/>
                  </a:lnTo>
                  <a:lnTo>
                    <a:pt x="2440439" y="1158827"/>
                  </a:lnTo>
                  <a:lnTo>
                    <a:pt x="2499049" y="1150918"/>
                  </a:lnTo>
                  <a:lnTo>
                    <a:pt x="2551175" y="1141190"/>
                  </a:lnTo>
                  <a:lnTo>
                    <a:pt x="2595896" y="1129838"/>
                  </a:lnTo>
                  <a:lnTo>
                    <a:pt x="2632286" y="1117060"/>
                  </a:lnTo>
                  <a:lnTo>
                    <a:pt x="2676381" y="1088011"/>
                  </a:lnTo>
                  <a:lnTo>
                    <a:pt x="2682239" y="10721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945380" y="5734050"/>
              <a:ext cx="2682240" cy="1169670"/>
            </a:xfrm>
            <a:custGeom>
              <a:avLst/>
              <a:gdLst/>
              <a:ahLst/>
              <a:cxnLst/>
              <a:rect l="l" t="t" r="r" b="b"/>
              <a:pathLst>
                <a:path w="2682240" h="1169670">
                  <a:moveTo>
                    <a:pt x="447293" y="582929"/>
                  </a:moveTo>
                  <a:lnTo>
                    <a:pt x="374775" y="584200"/>
                  </a:lnTo>
                  <a:lnTo>
                    <a:pt x="305970" y="587879"/>
                  </a:lnTo>
                  <a:lnTo>
                    <a:pt x="241800" y="593772"/>
                  </a:lnTo>
                  <a:lnTo>
                    <a:pt x="183190" y="601681"/>
                  </a:lnTo>
                  <a:lnTo>
                    <a:pt x="131063" y="611409"/>
                  </a:lnTo>
                  <a:lnTo>
                    <a:pt x="86343" y="622761"/>
                  </a:lnTo>
                  <a:lnTo>
                    <a:pt x="49953" y="635539"/>
                  </a:lnTo>
                  <a:lnTo>
                    <a:pt x="5858" y="664588"/>
                  </a:lnTo>
                  <a:lnTo>
                    <a:pt x="0" y="680465"/>
                  </a:lnTo>
                  <a:lnTo>
                    <a:pt x="0" y="1072133"/>
                  </a:lnTo>
                  <a:lnTo>
                    <a:pt x="22817" y="1103052"/>
                  </a:lnTo>
                  <a:lnTo>
                    <a:pt x="86343" y="1129838"/>
                  </a:lnTo>
                  <a:lnTo>
                    <a:pt x="131063" y="1141190"/>
                  </a:lnTo>
                  <a:lnTo>
                    <a:pt x="183190" y="1150918"/>
                  </a:lnTo>
                  <a:lnTo>
                    <a:pt x="241800" y="1158827"/>
                  </a:lnTo>
                  <a:lnTo>
                    <a:pt x="305970" y="1164720"/>
                  </a:lnTo>
                  <a:lnTo>
                    <a:pt x="374775" y="1168399"/>
                  </a:lnTo>
                  <a:lnTo>
                    <a:pt x="447293" y="1169669"/>
                  </a:lnTo>
                  <a:lnTo>
                    <a:pt x="2234945" y="1169669"/>
                  </a:lnTo>
                  <a:lnTo>
                    <a:pt x="2307464" y="1168399"/>
                  </a:lnTo>
                  <a:lnTo>
                    <a:pt x="2376269" y="1164720"/>
                  </a:lnTo>
                  <a:lnTo>
                    <a:pt x="2440439" y="1158827"/>
                  </a:lnTo>
                  <a:lnTo>
                    <a:pt x="2499049" y="1150918"/>
                  </a:lnTo>
                  <a:lnTo>
                    <a:pt x="2551175" y="1141190"/>
                  </a:lnTo>
                  <a:lnTo>
                    <a:pt x="2595896" y="1129838"/>
                  </a:lnTo>
                  <a:lnTo>
                    <a:pt x="2632286" y="1117060"/>
                  </a:lnTo>
                  <a:lnTo>
                    <a:pt x="2676381" y="1088011"/>
                  </a:lnTo>
                  <a:lnTo>
                    <a:pt x="2682239" y="1072133"/>
                  </a:lnTo>
                  <a:lnTo>
                    <a:pt x="2682239" y="680465"/>
                  </a:lnTo>
                  <a:lnTo>
                    <a:pt x="2659422" y="649547"/>
                  </a:lnTo>
                  <a:lnTo>
                    <a:pt x="2595896" y="622761"/>
                  </a:lnTo>
                  <a:lnTo>
                    <a:pt x="2551175" y="611409"/>
                  </a:lnTo>
                  <a:lnTo>
                    <a:pt x="2499049" y="601681"/>
                  </a:lnTo>
                  <a:lnTo>
                    <a:pt x="2440439" y="593772"/>
                  </a:lnTo>
                  <a:lnTo>
                    <a:pt x="2376269" y="587879"/>
                  </a:lnTo>
                  <a:lnTo>
                    <a:pt x="2307464" y="584200"/>
                  </a:lnTo>
                  <a:lnTo>
                    <a:pt x="2234945" y="582929"/>
                  </a:lnTo>
                  <a:lnTo>
                    <a:pt x="2612135" y="0"/>
                  </a:lnTo>
                  <a:lnTo>
                    <a:pt x="1564385" y="582929"/>
                  </a:lnTo>
                  <a:lnTo>
                    <a:pt x="447293" y="582929"/>
                  </a:lnTo>
                  <a:close/>
                </a:path>
              </a:pathLst>
            </a:custGeom>
            <a:ln w="10477">
              <a:solidFill>
                <a:srgbClr val="01010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82240" y="5311140"/>
              <a:ext cx="6454140" cy="419100"/>
            </a:xfrm>
            <a:custGeom>
              <a:avLst/>
              <a:gdLst/>
              <a:ahLst/>
              <a:cxnLst/>
              <a:rect l="l" t="t" r="r" b="b"/>
              <a:pathLst>
                <a:path w="6454140" h="419100">
                  <a:moveTo>
                    <a:pt x="0" y="0"/>
                  </a:moveTo>
                  <a:lnTo>
                    <a:pt x="0" y="419100"/>
                  </a:lnTo>
                  <a:lnTo>
                    <a:pt x="6454140" y="419100"/>
                  </a:lnTo>
                  <a:lnTo>
                    <a:pt x="6454140" y="0"/>
                  </a:lnTo>
                  <a:lnTo>
                    <a:pt x="0" y="0"/>
                  </a:lnTo>
                  <a:close/>
                </a:path>
              </a:pathLst>
            </a:custGeom>
            <a:ln w="10477">
              <a:solidFill>
                <a:srgbClr val="010101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5158" y="273811"/>
            <a:ext cx="523557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Pseudo-code</a:t>
            </a:r>
            <a:r>
              <a:rPr sz="3950" spc="-5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schématique</a:t>
            </a:r>
            <a:endParaRPr sz="3950"/>
          </a:p>
        </p:txBody>
      </p:sp>
      <p:sp>
        <p:nvSpPr>
          <p:cNvPr id="8" name="object 8"/>
          <p:cNvSpPr/>
          <p:nvPr/>
        </p:nvSpPr>
        <p:spPr>
          <a:xfrm>
            <a:off x="1760220" y="4556759"/>
            <a:ext cx="335280" cy="1508760"/>
          </a:xfrm>
          <a:custGeom>
            <a:avLst/>
            <a:gdLst/>
            <a:ahLst/>
            <a:cxnLst/>
            <a:rect l="l" t="t" r="r" b="b"/>
            <a:pathLst>
              <a:path w="335280" h="1508760">
                <a:moveTo>
                  <a:pt x="167639" y="0"/>
                </a:moveTo>
                <a:lnTo>
                  <a:pt x="167639" y="1508760"/>
                </a:lnTo>
              </a:path>
              <a:path w="335280" h="1508760">
                <a:moveTo>
                  <a:pt x="0" y="0"/>
                </a:moveTo>
                <a:lnTo>
                  <a:pt x="335279" y="0"/>
                </a:lnTo>
              </a:path>
              <a:path w="335280" h="1508760">
                <a:moveTo>
                  <a:pt x="0" y="1508760"/>
                </a:moveTo>
                <a:lnTo>
                  <a:pt x="335279" y="1508760"/>
                </a:lnTo>
              </a:path>
            </a:pathLst>
          </a:custGeom>
          <a:ln w="4191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94486" y="2319782"/>
            <a:ext cx="8338184" cy="4469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9890" marR="5080" indent="-377190">
              <a:lnSpc>
                <a:spcPct val="101400"/>
              </a:lnSpc>
              <a:spcBef>
                <a:spcPts val="95"/>
              </a:spcBef>
              <a:buFont typeface="Wingdings"/>
              <a:buChar char=""/>
              <a:tabLst>
                <a:tab pos="389255" algn="l"/>
                <a:tab pos="389890" algn="l"/>
              </a:tabLst>
            </a:pPr>
            <a:r>
              <a:rPr sz="2600" spc="10" dirty="0">
                <a:latin typeface="Times New Roman"/>
                <a:cs typeface="Times New Roman"/>
              </a:rPr>
              <a:t>Lire trois </a:t>
            </a:r>
            <a:r>
              <a:rPr sz="2600" spc="15" dirty="0">
                <a:latin typeface="Times New Roman"/>
                <a:cs typeface="Times New Roman"/>
              </a:rPr>
              <a:t>nombres </a:t>
            </a:r>
            <a:r>
              <a:rPr sz="2600" spc="10" dirty="0">
                <a:latin typeface="Times New Roman"/>
                <a:cs typeface="Times New Roman"/>
              </a:rPr>
              <a:t>entiers quelconques et vérifier si l’un de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ces nombres </a:t>
            </a:r>
            <a:r>
              <a:rPr sz="2600" spc="10" dirty="0">
                <a:latin typeface="Times New Roman"/>
                <a:cs typeface="Times New Roman"/>
              </a:rPr>
              <a:t>est le produit des </a:t>
            </a:r>
            <a:r>
              <a:rPr sz="2600" spc="20" dirty="0">
                <a:latin typeface="Times New Roman"/>
                <a:cs typeface="Times New Roman"/>
              </a:rPr>
              <a:t>2 </a:t>
            </a:r>
            <a:r>
              <a:rPr sz="2600" spc="15" dirty="0">
                <a:latin typeface="Times New Roman"/>
                <a:cs typeface="Times New Roman"/>
              </a:rPr>
              <a:t>autres. </a:t>
            </a:r>
            <a:r>
              <a:rPr sz="2600" spc="10" dirty="0">
                <a:latin typeface="Times New Roman"/>
                <a:cs typeface="Times New Roman"/>
              </a:rPr>
              <a:t>Par exemple, si 2, </a:t>
            </a:r>
            <a:r>
              <a:rPr sz="2600" spc="15" dirty="0">
                <a:latin typeface="Times New Roman"/>
                <a:cs typeface="Times New Roman"/>
              </a:rPr>
              <a:t> 10 </a:t>
            </a:r>
            <a:r>
              <a:rPr sz="2600" spc="10" dirty="0">
                <a:latin typeface="Times New Roman"/>
                <a:cs typeface="Times New Roman"/>
              </a:rPr>
              <a:t>et </a:t>
            </a:r>
            <a:r>
              <a:rPr sz="2600" spc="20" dirty="0">
                <a:latin typeface="Times New Roman"/>
                <a:cs typeface="Times New Roman"/>
              </a:rPr>
              <a:t>5 </a:t>
            </a:r>
            <a:r>
              <a:rPr sz="2600" spc="10" dirty="0">
                <a:latin typeface="Times New Roman"/>
                <a:cs typeface="Times New Roman"/>
              </a:rPr>
              <a:t>sont lus alors le </a:t>
            </a:r>
            <a:r>
              <a:rPr sz="2600" spc="15" dirty="0">
                <a:latin typeface="Times New Roman"/>
                <a:cs typeface="Times New Roman"/>
              </a:rPr>
              <a:t>deuxième nombre </a:t>
            </a:r>
            <a:r>
              <a:rPr sz="2600" spc="10" dirty="0">
                <a:latin typeface="Times New Roman"/>
                <a:cs typeface="Times New Roman"/>
              </a:rPr>
              <a:t>est le résultat de 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la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multiplication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des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deux</a:t>
            </a:r>
            <a:r>
              <a:rPr sz="2600" spc="5" dirty="0">
                <a:latin typeface="Times New Roman"/>
                <a:cs typeface="Times New Roman"/>
              </a:rPr>
              <a:t> autres</a:t>
            </a:r>
            <a:r>
              <a:rPr sz="2200" spc="5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"/>
            </a:pPr>
            <a:endParaRPr sz="3750">
              <a:latin typeface="Times New Roman"/>
              <a:cs typeface="Times New Roman"/>
            </a:endParaRPr>
          </a:p>
          <a:p>
            <a:pPr marL="1144270">
              <a:lnSpc>
                <a:spcPct val="100000"/>
              </a:lnSpc>
            </a:pP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"Entrer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trois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nombres"</a:t>
            </a:r>
            <a:endParaRPr sz="2200">
              <a:latin typeface="Times New Roman"/>
              <a:cs typeface="Times New Roman"/>
            </a:endParaRPr>
          </a:p>
          <a:p>
            <a:pPr marL="1144270">
              <a:lnSpc>
                <a:spcPct val="100000"/>
              </a:lnSpc>
              <a:spcBef>
                <a:spcPts val="525"/>
              </a:spcBef>
            </a:pPr>
            <a:r>
              <a:rPr sz="2200" spc="-5" dirty="0">
                <a:latin typeface="Times New Roman"/>
                <a:cs typeface="Times New Roman"/>
              </a:rPr>
              <a:t>Lire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trois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nombres</a:t>
            </a:r>
            <a:endParaRPr sz="2200">
              <a:latin typeface="Times New Roman"/>
              <a:cs typeface="Times New Roman"/>
            </a:endParaRPr>
          </a:p>
          <a:p>
            <a:pPr marL="1144270" marR="388620" lvl="1">
              <a:lnSpc>
                <a:spcPct val="119800"/>
              </a:lnSpc>
              <a:spcBef>
                <a:spcPts val="5"/>
              </a:spcBef>
              <a:buSzPct val="95454"/>
              <a:buAutoNum type="arabicPeriod"/>
              <a:tabLst>
                <a:tab pos="1609725" algn="l"/>
              </a:tabLst>
            </a:pPr>
            <a:r>
              <a:rPr sz="2200" spc="-5" dirty="0">
                <a:latin typeface="Times New Roman"/>
                <a:cs typeface="Times New Roman"/>
              </a:rPr>
              <a:t>Vérifier si l’un des nombres est le produit de deux autres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Écrire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 résultat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>
              <a:latin typeface="Times New Roman"/>
              <a:cs typeface="Times New Roman"/>
            </a:endParaRPr>
          </a:p>
          <a:p>
            <a:pPr marL="4036060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Times New Roman"/>
                <a:cs typeface="Times New Roman"/>
              </a:rPr>
              <a:t>Opération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à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raffiner</a:t>
            </a:r>
            <a:endParaRPr sz="22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60" y="952499"/>
            <a:ext cx="9471659" cy="8229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33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158" y="189991"/>
            <a:ext cx="2233295" cy="6292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950" dirty="0">
                <a:solidFill>
                  <a:srgbClr val="000000"/>
                </a:solidFill>
              </a:rPr>
              <a:t>Suite</a:t>
            </a:r>
            <a:r>
              <a:rPr sz="3950" spc="-30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et</a:t>
            </a:r>
            <a:r>
              <a:rPr sz="3950" spc="-30" dirty="0">
                <a:solidFill>
                  <a:srgbClr val="000000"/>
                </a:solidFill>
              </a:rPr>
              <a:t> </a:t>
            </a:r>
            <a:r>
              <a:rPr sz="3950" dirty="0">
                <a:solidFill>
                  <a:srgbClr val="000000"/>
                </a:solidFill>
              </a:rPr>
              <a:t>fin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507745" y="1363503"/>
            <a:ext cx="8268970" cy="56597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711200" marR="358775" indent="-699135">
              <a:lnSpc>
                <a:spcPct val="146400"/>
              </a:lnSpc>
              <a:spcBef>
                <a:spcPts val="280"/>
              </a:spcBef>
            </a:pPr>
            <a:r>
              <a:rPr sz="2200" spc="10" dirty="0">
                <a:latin typeface="Times New Roman"/>
                <a:cs typeface="Times New Roman"/>
              </a:rPr>
              <a:t>—</a:t>
            </a:r>
            <a:r>
              <a:rPr sz="2600" spc="10" dirty="0">
                <a:latin typeface="Times New Roman"/>
                <a:cs typeface="Times New Roman"/>
              </a:rPr>
              <a:t>Vérifier si l’un des </a:t>
            </a:r>
            <a:r>
              <a:rPr sz="2600" spc="15" dirty="0">
                <a:latin typeface="Times New Roman"/>
                <a:cs typeface="Times New Roman"/>
              </a:rPr>
              <a:t>nombres </a:t>
            </a:r>
            <a:r>
              <a:rPr sz="2600" spc="10" dirty="0">
                <a:latin typeface="Times New Roman"/>
                <a:cs typeface="Times New Roman"/>
              </a:rPr>
              <a:t>est le produit </a:t>
            </a:r>
            <a:r>
              <a:rPr sz="2600" spc="15" dirty="0">
                <a:latin typeface="Times New Roman"/>
                <a:cs typeface="Times New Roman"/>
              </a:rPr>
              <a:t>de deux </a:t>
            </a:r>
            <a:r>
              <a:rPr sz="2600" spc="10" dirty="0">
                <a:latin typeface="Times New Roman"/>
                <a:cs typeface="Times New Roman"/>
              </a:rPr>
              <a:t>autres </a:t>
            </a:r>
            <a:r>
              <a:rPr sz="2600" spc="-635" dirty="0"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2200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</a:t>
            </a:r>
            <a:r>
              <a:rPr sz="2200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premier</a:t>
            </a:r>
            <a:r>
              <a:rPr sz="2200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est</a:t>
            </a:r>
            <a:r>
              <a:rPr sz="2200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</a:t>
            </a:r>
            <a:r>
              <a:rPr sz="2200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produit</a:t>
            </a:r>
            <a:r>
              <a:rPr sz="2200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du</a:t>
            </a:r>
            <a:r>
              <a:rPr sz="2200" u="heavy" spc="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deuxième</a:t>
            </a:r>
            <a:r>
              <a:rPr sz="2200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et</a:t>
            </a:r>
            <a:r>
              <a:rPr sz="2200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troisième</a:t>
            </a:r>
            <a:r>
              <a:rPr sz="2200" u="heavy" spc="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ALORS 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résultat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premier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  <a:tabLst>
                <a:tab pos="711200" algn="l"/>
              </a:tabLst>
            </a:pPr>
            <a:r>
              <a:rPr sz="2200" dirty="0">
                <a:latin typeface="Times New Roman"/>
                <a:cs typeface="Times New Roman"/>
              </a:rPr>
              <a:t>…..	SINON</a:t>
            </a:r>
            <a:endParaRPr sz="2200">
              <a:latin typeface="Times New Roman"/>
              <a:cs typeface="Times New Roman"/>
            </a:endParaRPr>
          </a:p>
          <a:p>
            <a:pPr marL="1479550" marR="5080" indent="-70485">
              <a:lnSpc>
                <a:spcPts val="3960"/>
              </a:lnSpc>
              <a:spcBef>
                <a:spcPts val="350"/>
              </a:spcBef>
            </a:pPr>
            <a:r>
              <a:rPr sz="22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 le deuxième est le produit du premier et troisième ALORS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résultat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le deuxième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endParaRPr sz="2200">
              <a:latin typeface="Times New Roman"/>
              <a:cs typeface="Times New Roman"/>
            </a:endParaRPr>
          </a:p>
          <a:p>
            <a:pPr marL="641350">
              <a:lnSpc>
                <a:spcPct val="100000"/>
              </a:lnSpc>
              <a:spcBef>
                <a:spcPts val="969"/>
              </a:spcBef>
              <a:tabLst>
                <a:tab pos="1409065" algn="l"/>
              </a:tabLst>
            </a:pPr>
            <a:r>
              <a:rPr sz="2200" dirty="0">
                <a:latin typeface="Times New Roman"/>
                <a:cs typeface="Times New Roman"/>
              </a:rPr>
              <a:t>…..	SINON</a:t>
            </a:r>
            <a:endParaRPr sz="2200">
              <a:latin typeface="Times New Roman"/>
              <a:cs typeface="Times New Roman"/>
            </a:endParaRPr>
          </a:p>
          <a:p>
            <a:pPr marL="2037714">
              <a:lnSpc>
                <a:spcPct val="100000"/>
              </a:lnSpc>
              <a:spcBef>
                <a:spcPts val="1570"/>
              </a:spcBef>
            </a:pPr>
            <a:r>
              <a:rPr sz="19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SI</a:t>
            </a:r>
            <a:r>
              <a:rPr sz="19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</a:t>
            </a:r>
            <a:r>
              <a:rPr sz="19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troisième</a:t>
            </a:r>
            <a:r>
              <a:rPr sz="19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est</a:t>
            </a:r>
            <a:r>
              <a:rPr sz="19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le</a:t>
            </a:r>
            <a:r>
              <a:rPr sz="19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produit</a:t>
            </a:r>
            <a:r>
              <a:rPr sz="19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du </a:t>
            </a:r>
            <a:r>
              <a:rPr sz="19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premier</a:t>
            </a:r>
            <a:r>
              <a:rPr sz="19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95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et</a:t>
            </a:r>
            <a:r>
              <a:rPr sz="1950" u="sng" spc="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deuxième ALORS</a:t>
            </a:r>
            <a:endParaRPr sz="1950">
              <a:latin typeface="Times New Roman"/>
              <a:cs typeface="Times New Roman"/>
            </a:endParaRPr>
          </a:p>
          <a:p>
            <a:pPr marL="2177415">
              <a:lnSpc>
                <a:spcPct val="100000"/>
              </a:lnSpc>
              <a:spcBef>
                <a:spcPts val="1370"/>
              </a:spcBef>
              <a:tabLst>
                <a:tab pos="3726815" algn="l"/>
              </a:tabLst>
            </a:pPr>
            <a:r>
              <a:rPr sz="2200" spc="-5" dirty="0">
                <a:latin typeface="Times New Roman"/>
                <a:cs typeface="Times New Roman"/>
              </a:rPr>
              <a:t>Le résultat</a:t>
            </a:r>
            <a:r>
              <a:rPr sz="2200" dirty="0">
                <a:latin typeface="Times New Roman"/>
                <a:cs typeface="Times New Roman"/>
              </a:rPr>
              <a:t> =	</a:t>
            </a: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troisième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</a:t>
            </a:r>
            <a:endParaRPr sz="2200">
              <a:latin typeface="Times New Roman"/>
              <a:cs typeface="Times New Roman"/>
            </a:endParaRPr>
          </a:p>
          <a:p>
            <a:pPr marL="1339215">
              <a:lnSpc>
                <a:spcPct val="100000"/>
              </a:lnSpc>
              <a:spcBef>
                <a:spcPts val="1320"/>
              </a:spcBef>
              <a:tabLst>
                <a:tab pos="2037714" algn="l"/>
              </a:tabLst>
            </a:pPr>
            <a:r>
              <a:rPr sz="2200" dirty="0">
                <a:latin typeface="Times New Roman"/>
                <a:cs typeface="Times New Roman"/>
              </a:rPr>
              <a:t>…..	SINON</a:t>
            </a:r>
            <a:endParaRPr sz="2200">
              <a:latin typeface="Times New Roman"/>
              <a:cs typeface="Times New Roman"/>
            </a:endParaRPr>
          </a:p>
          <a:p>
            <a:pPr marL="2316480">
              <a:lnSpc>
                <a:spcPct val="100000"/>
              </a:lnSpc>
              <a:spcBef>
                <a:spcPts val="1320"/>
              </a:spcBef>
            </a:pPr>
            <a:r>
              <a:rPr sz="2200" spc="-5" dirty="0">
                <a:latin typeface="Times New Roman"/>
                <a:cs typeface="Times New Roman"/>
              </a:rPr>
              <a:t>Le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résultat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aucun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des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trois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nombres</a:t>
            </a:r>
            <a:endParaRPr sz="2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5279" y="1623060"/>
            <a:ext cx="2179320" cy="5364480"/>
          </a:xfrm>
          <a:custGeom>
            <a:avLst/>
            <a:gdLst/>
            <a:ahLst/>
            <a:cxnLst/>
            <a:rect l="l" t="t" r="r" b="b"/>
            <a:pathLst>
              <a:path w="2179320" h="5364480">
                <a:moveTo>
                  <a:pt x="167640" y="0"/>
                </a:moveTo>
                <a:lnTo>
                  <a:pt x="167640" y="5364480"/>
                </a:lnTo>
              </a:path>
              <a:path w="2179320" h="5364480">
                <a:moveTo>
                  <a:pt x="0" y="5364480"/>
                </a:moveTo>
                <a:lnTo>
                  <a:pt x="335280" y="5364480"/>
                </a:lnTo>
              </a:path>
              <a:path w="2179320" h="5364480">
                <a:moveTo>
                  <a:pt x="0" y="0"/>
                </a:moveTo>
                <a:lnTo>
                  <a:pt x="335280" y="0"/>
                </a:lnTo>
              </a:path>
              <a:path w="2179320" h="5364480">
                <a:moveTo>
                  <a:pt x="167640" y="586740"/>
                </a:moveTo>
                <a:lnTo>
                  <a:pt x="838200" y="586740"/>
                </a:lnTo>
                <a:lnTo>
                  <a:pt x="838200" y="5364480"/>
                </a:lnTo>
              </a:path>
              <a:path w="2179320" h="5364480">
                <a:moveTo>
                  <a:pt x="838200" y="2179320"/>
                </a:moveTo>
                <a:lnTo>
                  <a:pt x="1508760" y="2179320"/>
                </a:lnTo>
                <a:lnTo>
                  <a:pt x="1508760" y="5364480"/>
                </a:lnTo>
              </a:path>
              <a:path w="2179320" h="5364480">
                <a:moveTo>
                  <a:pt x="1508760" y="3688079"/>
                </a:moveTo>
                <a:lnTo>
                  <a:pt x="2179320" y="3688079"/>
                </a:lnTo>
                <a:lnTo>
                  <a:pt x="2179320" y="5364480"/>
                </a:lnTo>
              </a:path>
              <a:path w="2179320" h="5364480">
                <a:moveTo>
                  <a:pt x="670560" y="1760220"/>
                </a:moveTo>
                <a:lnTo>
                  <a:pt x="838200" y="1760220"/>
                </a:lnTo>
              </a:path>
              <a:path w="2179320" h="5364480">
                <a:moveTo>
                  <a:pt x="2011680" y="4777740"/>
                </a:moveTo>
                <a:lnTo>
                  <a:pt x="2179320" y="4777740"/>
                </a:lnTo>
              </a:path>
              <a:path w="2179320" h="5364480">
                <a:moveTo>
                  <a:pt x="1341120" y="3268979"/>
                </a:moveTo>
                <a:lnTo>
                  <a:pt x="1508760" y="3268979"/>
                </a:lnTo>
              </a:path>
            </a:pathLst>
          </a:custGeom>
          <a:ln w="41910">
            <a:solidFill>
              <a:srgbClr val="01010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5280" y="868679"/>
            <a:ext cx="9471659" cy="8229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9386316" y="7332967"/>
            <a:ext cx="273050" cy="2425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785"/>
              </a:lnSpc>
            </a:pPr>
            <a:fld id="{81D60167-4931-47E6-BA6A-407CBD079E47}" type="slidenum">
              <a:rPr sz="1550" spc="-5" dirty="0">
                <a:latin typeface="Times New Roman"/>
                <a:cs typeface="Times New Roman"/>
              </a:rPr>
              <a:t>34</a:t>
            </a:fld>
            <a:endParaRPr sz="15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Words>2076</Words>
  <Application>Microsoft Office PowerPoint</Application>
  <PresentationFormat>Personnalisé</PresentationFormat>
  <Paragraphs>370</Paragraphs>
  <Slides>34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34</vt:i4>
      </vt:variant>
    </vt:vector>
  </HeadingPairs>
  <TitlesOfParts>
    <vt:vector size="46" baseType="lpstr">
      <vt:lpstr>MS PGothic</vt:lpstr>
      <vt:lpstr>Arial</vt:lpstr>
      <vt:lpstr>Arial MT</vt:lpstr>
      <vt:lpstr>Calibri</vt:lpstr>
      <vt:lpstr>Courier New</vt:lpstr>
      <vt:lpstr>Garamond</vt:lpstr>
      <vt:lpstr>Lucida Sans Unicode</vt:lpstr>
      <vt:lpstr>Microsoft Sans Serif</vt:lpstr>
      <vt:lpstr>Symbol</vt:lpstr>
      <vt:lpstr>Times New Roman</vt:lpstr>
      <vt:lpstr>Wingdings</vt:lpstr>
      <vt:lpstr>Office Theme</vt:lpstr>
      <vt:lpstr>   Algorithmique et structures de données</vt:lpstr>
      <vt:lpstr>La programmation</vt:lpstr>
      <vt:lpstr>Notion d'algorithme</vt:lpstr>
      <vt:lpstr>Pseudo code</vt:lpstr>
      <vt:lpstr>Conception d'un programme</vt:lpstr>
      <vt:lpstr>Formalisme...</vt:lpstr>
      <vt:lpstr>Formalisme...</vt:lpstr>
      <vt:lpstr>Formalisme...</vt:lpstr>
      <vt:lpstr>Les conditionnelles...</vt:lpstr>
      <vt:lpstr>L’instruction si alors sinon...</vt:lpstr>
      <vt:lpstr>Exemple...</vt:lpstr>
      <vt:lpstr>Exemple...</vt:lpstr>
      <vt:lpstr>Exemple...</vt:lpstr>
      <vt:lpstr>Les itérations...</vt:lpstr>
      <vt:lpstr>Les itérations déterministes...</vt:lpstr>
      <vt:lpstr>Exemple...</vt:lpstr>
      <vt:lpstr>Les itérations indéterministes...</vt:lpstr>
      <vt:lpstr>Un exemple...</vt:lpstr>
      <vt:lpstr>Explication avec n=10...</vt:lpstr>
      <vt:lpstr>Partie 3: Pseudo-code schématique</vt:lpstr>
      <vt:lpstr>Pseudo-code schématique</vt:lpstr>
      <vt:lpstr>Pseudo-code schématique: Exemple 1</vt:lpstr>
      <vt:lpstr>Pseudo-code schématique Exemple 1 - suite</vt:lpstr>
      <vt:lpstr>Pseudo-code schématique</vt:lpstr>
      <vt:lpstr>Pseudo-code schématique : Exemple 2</vt:lpstr>
      <vt:lpstr>Pseudo-code schématique</vt:lpstr>
      <vt:lpstr>Pseudo-code schématique</vt:lpstr>
      <vt:lpstr>Pseudo-code schématique</vt:lpstr>
      <vt:lpstr>Pseudo-code schématique</vt:lpstr>
      <vt:lpstr>Pensée informatique</vt:lpstr>
      <vt:lpstr>Pseudo-code schématique</vt:lpstr>
      <vt:lpstr>Pseudo-code schématique</vt:lpstr>
      <vt:lpstr>Pseudo-code schématique</vt:lpstr>
      <vt:lpstr>Suite et fin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Init_prog_INF0101.pdf</dc:title>
  <dc:creator>Ali</dc:creator>
  <cp:lastModifiedBy>Cheikh Dhib</cp:lastModifiedBy>
  <cp:revision>15</cp:revision>
  <dcterms:created xsi:type="dcterms:W3CDTF">2021-11-06T20:32:00Z</dcterms:created>
  <dcterms:modified xsi:type="dcterms:W3CDTF">2024-10-10T16:44:48Z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2006-11-15T00:00:00Z</vt:filetime>
  </property>
  <property fmtid="{D5CDD505-2E9C-101B-9397-08002B2CF9AE}" pid="3" name="Creator">
    <vt:lpwstr>LaTeX with hyperref and prosper packages</vt:lpwstr>
  </property>
  <property fmtid="{D5CDD505-2E9C-101B-9397-08002B2CF9AE}" pid="4" name="LastSaved">
    <vt:filetime>2021-11-06T00:00:00Z</vt:filetime>
  </property>
</Properties>
</file>