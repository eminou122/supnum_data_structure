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9144000" cy="6858000" type="screen4x3"/>
  <p:notesSz cx="7099300" cy="10234613"/>
  <p:embeddedFontLst>
    <p:embeddedFont>
      <p:font typeface="Book Antiqua" panose="02040602050305030304" pitchFamily="18" charset="0"/>
      <p:regular r:id="rId19"/>
      <p:bold r:id="rId20"/>
      <p:italic r:id="rId21"/>
      <p:boldItalic r:id="rId22"/>
    </p:embeddedFont>
    <p:embeddedFont>
      <p:font typeface="Century Gothic" panose="020B0502020202020204" pitchFamily="34" charset="0"/>
      <p:regular r:id="rId23"/>
      <p:bold r:id="rId24"/>
      <p:italic r:id="rId25"/>
      <p:boldItalic r:id="rId26"/>
    </p:embeddedFont>
    <p:embeddedFont>
      <p:font typeface="Libre Baskerville" panose="02000000000000000000" pitchFamily="2" charset="0"/>
      <p:regular r:id="rId27"/>
      <p:bold r:id="rId28"/>
      <p: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9"/>
  </p:normalViewPr>
  <p:slideViewPr>
    <p:cSldViewPr snapToGrid="0">
      <p:cViewPr varScale="1">
        <p:scale>
          <a:sx n="108" d="100"/>
          <a:sy n="108" d="100"/>
        </p:scale>
        <p:origin x="17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1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9721107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:notes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3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75" tIns="49525" rIns="99075" bIns="495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spcFirstLastPara="1" wrap="square" lIns="99075" tIns="49525" rIns="99075" bIns="495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e de titr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blipFill rotWithShape="1">
            <a:blip r:embed="rId2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" name="Google Shape;2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69803"/>
            </a:schemeClr>
          </a:solidFill>
          <a:ln w="9525" cap="flat" cmpd="sng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" name="Google Shape;28;p2"/>
          <p:cNvSpPr txBox="1">
            <a:spLocks noGrp="1"/>
          </p:cNvSpPr>
          <p:nvPr>
            <p:ph type="sldNum" idx="12"/>
          </p:nvPr>
        </p:nvSpPr>
        <p:spPr>
          <a:xfrm>
            <a:off x="7786826" y="4625268"/>
            <a:ext cx="76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lvl="1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lvl="2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lvl="3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lvl="4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lvl="5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lvl="6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lvl="7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lvl="8" indent="0" algn="ctr">
              <a:spcBef>
                <a:spcPts val="0"/>
              </a:spcBef>
              <a:buNone/>
              <a:defRPr sz="2800" b="0" i="0" u="none" strike="noStrike" cap="none">
                <a:solidFill>
                  <a:srgbClr val="24406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9525" cap="flat" cmpd="dbl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" name="Google Shape;31;p2"/>
          <p:cNvSpPr txBox="1"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360"/>
              </a:spcBef>
              <a:spcAft>
                <a:spcPts val="0"/>
              </a:spcAft>
              <a:buSzPts val="1800"/>
              <a:buNone/>
              <a:defRPr sz="1800" cap="none">
                <a:solidFill>
                  <a:srgbClr val="FFFFFF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8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000"/>
              <a:buFont typeface="Book Antiqua"/>
              <a:buNone/>
              <a:defRPr sz="4000">
                <a:solidFill>
                  <a:srgbClr val="24406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 de section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blipFill rotWithShape="1">
            <a:blip r:embed="rId2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2" name="Google Shape;42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" name="Google Shape;4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44061"/>
              </a:buClr>
              <a:buSzPts val="4000"/>
              <a:buFont typeface="Book Antiqua"/>
              <a:buNone/>
              <a:defRPr sz="4000" cap="none">
                <a:solidFill>
                  <a:srgbClr val="244061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9" name="Google Shape;49;p4"/>
          <p:cNvSpPr txBox="1"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2000"/>
              <a:buNone/>
              <a:defRPr sz="2000" cap="none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9525" cap="flat" cmpd="dbl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426128" y="1719071"/>
            <a:ext cx="4038600" cy="4407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648200" y="1719071"/>
            <a:ext cx="4038600" cy="4407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"/>
          <p:cNvSpPr txBox="1"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40"/>
              </a:spcBef>
              <a:spcAft>
                <a:spcPts val="0"/>
              </a:spcAft>
              <a:buSzPts val="2200"/>
              <a:buNone/>
              <a:defRPr sz="22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body" idx="2"/>
          </p:nvPr>
        </p:nvSpPr>
        <p:spPr>
          <a:xfrm>
            <a:off x="426128" y="2438400"/>
            <a:ext cx="4040188" cy="3687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2" name="Google Shape;62;p6"/>
          <p:cNvSpPr txBox="1">
            <a:spLocks noGrp="1"/>
          </p:cNvSpPr>
          <p:nvPr>
            <p:ph type="body" idx="3"/>
          </p:nvPr>
        </p:nvSpPr>
        <p:spPr>
          <a:xfrm>
            <a:off x="4645025" y="1722438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40"/>
              </a:spcBef>
              <a:spcAft>
                <a:spcPts val="0"/>
              </a:spcAft>
              <a:buSzPts val="2200"/>
              <a:buNone/>
              <a:defRPr sz="22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body" idx="4"/>
          </p:nvPr>
        </p:nvSpPr>
        <p:spPr>
          <a:xfrm>
            <a:off x="4645025" y="2438400"/>
            <a:ext cx="4041775" cy="3687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ide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blipFill rotWithShape="1">
            <a:blip r:embed="rId2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5" name="Google Shape;7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u avec légende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blipFill rotWithShape="1">
            <a:blip r:embed="rId2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" name="Google Shape;81;p9"/>
          <p:cNvSpPr txBox="1">
            <a:spLocks noGrp="1"/>
          </p:cNvSpPr>
          <p:nvPr>
            <p:ph type="body" idx="1"/>
          </p:nvPr>
        </p:nvSpPr>
        <p:spPr>
          <a:xfrm>
            <a:off x="3886200" y="685800"/>
            <a:ext cx="4572000" cy="525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9525" cap="flat" cmpd="dbl">
            <a:solidFill>
              <a:srgbClr val="36609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p9"/>
          <p:cNvSpPr txBox="1">
            <a:spLocks noGrp="1"/>
          </p:cNvSpPr>
          <p:nvPr>
            <p:ph type="body" idx="2"/>
          </p:nvPr>
        </p:nvSpPr>
        <p:spPr>
          <a:xfrm>
            <a:off x="769000" y="2971800"/>
            <a:ext cx="229863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24406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8" name="Google Shape;88;p9"/>
          <p:cNvSpPr txBox="1"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000"/>
              <a:buFont typeface="Book Antiqua"/>
              <a:buNone/>
              <a:defRPr sz="2000" b="0">
                <a:solidFill>
                  <a:srgbClr val="36609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vec légende" type="picTx">
  <p:cSld name="PICTURE_WITH_CAPTION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" name="Google Shape;91;p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blipFill rotWithShape="1">
            <a:blip r:embed="rId2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10"/>
          <p:cNvSpPr>
            <a:spLocks noGrp="1"/>
          </p:cNvSpPr>
          <p:nvPr>
            <p:ph type="pic" idx="2"/>
          </p:nvPr>
        </p:nvSpPr>
        <p:spPr>
          <a:xfrm>
            <a:off x="685800" y="621437"/>
            <a:ext cx="7772400" cy="4331564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93" name="Google Shape;9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7" name="Google Shape;9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0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0" name="Google Shape;100;p10"/>
          <p:cNvSpPr txBox="1">
            <a:spLocks noGrp="1"/>
          </p:cNvSpPr>
          <p:nvPr>
            <p:ph type="body" idx="1"/>
          </p:nvPr>
        </p:nvSpPr>
        <p:spPr>
          <a:xfrm>
            <a:off x="956289" y="5656556"/>
            <a:ext cx="7244736" cy="401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00"/>
              </a:spcBef>
              <a:spcAft>
                <a:spcPts val="0"/>
              </a:spcAft>
              <a:buSzPts val="1500"/>
              <a:buNone/>
              <a:defRPr sz="1500" cap="none">
                <a:solidFill>
                  <a:srgbClr val="FFFFFF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1" name="Google Shape;101;p10"/>
          <p:cNvSpPr txBox="1"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2000"/>
              <a:buFont typeface="Book Antiqua"/>
              <a:buNone/>
              <a:defRPr sz="2000" b="0">
                <a:solidFill>
                  <a:srgbClr val="36609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 rot="5400000">
            <a:off x="2385219" y="-175418"/>
            <a:ext cx="43735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470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0" name="Google Shape;110;p12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12"/>
          <p:cNvSpPr txBox="1">
            <a:spLocks noGrp="1"/>
          </p:cNvSpPr>
          <p:nvPr>
            <p:ph type="title"/>
          </p:nvPr>
        </p:nvSpPr>
        <p:spPr>
          <a:xfrm rot="5400000">
            <a:off x="4896852" y="2547152"/>
            <a:ext cx="5788981" cy="148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2"/>
          <p:cNvSpPr txBox="1">
            <a:spLocks noGrp="1"/>
          </p:cNvSpPr>
          <p:nvPr>
            <p:ph type="body" idx="1"/>
          </p:nvPr>
        </p:nvSpPr>
        <p:spPr>
          <a:xfrm rot="5400000">
            <a:off x="647699" y="190500"/>
            <a:ext cx="5791201" cy="61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blipFill rotWithShape="1">
            <a:blip r:embed="rId1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17500" algn="l" rtl="0"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17500" algn="l" rtl="0">
              <a:spcBef>
                <a:spcPts val="28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17500" algn="l" rtl="0">
              <a:spcBef>
                <a:spcPts val="28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2745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1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  <a:defRPr sz="3500" b="0" i="0" u="none" strike="noStrike" cap="none">
                <a:solidFill>
                  <a:srgbClr val="366092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>
            <a:spLocks noGrp="1"/>
          </p:cNvSpPr>
          <p:nvPr>
            <p:ph type="ctrTitle"/>
          </p:nvPr>
        </p:nvSpPr>
        <p:spPr>
          <a:xfrm>
            <a:off x="285720" y="1796153"/>
            <a:ext cx="8678768" cy="631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fr-FR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lang="fr-FR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br>
              <a:rPr lang="fr-FR" sz="3600" b="1">
                <a:solidFill>
                  <a:srgbClr val="17365D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</a:br>
            <a:br>
              <a:rPr lang="fr-FR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3600" b="1">
              <a:solidFill>
                <a:srgbClr val="17365D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1"/>
          </p:nvPr>
        </p:nvSpPr>
        <p:spPr>
          <a:xfrm>
            <a:off x="467544" y="4509120"/>
            <a:ext cx="7104852" cy="1152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22" name="Google Shape;122;p13"/>
          <p:cNvSpPr txBox="1"/>
          <p:nvPr/>
        </p:nvSpPr>
        <p:spPr>
          <a:xfrm>
            <a:off x="683568" y="3284984"/>
            <a:ext cx="65455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 i="0" u="none" strike="noStrike" cap="none">
                <a:solidFill>
                  <a:srgbClr val="8CB3E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Semestre : S3</a:t>
            </a:r>
            <a:endParaRPr sz="2400" b="1" i="0" u="none" strike="noStrike" cap="none">
              <a:solidFill>
                <a:srgbClr val="8CB3E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107504" y="629735"/>
            <a:ext cx="7560840" cy="523220"/>
          </a:xfrm>
          <a:prstGeom prst="rect">
            <a:avLst/>
          </a:prstGeom>
          <a:solidFill>
            <a:srgbClr val="EAF1DD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Institut Supérieur du Numérique (SupNum)</a:t>
            </a:r>
            <a:endParaRPr sz="2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866841" y="2243628"/>
            <a:ext cx="6705555" cy="830997"/>
          </a:xfrm>
          <a:prstGeom prst="rect">
            <a:avLst/>
          </a:prstGeom>
          <a:solidFill>
            <a:srgbClr val="D6E3BC"/>
          </a:solidFill>
          <a:ln w="9525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400" b="1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Structures de données et complexité algorithmique</a:t>
            </a:r>
            <a:endParaRPr sz="24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5" name="Google Shape;12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8344" y="256524"/>
            <a:ext cx="1248540" cy="14504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3368466"/>
            <a:ext cx="648072" cy="1495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/>
              <a:t>PLAN</a:t>
            </a:r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457200" y="1752600"/>
            <a:ext cx="8229600" cy="460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2286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Introduction, rappels</a:t>
            </a:r>
            <a:endParaRPr dirty="0"/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Notions </a:t>
            </a:r>
            <a:r>
              <a:rPr lang="fr-FR"/>
              <a:t>de complexité</a:t>
            </a:r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Algorithmes de tri</a:t>
            </a:r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Pointeurs et structures en C++</a:t>
            </a:r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Liste chainées / Piles / Files</a:t>
            </a:r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Arbres binaires</a:t>
            </a:r>
          </a:p>
          <a:p>
            <a:pPr marL="342900" lvl="0" indent="-228600" algn="l" rtl="0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fr-FR" dirty="0"/>
              <a:t>Tables de hachage</a:t>
            </a:r>
            <a:endParaRPr dirty="0"/>
          </a:p>
          <a:p>
            <a:pPr marL="342900" lvl="0" indent="-76200" algn="l" rtl="0">
              <a:spcBef>
                <a:spcPts val="48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168" name="Google Shape;168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62947" y="1823769"/>
            <a:ext cx="5653319" cy="255547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pic>
        <p:nvPicPr>
          <p:cNvPr id="170" name="Google Shape;170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5576" y="4581128"/>
            <a:ext cx="5560690" cy="1296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176" name="Google Shape;176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99592" y="1916832"/>
            <a:ext cx="7056784" cy="364789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ct val="1000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183" name="Google Shape;183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576" y="1988840"/>
            <a:ext cx="7551131" cy="367240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190" name="Google Shape;190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576" y="1988840"/>
            <a:ext cx="6984776" cy="380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197" name="Google Shape;197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55576" y="1988840"/>
            <a:ext cx="7200800" cy="432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204" name="Google Shape;204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7584" y="1748432"/>
            <a:ext cx="7240015" cy="481108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66092"/>
              </a:buClr>
              <a:buSzPts val="3500"/>
              <a:buFont typeface="Book Antiqua"/>
              <a:buNone/>
            </a:pPr>
            <a:r>
              <a:rPr lang="fr-FR" dirty="0"/>
              <a:t>COMPLEXITE</a:t>
            </a:r>
            <a:endParaRPr dirty="0"/>
          </a:p>
        </p:txBody>
      </p:sp>
      <p:pic>
        <p:nvPicPr>
          <p:cNvPr id="211" name="Google Shape;211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6127" y="1916831"/>
            <a:ext cx="8152169" cy="1453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9</a:t>
            </a:fld>
            <a:endParaRPr/>
          </a:p>
        </p:txBody>
      </p:sp>
      <p:pic>
        <p:nvPicPr>
          <p:cNvPr id="213" name="Google Shape;21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577" y="3369972"/>
            <a:ext cx="8189720" cy="5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6128" y="3965622"/>
            <a:ext cx="8152169" cy="1326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015F52-FCBE-6E4F-EE4B-A339878B8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A5C375-73E3-7004-64DC-983D643849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10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EC3B2B-E225-BB3F-4959-1306E66F7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8" y="1649202"/>
            <a:ext cx="7772400" cy="507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95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BC04EC-4601-903F-B270-9C48D860B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DE7C5D-929E-486B-AD01-228F55274A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11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5045C6C-D382-07CD-B106-FF1A273A2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667" y="1306463"/>
            <a:ext cx="7772400" cy="523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BDE6C6-0719-A92A-BADC-DF57A27B4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AB38AC0-DAC2-8321-C726-4254C8C8EF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12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91AE7A-B1AA-39C1-B5C1-7EAB7A2C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7673"/>
            <a:ext cx="7772400" cy="516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34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C460FC-0879-D158-1C42-81638DBFC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3831BA-C9F3-AA9F-ABFA-457F41F1CA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13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287A9E-F2F8-B400-A588-03F4839ED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128" y="1473771"/>
            <a:ext cx="7772400" cy="524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745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9F6265-C37E-AA32-74DC-C802EFDFD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7EBDD7-52D8-0029-B471-B0180879D1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14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5E88B4-6333-027E-7A0F-8C9835E23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40318"/>
            <a:ext cx="7772400" cy="297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73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A0ABD7-5257-CE1E-16A9-D9573F3F0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6E80B6-46E2-9852-B251-32FEAA21BC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AB869B-D7DA-EDF6-A8C0-6FBF9EC84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3051"/>
            <a:ext cx="7772400" cy="23193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CB54E1E-9A94-2368-7F1F-CD4274C40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23514"/>
            <a:ext cx="7772400" cy="235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62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EC5F62-3F80-9EB7-2676-2EF88AD8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COMPLEXITE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B2167E-41BA-A3CC-83E7-A1725F6332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A3FBC1B-B4D6-210E-A0F7-C4C6DC3B3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45617"/>
            <a:ext cx="7772400" cy="44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141137"/>
      </p:ext>
    </p:extLst>
  </p:cSld>
  <p:clrMapOvr>
    <a:masterClrMapping/>
  </p:clrMapOvr>
</p:sld>
</file>

<file path=ppt/theme/theme1.xml><?xml version="1.0" encoding="utf-8"?>
<a:theme xmlns:a="http://schemas.openxmlformats.org/drawingml/2006/main" name="Apothicair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91</Words>
  <Application>Microsoft Macintosh PowerPoint</Application>
  <PresentationFormat>Affichage à l'écran (4:3)</PresentationFormat>
  <Paragraphs>42</Paragraphs>
  <Slides>16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Century Gothic</vt:lpstr>
      <vt:lpstr>Calibri</vt:lpstr>
      <vt:lpstr>Book Antiqua</vt:lpstr>
      <vt:lpstr>Libre Baskerville</vt:lpstr>
      <vt:lpstr>Arial</vt:lpstr>
      <vt:lpstr>Apothicaire</vt:lpstr>
      <vt:lpstr>                  </vt:lpstr>
      <vt:lpstr>PLAN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  <vt:lpstr>COMPLEXITE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El Moustapha Bellal</cp:lastModifiedBy>
  <cp:revision>8</cp:revision>
  <dcterms:modified xsi:type="dcterms:W3CDTF">2024-10-09T08:52:20Z</dcterms:modified>
</cp:coreProperties>
</file>